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e19bef6-ecef-cbcb-089e-ee457a828007}">
          <p14:sldIdLst>
            <p14:sldId id="256"/>
            <p14:sldId id="257"/>
            <p14:sldId id="258"/>
            <p14:sldId id="259"/>
          </p14:sldIdLst>
        </p14:section>
        <p14:section name="The Claims" id="{1d5c07ad-2809-9e08-bb6f-7485257739cc}">
          <p14:sldIdLst>
            <p14:sldId id="260"/>
            <p14:sldId id="261"/>
          </p14:sldIdLst>
        </p14:section>
        <p14:section name="Our Work" id="{ebcc2a31-c4ab-e4f3-c316-25674decfe4e}">
          <p14:sldIdLst>
            <p14:sldId id="262"/>
            <p14:sldId id="263"/>
            <p14:sldId id="264"/>
          </p14:sldIdLst>
        </p14:section>
        <p14:section name="Reproduction" id="{3d52799c-ec94-fcd5-ff29-4c5821247144}">
          <p14:sldIdLst>
            <p14:sldId id="265"/>
            <p14:sldId id="266"/>
            <p14:sldId id="267"/>
            <p14:sldId id="268"/>
          </p14:sldIdLst>
        </p14:section>
        <p14:section name="Verification" id="{cda9446a-803d-a67b-7bfb-4ce4a8cca13e}">
          <p14:sldIdLst>
            <p14:sldId id="269"/>
            <p14:sldId id="270"/>
          </p14:sldIdLst>
        </p14:section>
        <p14:section name="Analysis" id="{1fb7abac-346e-459c-c339-94a588f75124}">
          <p14:sldIdLst>
            <p14:sldId id="271"/>
            <p14:sldId id="272"/>
          </p14:sldIdLst>
        </p14:section>
        <p14:section name="Closing" id="{0d1ffbbe-b1ba-7916-06f4-073c1257e1bc}">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[29s]  Good morning. Today I'll walk through what happened when we took a published ransomware defense framework — one claiming 98.98% detection accuracy — and tried to build it from scratch.\n\nThe paper is BSFR-SH, from IEEE Transactions on Consumer Electronics, 2023. We implemented all five of its algorithms, both of its blockchains, reproduced its published evaluation, and then tested the architecture against adversaries it never considers. I'll cover what reproduced, what didn't, and why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[49s]  Ransomware in healthcare is a life-safety problem, not just a data problem. A hospital locked out of its systems cannot reach patient records, imaging, or treatment histories, and that has immediate clinical consequences. That urgency is exactly why the sector is targeted — the pressure to pay quickly is higher than almost anywhere else.\n\nThree things frame this work. The threat: encryption of critical data, followed by a ransom demand. The gap: most defenses stop at detection — they raise an alert after encryption has already begun, with no backup and no recovery path. And the paper's ambition: a complete lifecycle, backup through recovery, anchored on a blockchain.\n\nThat scope is genuinely the contribution. Whether the evidence supports it is what we set out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[53s]  Five phases. In Phase 1, a protected system ships its data to a cloud server, which encrypts it and commits it to the backup chain. Phase 2 harvests a honeypot — a decoy machine deliberately left exposed so that anything attacking it gets recorded — and turns those recordings into signatures and behavioural features on a second chain. Phase 3 trains four classifiers on that second chain and builds a normal and an abnormal profile. Phase 4 isolates an infected machine and remediates it. Phase 5 restores it from the backup chain.\n\nWhy a blockchain at all? Because once a backup is committed, it cannot be quietly deleted or altered. And deleting backups is precisely what a ransomware operator does before encrypting anything — it is what makes the ransom demand work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[48s]  Two independent chains — and this is the part worth being precise about, because it's commonly misread.\n\nPhases 1 and 5 only ever touch the backup chain: one writes to it, the other reads from it. Phases 2 and 3 only ever touch the signature chain. Phase 4 touches neither. It receives a verdict from Phase 3, isolates the machine, and may call Phase 5 — and that call is the only point where the two lanes meet at all.\n\nThe chains have separate genesis blocks, separate four-node consensus clusters, and no shared state whatsoever. So an attacker who compromises the signature chain still cannot reach the backups. That isolation is a real security property, and we pinned it with a dedicated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[52s]  Here is what the paper reports: 98.98% accuracy and an F1 of 0.990, beating four prior published detectors.
Three details to hold onto. The dataset is BitcoinHeist, roughly 2.9 million rows, of which only 1.42% are actually ransomware. Before training, the paper resamples that to 90% ransomware and 10% benign.
And the third card is the one we would draw attention to. Phases 2 and 3 of the framework describe detecting a running program from behavioural features collected by a honeypot — file activity, entropy, crypto-API calls. But the evaluation runs on transaction-graph features of Bitcoin addresses that have already received a ransom payment. One is prospective and behavioural; the other is retrospective and financial. They are different problems, and the paper does not acknowledge the substitution.
That matters practically: the framework's own detection path was never evaluated, so we had to build and run it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[37s]  The paper also makes five security claims. Resistance to replay, man-in-the-middle and impersonation attacks. Resistance to privileged insider threats and credential guessing. Resistance to 51% attacks, selfish mining, and Sybil attacks. Resistance to denial of service, data manipulation, and leakage. And finally, that the two blockchains remain independent under attack.\n\nEach of these is argued informally, in prose. There is no protocol specification anywhere, no formal model, and no proofs. So our approach was to build the system first, and then bring actual formal verification tools to bear on these claims rather than arguing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[36s]  Eighteen milestones, 1,814 passing tests, 43 documented deviations, a 31-page report.
A full Python reimplementation — the paper is Java, and no source code accompanies it. Formal verification with Scyther for the session protocol and TLA+ for consensus. Adversarial evaluation the paper does not attempt. And every design gap we filled carries a numbered deviation with a written rationale, so each decision is traceable rather than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[65s]  This slide is the honest answer to “how hard was this to build”. The architecture is described clearly. The engineering is not.\n\nThree distinct patterns. First, named but never specified. The paper cites ECDSA as its signature scheme but never says what gets signed, or in what format. It cites pBFT as its consensus protocol but gives no threshold value, no message types, and no view-change procedure. It names a honeypot without saying what it observes. And “signatures and features are generated” is, word for word, the entire specification of Algorithm 2.\n\nSecond, explicitly deferred. Session establishment is handed off to, quote, “any standard mechanism”.\n\nThird, specified but unworkable. Bulk backup payloads encrypted directly under an elliptic-curve public key — which that primitive simply cannot do. And a preprocessing step that removes abnormalities, which on this data deletes the very class you are trying to detect.\n\nAny one of these on its own is fair enough. The accumulation is why the framework cannot be reproduced from its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So before we could reproduce anything, we had to write that missing specification ourselves — and declare every value we chose.\n\nTransaction payload size: never stated in the paper, yet every timing figure in it depends on it. We declared 4096 bytes and swept a range around it. All machine-learning hyperparameters, the train-test split, and the random seed: the paper reports none of the three. The consensus threshold, because “a threshold fraction of miners” is not a number. And the feature schema itself, because Phase 3 has literally no input without one.\n\nWhere no rule exists at all — which of the three mitigation cases applies to a given detection — we deliberately declined to invent one, and made the caller supply it instead.\n\nThe bottom line is on screen, and it's the methodological point of this whole project: our numbers are reproducible from our configuration. The paper's are not reproducible from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This is the reproduction, run on the paper's own protocol — the same 90/10 resample, with the split grouped by address, averaged over twenty seeds.
The paper reports 98.98% for a decision tree. Our random forest reaches 94.12%, and the decision tree — the paper's own model, so the like-for-like comparison — reaches 91.73%.
The row that matters is the last one. A classifier answering always-ransomware already scores 90.01% on this split, because the sample was resampled to 90% positive.
And the column on the right is the one the paper never reports. Our models buy those few points by flagging 37 to 46 percent of benign rows. The arithmetic is unforgiving: to reach 98.98% on a 90/10 test set, the false-positive rate would have to be at most about ten percent, even with nothing missed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[57s]  Now the same four models, evaluated at the real class balance — 1.42% ransomware, across the full 2.9 million rows, with no resampling at all.\n\nRandom Forest is again strongest, with a Matthews correlation coefficient of 0.458. In practical terms that means it identifies about 29% of ransomware addresses at 74% precision. That is genuinely meaningful signal — but it is nowhere near 99%.\n\nFor contrast, a classifier that never predicts ransomware at all scores 98.58% accuracy on this distribution, simply because 98.58% of the data is benign.\n\nLogistic regression makes the whole point in a single model. On the resample, it labels every record positive. At the real balance, with identical hyperparameters and the same seed, it labels every record negative. Nothing changed except the class distribution. That is exactly why we report both evaluation modes, and why we publish the baseline next to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[48s]  We varied every choice the paper leaves unstated — thirteen configurations at twenty seeds each.
Three findings. The largest effect is replication: drawing a hundred and eighty thousand ransomware rows with replacement from forty-one thousand puts copies of training rows into the test set, and we measured that overlap at eighty-six percent against five percent without replication. Second, a tree given only the calendar year scores 91.88%, indistinguishable from the full eight-feature tree. Third, training on 2015 and earlier and testing from 2016 onward drops balanced accuracy to 52.4%, close to chance.
Across every variant, accuracy spans 87.1 to 97.5 percent. That spread is about ten points, far larger than seed noise, and without the paper's protocol it cannot be narrowed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[53s]  Moving to the blockchain side. Absolute timings differ by two to three orders of magnitude — we run Python on Linux, the paper runs Java on Windows — so comparing raw seconds would be meaningless. We compare trend and ratio instead.\n\nWhat does reproduce: the signature chain is consistently slower than the backup chain, by 35 to 44% in our measurements against 18 to 41% in theirs. We attribute that structurally to one extra signature per transaction.\n\nWhat does not reproduce: the paper's sublinear, concave growth curve. Ours grows near-linearly with block count.\n\nAnd then our own additional finding — the marginal cost per block is flat, at roughly 33 and 45 milliseconds. Which means the paper's rising throughput curve isn't throughput at all. It is a fixed setup cost being amortised across a growing number of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[47s]  The first of two formal verifications: the session protocol, checked in Scyther under a Dolev-Yao attacker — meaning an adversary with full control of the network — with unbounded sessions and unbounded agents.\n\nEvery claim verifies. Secrecy of the session key, mutual authentication in both directions, and impersonation resistance.\n\nBut the row that actually matters is the last one. We also ran the identical tool, with the identical claims, against our own earlier draft of the protocol — a version missing the responder's identity inside the initiator's signature. Scyther finds a real impersonation attack on it.\n\nThat is the negative control. If the tool could not break a protocol we already knew was broken, the clean results above it would mean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[59s]  The second verification is the consensus protocol, checked by exhaustive state-space enumeration in TLA+.
With one faulty node of four, the checker explored seventy-five million states and found no violation. With two, it constructs a fork — two honest replicas commit different blocks. Our simulation found that in one second; the exhaustive run on the HPC cluster reached the same result after 1.5 billion states.
The finding is not that pBFT is broken. The model behaves exactly at the standard fault boundary, n at least 3f plus 1. What we note is the omission: the paper states no fault assumption at all, while concluding safety against other potential attacks. It cites no threshold, so this is a gap in specification rather than a wrong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[53s]  Three security questions the paper never asks.\n\nFirst — can ransomware evade the detector? Perturbing the five most important features drops balanced accuracy from 0.841 to 0.570, and an adaptive attacker needs only about a third of the available range to flip a typical sample.\n\nSecond — can an attacker poison the training data? Label flipping at a 20% budget costs five points of accuracy. And here is the uncomfortable part: because that data is committed to a blockchain, the poisoning is permanent. There is no delete operation anywhere in the chain.\n\nThird — does adversarial hardening help? It does, but it costs roughly eight points of clean accuracy.\n\nThe insight underneath all three: security here is a trade-off curve, not a checkbox. Immutability protects your backups, and simultaneously works against you on poisoned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[39s]  Four extensions that go beyond what the paper does.\n\nWe compared pBFT against Raft, the standard crash-tolerant alternative. Raft is 7 to 11% faster and sends about 60% as many messages — but a single Byzantine leader forks its chain undetectably, with every node believing consensus succeeded. So the paper's choice of pBFT is correct, for a reason the paper itself never actually states.\n\nWe tested cross-dataset transfer against three real malware datasets. We built the hybrid blockchain that the paper lists as future work, and measured it at under 1.4% overhead. And we compared neural against tree-based models for the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[26s]  Three future directions, all of which emerged directly from the implementation rather than from speculation.\n\nAsynchronous pBFT with a realistic network latency model — our implementation assumes synchronous messaging, which a real deployment would not have. On-chain storage cost at hospital scale, which is the practicality question the paper never asks. And poisoning-resistant writes to the signature chain, since we demonstrated that immutability can work against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[46s]  Three things we learned.\n\nFirst, the framework design is sound. The five-phase architecture does work, and pBFT provides real fault tolerance at its design bound. But the headline accuracy figure needs context, because on that resampled split a zero-feature baseline already scores 90%.\n\nSecond, formal verification earns its place. It verified our session protocol cleanly, and it found a consensus boundary condition at two faulty nodes that nobody had checked — in one second.\n\nThird, and most generally: security is a system property, not a component property. The detector works at the component level, with an MCC of 0.46 on real data. But blockchain immutability makes poisoning permanent. Defense here is a trade-off curve, not a checkbox you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[12s]  Thank you. All of the code, the tests, the figures and the full results are available in the project repository, along with the technical report.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58368" y="1371600"/>
            <a:ext cx="11027664" cy="310896"/>
          </a:xfrm>
          <a:prstGeom prst="rect">
            <a:avLst/>
          </a:prstGeom>
          <a:noFill/>
          <a:ln/>
        </p:spPr>
        <p:txBody>
          <a:bodyPr wrap="square" rtlCol="0"/>
          <a:lstStyle>
            <a:lvl1pPr indent="0" marL="0">
              <a:buNone/>
              <a:defRPr lang="en-US" sz="1300" b="1" spc="25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58368" y="1810512"/>
            <a:ext cx="10113264"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58368" y="3675888"/>
            <a:ext cx="9381744" cy="731520"/>
          </a:xfrm>
          <a:prstGeom prst="rect">
            <a:avLst/>
          </a:prstGeom>
          <a:noFill/>
          <a:ln/>
        </p:spPr>
        <p:txBody>
          <a:bodyPr wrap="square" rtlCol="0"/>
          <a:lstStyle>
            <a:lvl1pPr indent="0" marL="0">
              <a:buNone/>
              <a:defRPr lang="en-US" sz="1700" dirty="0">
                <a:solidFill>
                  <a:schemeClr val="accent5"/>
                </a:solidFill>
              </a:defRPr>
            </a:lvl1pPr>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I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rtlCol="0"/>
          <a:lstStyle>
            <a:lvl1pPr algn="l" indent="0" marL="0">
              <a:buNone/>
              <a:defRPr lang="en-US" sz="2900" b="1" dirty="0">
                <a:solidFill>
                  <a:schemeClr val="bg1"/>
                </a:solidFill>
              </a:defRPr>
            </a:lvl1pPr>
          </a:lstStyle>
          <a:p>
            <a:pPr algn="l" indent="0" marL="0">
              <a:buNone/>
            </a:pPr>
            <a:endParaRPr lang="en-US" sz="290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58368" y="1371600"/>
            <a:ext cx="11027664" cy="310896"/>
          </a:xfrm>
          <a:prstGeom prst="rect">
            <a:avLst/>
          </a:prstGeom>
          <a:noFill/>
          <a:ln/>
        </p:spPr>
        <p:txBody>
          <a:bodyPr wrap="square" lIns="0" tIns="0" rIns="0" bIns="0" rtlCol="0"/>
          <a:lstStyle/>
          <a:p>
            <a:pPr indent="0" marL="0">
              <a:buNone/>
            </a:pPr>
            <a:r>
              <a:rPr lang="en-US" sz="1300" b="1" spc="250" kern="0" dirty="0">
                <a:solidFill>
                  <a:schemeClr val="accent1"/>
                </a:solidFill>
              </a:rPr>
              <a:t>REPRODUCTION &amp; EXTENSION STUDY</a:t>
            </a:r>
            <a:endParaRPr lang="en-US" sz="1300" dirty="0"/>
          </a:p>
        </p:txBody>
      </p:sp>
      <p:sp>
        <p:nvSpPr>
          <p:cNvPr id="3" name="Text 0"/>
          <p:cNvSpPr/>
          <p:nvPr>
            <p:ph idx="101" type="title" hasCustomPrompt="1"/>
          </p:nvPr>
        </p:nvSpPr>
        <p:spPr>
          <a:xfrm>
            <a:off x="658368" y="1810512"/>
            <a:ext cx="10113264" cy="1737360"/>
          </a:xfrm>
          <a:prstGeom prst="rect">
            <a:avLst/>
          </a:prstGeom>
          <a:noFill/>
          <a:ln/>
        </p:spPr>
        <p:txBody>
          <a:bodyPr wrap="square" lIns="0" tIns="0" rIns="0" bIns="0" rtlCol="0" anchor="t"/>
          <a:lstStyle/>
          <a:p>
            <a:pPr algn="l" indent="0" marL="0">
              <a:buNone/>
            </a:pPr>
            <a:r>
              <a:rPr lang="en-US" sz="4000" b="1" dirty="0">
                <a:solidFill>
                  <a:schemeClr val="bg1"/>
                </a:solidFill>
              </a:rPr>
              <a:t>Reproducing a Blockchain-Enabled</a:t>
            </a:r>
            <a:endParaRPr lang="en-US" sz="4000" dirty="0"/>
          </a:p>
          <a:p>
            <a:pPr algn="l" indent="0" marL="0">
              <a:buNone/>
            </a:pPr>
            <a:r>
              <a:rPr lang="en-US" sz="4000" b="1" dirty="0">
                <a:solidFill>
                  <a:schemeClr val="bg1"/>
                </a:solidFill>
              </a:rPr>
              <a:t>Ransomware Defense</a:t>
            </a:r>
            <a:endParaRPr lang="en-US" sz="4000" dirty="0"/>
          </a:p>
        </p:txBody>
      </p:sp>
      <p:sp>
        <p:nvSpPr>
          <p:cNvPr id="4" name="Text 0"/>
          <p:cNvSpPr/>
          <p:nvPr>
            <p:ph idx="102" type="body" hasCustomPrompt="1"/>
          </p:nvPr>
        </p:nvSpPr>
        <p:spPr>
          <a:xfrm>
            <a:off x="658368" y="3675888"/>
            <a:ext cx="9381744" cy="731520"/>
          </a:xfrm>
          <a:prstGeom prst="rect">
            <a:avLst/>
          </a:prstGeom>
          <a:noFill/>
          <a:ln/>
        </p:spPr>
        <p:txBody>
          <a:bodyPr wrap="square" lIns="0" tIns="0" rIns="0" bIns="0" rtlCol="0"/>
          <a:lstStyle/>
          <a:p>
            <a:pPr indent="0" marL="0">
              <a:buNone/>
            </a:pPr>
            <a:r>
              <a:rPr lang="en-US" sz="1700" dirty="0">
                <a:solidFill>
                  <a:schemeClr val="accent5"/>
                </a:solidFill>
              </a:rPr>
              <a:t>BSFR-SH — what happens when you build it from scratch</a:t>
            </a:r>
            <a:endParaRPr lang="en-US" sz="1700" dirty="0"/>
          </a:p>
        </p:txBody>
      </p:sp>
      <p:sp>
        <p:nvSpPr>
          <p:cNvPr id="5" name="o1"/>
          <p:cNvSpPr/>
          <p:nvPr/>
        </p:nvSpPr>
        <p:spPr>
          <a:xfrm>
            <a:off x="658368" y="4681728"/>
            <a:ext cx="1188720" cy="41148"/>
          </a:xfrm>
          <a:prstGeom prst="rect">
            <a:avLst/>
          </a:prstGeom>
          <a:solidFill>
            <a:schemeClr val="accent1"/>
          </a:solidFill>
          <a:ln/>
        </p:spPr>
      </p:sp>
      <p:sp>
        <p:nvSpPr>
          <p:cNvPr id="6" name="cover-author"/>
          <p:cNvSpPr txBox="1"/>
          <p:nvPr/>
        </p:nvSpPr>
        <p:spPr>
          <a:xfrm>
            <a:off x="658368" y="4956048"/>
            <a:ext cx="5486400" cy="822960"/>
          </a:xfrm>
          <a:prstGeom prst="rect">
            <a:avLst/>
          </a:prstGeom>
          <a:noFill/>
          <a:ln/>
        </p:spPr>
        <p:txBody>
          <a:bodyPr wrap="square" lIns="0" tIns="0" rIns="0" bIns="0" rtlCol="0" anchor="t"/>
          <a:lstStyle/>
          <a:p>
            <a:pPr indent="0" marL="0">
              <a:buNone/>
            </a:pPr>
            <a:r>
              <a:rPr lang="en-US" sz="1400" dirty="0">
                <a:solidFill>
                  <a:schemeClr val="bg1"/>
                </a:solidFill>
              </a:rPr>
              <a:t>Sukhraj Singh</a:t>
            </a:r>
            <a:endParaRPr lang="en-US" sz="1400" dirty="0"/>
          </a:p>
          <a:p>
            <a:pPr indent="0" marL="0">
              <a:buNone/>
            </a:pPr>
            <a:r>
              <a:rPr lang="en-US" sz="1400" dirty="0">
                <a:solidFill>
                  <a:schemeClr val="bg1"/>
                </a:solidFill>
              </a:rPr>
              <a:t>IIIT Hyderabad · October 2026</a:t>
            </a:r>
            <a:endParaRPr lang="en-US" sz="1400" dirty="0"/>
          </a:p>
        </p:txBody>
      </p:sp>
      <p:sp>
        <p:nvSpPr>
          <p:cNvPr id="7" name="cover-cite"/>
          <p:cNvSpPr txBox="1"/>
          <p:nvPr/>
        </p:nvSpPr>
        <p:spPr>
          <a:xfrm>
            <a:off x="6766560" y="4956048"/>
            <a:ext cx="4846320" cy="822960"/>
          </a:xfrm>
          <a:prstGeom prst="rect">
            <a:avLst/>
          </a:prstGeom>
          <a:noFill/>
          <a:ln/>
        </p:spPr>
        <p:txBody>
          <a:bodyPr wrap="square" lIns="0" tIns="0" rIns="0" bIns="0" rtlCol="0" anchor="t"/>
          <a:lstStyle/>
          <a:p>
            <a:pPr indent="0" marL="0">
              <a:buNone/>
            </a:pPr>
            <a:r>
              <a:rPr lang="en-US" sz="1150" i="1" dirty="0">
                <a:solidFill>
                  <a:schemeClr val="accent5"/>
                </a:solidFill>
              </a:rPr>
              <a:t>Wazid, Das &amp; Shetty</a:t>
            </a:r>
            <a:endParaRPr lang="en-US" sz="1150" dirty="0"/>
          </a:p>
          <a:p>
            <a:pPr indent="0" marL="0">
              <a:buNone/>
            </a:pPr>
            <a:r>
              <a:rPr lang="en-US" sz="1150" i="1" dirty="0">
                <a:solidFill>
                  <a:schemeClr val="accent5"/>
                </a:solidFill>
              </a:rPr>
              <a:t>IEEE Trans. Consumer Electronics, 69(1):18–28, 2023</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Ransomware in healthcare</a:t>
            </a:r>
            <a:endParaRPr lang="en-US" sz="2900" dirty="0"/>
          </a:p>
        </p:txBody>
      </p:sp>
      <p:sp>
        <p:nvSpPr>
          <p:cNvPr id="4" name="s2-lede"/>
          <p:cNvSpPr txBox="1"/>
          <p:nvPr/>
        </p:nvSpPr>
        <p:spPr>
          <a:xfrm>
            <a:off x="566928" y="1371600"/>
            <a:ext cx="11027664" cy="512064"/>
          </a:xfrm>
          <a:prstGeom prst="rect">
            <a:avLst/>
          </a:prstGeom>
          <a:noFill/>
          <a:ln/>
        </p:spPr>
        <p:txBody>
          <a:bodyPr wrap="square" lIns="0" tIns="0" rIns="0" bIns="0" rtlCol="0" anchor="t"/>
          <a:lstStyle/>
          <a:p>
            <a:pPr indent="0" marL="0">
              <a:buNone/>
            </a:pPr>
            <a:r>
              <a:rPr lang="en-US" sz="1500" dirty="0">
                <a:solidFill>
                  <a:schemeClr val="bg1"/>
                </a:solidFill>
              </a:rPr>
              <a:t>A locked hospital cannot treat patients. This is a life-safety problem, not only a data-security problem.</a:t>
            </a:r>
            <a:endParaRPr lang="en-US" sz="1500" dirty="0"/>
          </a:p>
        </p:txBody>
      </p:sp>
      <p:sp>
        <p:nvSpPr>
          <p:cNvPr id="5" name="s2c0-panel"/>
          <p:cNvSpPr/>
          <p:nvPr/>
        </p:nvSpPr>
        <p:spPr>
          <a:xfrm>
            <a:off x="566928" y="2139696"/>
            <a:ext cx="3547872" cy="2194560"/>
          </a:xfrm>
          <a:prstGeom prst="roundRect">
            <a:avLst>
              <a:gd name="adj" fmla="val 2500"/>
            </a:avLst>
          </a:prstGeom>
          <a:solidFill>
            <a:schemeClr val="tx2"/>
          </a:solidFill>
          <a:ln/>
        </p:spPr>
      </p:sp>
      <p:sp>
        <p:nvSpPr>
          <p:cNvPr id="6" name="s2c0-chip"/>
          <p:cNvSpPr/>
          <p:nvPr/>
        </p:nvSpPr>
        <p:spPr>
          <a:xfrm>
            <a:off x="786384" y="2322576"/>
            <a:ext cx="402336" cy="274320"/>
          </a:xfrm>
          <a:prstGeom prst="roundRect">
            <a:avLst>
              <a:gd name="adj" fmla="val 16667"/>
            </a:avLst>
          </a:prstGeom>
          <a:solidFill>
            <a:schemeClr val="accent3"/>
          </a:solidFill>
          <a:ln/>
        </p:spPr>
      </p:sp>
      <p:sp>
        <p:nvSpPr>
          <p:cNvPr id="7" name="s2c0-tagtext"/>
          <p:cNvSpPr txBox="1"/>
          <p:nvPr/>
        </p:nvSpPr>
        <p:spPr>
          <a:xfrm>
            <a:off x="786384" y="2322576"/>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s2c0-heading"/>
          <p:cNvSpPr txBox="1"/>
          <p:nvPr/>
        </p:nvSpPr>
        <p:spPr>
          <a:xfrm>
            <a:off x="1316736" y="2304288"/>
            <a:ext cx="2578608" cy="292608"/>
          </a:xfrm>
          <a:prstGeom prst="rect">
            <a:avLst/>
          </a:prstGeom>
          <a:noFill/>
          <a:ln/>
        </p:spPr>
        <p:txBody>
          <a:bodyPr wrap="square" lIns="0" tIns="0" rIns="0" bIns="0" rtlCol="0" anchor="ctr"/>
          <a:lstStyle/>
          <a:p>
            <a:pPr indent="0" marL="0">
              <a:buNone/>
            </a:pPr>
            <a:r>
              <a:rPr lang="en-US" sz="1500" b="1" dirty="0">
                <a:solidFill>
                  <a:schemeClr val="bg1"/>
                </a:solidFill>
              </a:rPr>
              <a:t>The threat</a:t>
            </a:r>
            <a:endParaRPr lang="en-US" sz="1500" dirty="0"/>
          </a:p>
        </p:txBody>
      </p:sp>
      <p:sp>
        <p:nvSpPr>
          <p:cNvPr id="9" name="s2c0-body"/>
          <p:cNvSpPr txBox="1"/>
          <p:nvPr/>
        </p:nvSpPr>
        <p:spPr>
          <a:xfrm>
            <a:off x="786384" y="2670048"/>
            <a:ext cx="3108960" cy="1536192"/>
          </a:xfrm>
          <a:prstGeom prst="rect">
            <a:avLst/>
          </a:prstGeom>
          <a:noFill/>
          <a:ln/>
        </p:spPr>
        <p:txBody>
          <a:bodyPr wrap="square" lIns="0" tIns="0" rIns="0" bIns="0" rtlCol="0" anchor="t"/>
          <a:lstStyle/>
          <a:p>
            <a:pPr indent="0" marL="0">
              <a:buNone/>
            </a:pPr>
            <a:r>
              <a:rPr lang="en-US" sz="1250" dirty="0">
                <a:solidFill>
                  <a:schemeClr val="accent5"/>
                </a:solidFill>
              </a:rPr>
              <a:t>Ransomware encrypts hospital data — patient records, imaging, treatment histories — and demands payment for its return.</a:t>
            </a:r>
            <a:endParaRPr lang="en-US" sz="1250" dirty="0"/>
          </a:p>
        </p:txBody>
      </p:sp>
      <p:sp>
        <p:nvSpPr>
          <p:cNvPr id="10" name="s2c1-panel"/>
          <p:cNvSpPr/>
          <p:nvPr/>
        </p:nvSpPr>
        <p:spPr>
          <a:xfrm>
            <a:off x="4297680" y="2139696"/>
            <a:ext cx="3547872" cy="2194560"/>
          </a:xfrm>
          <a:prstGeom prst="roundRect">
            <a:avLst>
              <a:gd name="adj" fmla="val 2500"/>
            </a:avLst>
          </a:prstGeom>
          <a:solidFill>
            <a:schemeClr val="tx2"/>
          </a:solidFill>
          <a:ln/>
        </p:spPr>
      </p:sp>
      <p:sp>
        <p:nvSpPr>
          <p:cNvPr id="11" name="s2c1-chip"/>
          <p:cNvSpPr/>
          <p:nvPr/>
        </p:nvSpPr>
        <p:spPr>
          <a:xfrm>
            <a:off x="4517136" y="2322576"/>
            <a:ext cx="402336" cy="274320"/>
          </a:xfrm>
          <a:prstGeom prst="roundRect">
            <a:avLst>
              <a:gd name="adj" fmla="val 16667"/>
            </a:avLst>
          </a:prstGeom>
          <a:solidFill>
            <a:schemeClr val="accent3"/>
          </a:solidFill>
          <a:ln/>
        </p:spPr>
      </p:sp>
      <p:sp>
        <p:nvSpPr>
          <p:cNvPr id="12" name="s2c1-tagtext"/>
          <p:cNvSpPr txBox="1"/>
          <p:nvPr/>
        </p:nvSpPr>
        <p:spPr>
          <a:xfrm>
            <a:off x="4517136" y="2322576"/>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s2c1-heading"/>
          <p:cNvSpPr txBox="1"/>
          <p:nvPr/>
        </p:nvSpPr>
        <p:spPr>
          <a:xfrm>
            <a:off x="5047488" y="2304288"/>
            <a:ext cx="2578608" cy="292608"/>
          </a:xfrm>
          <a:prstGeom prst="rect">
            <a:avLst/>
          </a:prstGeom>
          <a:noFill/>
          <a:ln/>
        </p:spPr>
        <p:txBody>
          <a:bodyPr wrap="square" lIns="0" tIns="0" rIns="0" bIns="0" rtlCol="0" anchor="ctr"/>
          <a:lstStyle/>
          <a:p>
            <a:pPr indent="0" marL="0">
              <a:buNone/>
            </a:pPr>
            <a:r>
              <a:rPr lang="en-US" sz="1500" b="1" dirty="0">
                <a:solidFill>
                  <a:schemeClr val="bg1"/>
                </a:solidFill>
              </a:rPr>
              <a:t>The gap</a:t>
            </a:r>
            <a:endParaRPr lang="en-US" sz="1500" dirty="0"/>
          </a:p>
        </p:txBody>
      </p:sp>
      <p:sp>
        <p:nvSpPr>
          <p:cNvPr id="14" name="s2c1-body"/>
          <p:cNvSpPr txBox="1"/>
          <p:nvPr/>
        </p:nvSpPr>
        <p:spPr>
          <a:xfrm>
            <a:off x="4517136" y="2670048"/>
            <a:ext cx="3108960" cy="1536192"/>
          </a:xfrm>
          <a:prstGeom prst="rect">
            <a:avLst/>
          </a:prstGeom>
          <a:noFill/>
          <a:ln/>
        </p:spPr>
        <p:txBody>
          <a:bodyPr wrap="square" lIns="0" tIns="0" rIns="0" bIns="0" rtlCol="0" anchor="t"/>
          <a:lstStyle/>
          <a:p>
            <a:pPr indent="0" marL="0">
              <a:buNone/>
            </a:pPr>
            <a:r>
              <a:rPr lang="en-US" sz="1250" dirty="0">
                <a:solidFill>
                  <a:schemeClr val="accent5"/>
                </a:solidFill>
              </a:rPr>
              <a:t>Most defenses stop at detection. They raise an alert once encryption has already begun: no backup, no recovery, no mitigation path.</a:t>
            </a:r>
            <a:endParaRPr lang="en-US" sz="1250" dirty="0"/>
          </a:p>
        </p:txBody>
      </p:sp>
      <p:sp>
        <p:nvSpPr>
          <p:cNvPr id="15" name="s2c2-panel"/>
          <p:cNvSpPr/>
          <p:nvPr/>
        </p:nvSpPr>
        <p:spPr>
          <a:xfrm>
            <a:off x="8028432" y="2139696"/>
            <a:ext cx="3547872" cy="2194560"/>
          </a:xfrm>
          <a:prstGeom prst="roundRect">
            <a:avLst>
              <a:gd name="adj" fmla="val 2500"/>
            </a:avLst>
          </a:prstGeom>
          <a:solidFill>
            <a:schemeClr val="tx2"/>
          </a:solidFill>
          <a:ln/>
        </p:spPr>
      </p:sp>
      <p:sp>
        <p:nvSpPr>
          <p:cNvPr id="16" name="s2c2-chip"/>
          <p:cNvSpPr/>
          <p:nvPr/>
        </p:nvSpPr>
        <p:spPr>
          <a:xfrm>
            <a:off x="8247888" y="2322576"/>
            <a:ext cx="402336" cy="274320"/>
          </a:xfrm>
          <a:prstGeom prst="roundRect">
            <a:avLst>
              <a:gd name="adj" fmla="val 16667"/>
            </a:avLst>
          </a:prstGeom>
          <a:solidFill>
            <a:schemeClr val="accent1"/>
          </a:solidFill>
          <a:ln/>
        </p:spPr>
      </p:sp>
      <p:sp>
        <p:nvSpPr>
          <p:cNvPr id="17" name="s2c2-tagtext"/>
          <p:cNvSpPr txBox="1"/>
          <p:nvPr/>
        </p:nvSpPr>
        <p:spPr>
          <a:xfrm>
            <a:off x="8247888" y="2322576"/>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s2c2-heading"/>
          <p:cNvSpPr txBox="1"/>
          <p:nvPr/>
        </p:nvSpPr>
        <p:spPr>
          <a:xfrm>
            <a:off x="8778240" y="2304288"/>
            <a:ext cx="2578608" cy="292608"/>
          </a:xfrm>
          <a:prstGeom prst="rect">
            <a:avLst/>
          </a:prstGeom>
          <a:noFill/>
          <a:ln/>
        </p:spPr>
        <p:txBody>
          <a:bodyPr wrap="square" lIns="0" tIns="0" rIns="0" bIns="0" rtlCol="0" anchor="ctr"/>
          <a:lstStyle/>
          <a:p>
            <a:pPr indent="0" marL="0">
              <a:buNone/>
            </a:pPr>
            <a:r>
              <a:rPr lang="en-US" sz="1500" b="1" dirty="0">
                <a:solidFill>
                  <a:schemeClr val="bg1"/>
                </a:solidFill>
              </a:rPr>
              <a:t>The paper’s ambition</a:t>
            </a:r>
            <a:endParaRPr lang="en-US" sz="1500" dirty="0"/>
          </a:p>
        </p:txBody>
      </p:sp>
      <p:sp>
        <p:nvSpPr>
          <p:cNvPr id="19" name="s2c2-body"/>
          <p:cNvSpPr txBox="1"/>
          <p:nvPr/>
        </p:nvSpPr>
        <p:spPr>
          <a:xfrm>
            <a:off x="8247888" y="2670048"/>
            <a:ext cx="3108960" cy="1536192"/>
          </a:xfrm>
          <a:prstGeom prst="rect">
            <a:avLst/>
          </a:prstGeom>
          <a:noFill/>
          <a:ln/>
        </p:spPr>
        <p:txBody>
          <a:bodyPr wrap="square" lIns="0" tIns="0" rIns="0" bIns="0" rtlCol="0" anchor="t"/>
          <a:lstStyle/>
          <a:p>
            <a:pPr indent="0" marL="0">
              <a:buNone/>
            </a:pPr>
            <a:r>
              <a:rPr lang="en-US" sz="1250" dirty="0">
                <a:solidFill>
                  <a:schemeClr val="accent5"/>
                </a:solidFill>
              </a:rPr>
              <a:t>BSFR-SH proposes a complete lifecycle — backup, detect, mitigate and recover — all anchored on a blockchain.</a:t>
            </a:r>
            <a:endParaRPr lang="en-US" sz="1250" dirty="0"/>
          </a:p>
        </p:txBody>
      </p:sp>
      <p:sp>
        <p:nvSpPr>
          <p:cNvPr id="20" name="s2-close"/>
          <p:cNvSpPr txBox="1"/>
          <p:nvPr/>
        </p:nvSpPr>
        <p:spPr>
          <a:xfrm>
            <a:off x="566928" y="4663440"/>
            <a:ext cx="11027664" cy="548640"/>
          </a:xfrm>
          <a:prstGeom prst="rect">
            <a:avLst/>
          </a:prstGeom>
          <a:noFill/>
          <a:ln/>
        </p:spPr>
        <p:txBody>
          <a:bodyPr wrap="square" lIns="0" tIns="0" rIns="0" bIns="0" rtlCol="0" anchor="t"/>
          <a:lstStyle/>
          <a:p>
            <a:pPr indent="0" marL="0">
              <a:buNone/>
            </a:pPr>
            <a:r>
              <a:rPr lang="en-US" sz="1400" dirty="0">
                <a:solidFill>
                  <a:schemeClr val="bg1"/>
                </a:solidFill>
              </a:rPr>
              <a:t>The scope is the contribution. Whether the evidence supports it is the question this study set out to answer.</a:t>
            </a:r>
            <a:endParaRPr lang="en-US" sz="1400" dirty="0"/>
          </a:p>
        </p:txBody>
      </p:sp>
      <p:sp>
        <p:nvSpPr>
          <p:cNvPr id="21" name="s2-cite"/>
          <p:cNvSpPr txBox="1"/>
          <p:nvPr/>
        </p:nvSpPr>
        <p:spPr>
          <a:xfrm>
            <a:off x="566928" y="5943600"/>
            <a:ext cx="11027664" cy="292608"/>
          </a:xfrm>
          <a:prstGeom prst="rect">
            <a:avLst/>
          </a:prstGeom>
          <a:noFill/>
          <a:ln/>
        </p:spPr>
        <p:txBody>
          <a:bodyPr wrap="square" lIns="0" tIns="0" rIns="0" bIns="0" rtlCol="0" anchor="t"/>
          <a:lstStyle/>
          <a:p>
            <a:pPr indent="0" marL="0">
              <a:buNone/>
            </a:pPr>
            <a:r>
              <a:rPr lang="en-US" sz="1050" i="1" dirty="0">
                <a:solidFill>
                  <a:schemeClr val="accent5"/>
                </a:solidFill>
              </a:rPr>
              <a:t>Context: Kharraz et al. (2015); Connolly &amp; Wall (2019)</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Five phases of BSFR-SH</a:t>
            </a:r>
            <a:endParaRPr lang="en-US" sz="2900" dirty="0"/>
          </a:p>
        </p:txBody>
      </p:sp>
      <p:sp>
        <p:nvSpPr>
          <p:cNvPr id="4" name="s3p0-panel"/>
          <p:cNvSpPr/>
          <p:nvPr/>
        </p:nvSpPr>
        <p:spPr>
          <a:xfrm>
            <a:off x="566928" y="1481328"/>
            <a:ext cx="2057400" cy="2103120"/>
          </a:xfrm>
          <a:prstGeom prst="roundRect">
            <a:avLst>
              <a:gd name="adj" fmla="val 2667"/>
            </a:avLst>
          </a:prstGeom>
          <a:solidFill>
            <a:schemeClr val="tx2"/>
          </a:solidFill>
          <a:ln/>
        </p:spPr>
      </p:sp>
      <p:sp>
        <p:nvSpPr>
          <p:cNvPr id="5" name="s3p0-chip"/>
          <p:cNvSpPr/>
          <p:nvPr/>
        </p:nvSpPr>
        <p:spPr>
          <a:xfrm>
            <a:off x="786384" y="1664208"/>
            <a:ext cx="402336" cy="274320"/>
          </a:xfrm>
          <a:prstGeom prst="roundRect">
            <a:avLst>
              <a:gd name="adj" fmla="val 16667"/>
            </a:avLst>
          </a:prstGeom>
          <a:solidFill>
            <a:schemeClr val="accent1"/>
          </a:solidFill>
          <a:ln/>
        </p:spPr>
      </p:sp>
      <p:sp>
        <p:nvSpPr>
          <p:cNvPr id="6" name="s3p0-tagtext"/>
          <p:cNvSpPr txBox="1"/>
          <p:nvPr/>
        </p:nvSpPr>
        <p:spPr>
          <a:xfrm>
            <a:off x="786384" y="1664208"/>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s3p0-heading"/>
          <p:cNvSpPr txBox="1"/>
          <p:nvPr/>
        </p:nvSpPr>
        <p:spPr>
          <a:xfrm>
            <a:off x="1316736" y="1645920"/>
            <a:ext cx="1088136" cy="292608"/>
          </a:xfrm>
          <a:prstGeom prst="rect">
            <a:avLst/>
          </a:prstGeom>
          <a:noFill/>
          <a:ln/>
        </p:spPr>
        <p:txBody>
          <a:bodyPr wrap="square" lIns="0" tIns="0" rIns="0" bIns="0" rtlCol="0" anchor="ctr"/>
          <a:lstStyle/>
          <a:p>
            <a:pPr indent="0" marL="0">
              <a:buNone/>
            </a:pPr>
            <a:r>
              <a:rPr lang="en-US" sz="1500" b="1" dirty="0">
                <a:solidFill>
                  <a:schemeClr val="bg1"/>
                </a:solidFill>
              </a:rPr>
              <a:t>Backup</a:t>
            </a:r>
            <a:endParaRPr lang="en-US" sz="1500" dirty="0"/>
          </a:p>
        </p:txBody>
      </p:sp>
      <p:sp>
        <p:nvSpPr>
          <p:cNvPr id="8" name="s3p0-body"/>
          <p:cNvSpPr txBox="1"/>
          <p:nvPr/>
        </p:nvSpPr>
        <p:spPr>
          <a:xfrm>
            <a:off x="786384" y="2011680"/>
            <a:ext cx="1618488" cy="1444752"/>
          </a:xfrm>
          <a:prstGeom prst="rect">
            <a:avLst/>
          </a:prstGeom>
          <a:noFill/>
          <a:ln/>
        </p:spPr>
        <p:txBody>
          <a:bodyPr wrap="square" lIns="0" tIns="0" rIns="0" bIns="0" rtlCol="0" anchor="t"/>
          <a:lstStyle/>
          <a:p>
            <a:pPr indent="0" marL="0">
              <a:buNone/>
            </a:pPr>
            <a:r>
              <a:rPr lang="en-US" sz="1150" dirty="0">
                <a:solidFill>
                  <a:schemeClr val="accent5"/>
                </a:solidFill>
              </a:rPr>
              <a:t>System ships data to a cloud server, which encrypts it and commits it to the backup chain.</a:t>
            </a:r>
            <a:endParaRPr lang="en-US" sz="1150" dirty="0"/>
          </a:p>
        </p:txBody>
      </p:sp>
      <p:sp>
        <p:nvSpPr>
          <p:cNvPr id="9" name="s3arrow0"/>
          <p:cNvSpPr/>
          <p:nvPr/>
        </p:nvSpPr>
        <p:spPr>
          <a:xfrm>
            <a:off x="2656332" y="2670048"/>
            <a:ext cx="91440" cy="45720"/>
          </a:xfrm>
          <a:prstGeom prst="rect">
            <a:avLst/>
          </a:prstGeom>
          <a:solidFill>
            <a:schemeClr val="accent1"/>
          </a:solidFill>
          <a:ln/>
        </p:spPr>
      </p:sp>
      <p:sp>
        <p:nvSpPr>
          <p:cNvPr id="10" name="s3p1-panel"/>
          <p:cNvSpPr/>
          <p:nvPr/>
        </p:nvSpPr>
        <p:spPr>
          <a:xfrm>
            <a:off x="2807208" y="1481328"/>
            <a:ext cx="2057400" cy="2103120"/>
          </a:xfrm>
          <a:prstGeom prst="roundRect">
            <a:avLst>
              <a:gd name="adj" fmla="val 2667"/>
            </a:avLst>
          </a:prstGeom>
          <a:solidFill>
            <a:schemeClr val="tx2"/>
          </a:solidFill>
          <a:ln/>
        </p:spPr>
      </p:sp>
      <p:sp>
        <p:nvSpPr>
          <p:cNvPr id="11" name="s3p1-chip"/>
          <p:cNvSpPr/>
          <p:nvPr/>
        </p:nvSpPr>
        <p:spPr>
          <a:xfrm>
            <a:off x="3026664" y="1664208"/>
            <a:ext cx="402336" cy="274320"/>
          </a:xfrm>
          <a:prstGeom prst="roundRect">
            <a:avLst>
              <a:gd name="adj" fmla="val 16667"/>
            </a:avLst>
          </a:prstGeom>
          <a:solidFill>
            <a:schemeClr val="accent1"/>
          </a:solidFill>
          <a:ln/>
        </p:spPr>
      </p:sp>
      <p:sp>
        <p:nvSpPr>
          <p:cNvPr id="12" name="s3p1-tagtext"/>
          <p:cNvSpPr txBox="1"/>
          <p:nvPr/>
        </p:nvSpPr>
        <p:spPr>
          <a:xfrm>
            <a:off x="3026664" y="1664208"/>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s3p1-heading"/>
          <p:cNvSpPr txBox="1"/>
          <p:nvPr/>
        </p:nvSpPr>
        <p:spPr>
          <a:xfrm>
            <a:off x="3557016" y="1645920"/>
            <a:ext cx="1088136" cy="292608"/>
          </a:xfrm>
          <a:prstGeom prst="rect">
            <a:avLst/>
          </a:prstGeom>
          <a:noFill/>
          <a:ln/>
        </p:spPr>
        <p:txBody>
          <a:bodyPr wrap="square" lIns="0" tIns="0" rIns="0" bIns="0" rtlCol="0" anchor="ctr"/>
          <a:lstStyle/>
          <a:p>
            <a:pPr indent="0" marL="0">
              <a:buNone/>
            </a:pPr>
            <a:r>
              <a:rPr lang="en-US" sz="1500" b="1" dirty="0">
                <a:solidFill>
                  <a:schemeClr val="bg1"/>
                </a:solidFill>
              </a:rPr>
              <a:t>Collect</a:t>
            </a:r>
            <a:endParaRPr lang="en-US" sz="1500" dirty="0"/>
          </a:p>
        </p:txBody>
      </p:sp>
      <p:sp>
        <p:nvSpPr>
          <p:cNvPr id="14" name="s3p1-body"/>
          <p:cNvSpPr txBox="1"/>
          <p:nvPr/>
        </p:nvSpPr>
        <p:spPr>
          <a:xfrm>
            <a:off x="3026664" y="2011680"/>
            <a:ext cx="1618488" cy="1444752"/>
          </a:xfrm>
          <a:prstGeom prst="rect">
            <a:avLst/>
          </a:prstGeom>
          <a:noFill/>
          <a:ln/>
        </p:spPr>
        <p:txBody>
          <a:bodyPr wrap="square" lIns="0" tIns="0" rIns="0" bIns="0" rtlCol="0" anchor="t"/>
          <a:lstStyle/>
          <a:p>
            <a:pPr indent="0" marL="0">
              <a:buNone/>
            </a:pPr>
            <a:r>
              <a:rPr lang="en-US" sz="1150" dirty="0">
                <a:solidFill>
                  <a:schemeClr val="accent5"/>
                </a:solidFill>
              </a:rPr>
              <a:t>A honeypot is harvested; signatures and behavioural features are committed to the signature chain.</a:t>
            </a:r>
            <a:endParaRPr lang="en-US" sz="1150" dirty="0"/>
          </a:p>
        </p:txBody>
      </p:sp>
      <p:sp>
        <p:nvSpPr>
          <p:cNvPr id="15" name="s3arrow1"/>
          <p:cNvSpPr/>
          <p:nvPr/>
        </p:nvSpPr>
        <p:spPr>
          <a:xfrm>
            <a:off x="4896612" y="2670048"/>
            <a:ext cx="91440" cy="45720"/>
          </a:xfrm>
          <a:prstGeom prst="rect">
            <a:avLst/>
          </a:prstGeom>
          <a:solidFill>
            <a:schemeClr val="accent1"/>
          </a:solidFill>
          <a:ln/>
        </p:spPr>
      </p:sp>
      <p:sp>
        <p:nvSpPr>
          <p:cNvPr id="16" name="s3p2-panel"/>
          <p:cNvSpPr/>
          <p:nvPr/>
        </p:nvSpPr>
        <p:spPr>
          <a:xfrm>
            <a:off x="5047488" y="1481328"/>
            <a:ext cx="2057400" cy="2103120"/>
          </a:xfrm>
          <a:prstGeom prst="roundRect">
            <a:avLst>
              <a:gd name="adj" fmla="val 2667"/>
            </a:avLst>
          </a:prstGeom>
          <a:solidFill>
            <a:schemeClr val="tx2"/>
          </a:solidFill>
          <a:ln/>
        </p:spPr>
      </p:sp>
      <p:sp>
        <p:nvSpPr>
          <p:cNvPr id="17" name="s3p2-chip"/>
          <p:cNvSpPr/>
          <p:nvPr/>
        </p:nvSpPr>
        <p:spPr>
          <a:xfrm>
            <a:off x="5266944" y="1664208"/>
            <a:ext cx="402336" cy="274320"/>
          </a:xfrm>
          <a:prstGeom prst="roundRect">
            <a:avLst>
              <a:gd name="adj" fmla="val 16667"/>
            </a:avLst>
          </a:prstGeom>
          <a:solidFill>
            <a:schemeClr val="accent1"/>
          </a:solidFill>
          <a:ln/>
        </p:spPr>
      </p:sp>
      <p:sp>
        <p:nvSpPr>
          <p:cNvPr id="18" name="s3p2-tagtext"/>
          <p:cNvSpPr txBox="1"/>
          <p:nvPr/>
        </p:nvSpPr>
        <p:spPr>
          <a:xfrm>
            <a:off x="5266944" y="1664208"/>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s3p2-heading"/>
          <p:cNvSpPr txBox="1"/>
          <p:nvPr/>
        </p:nvSpPr>
        <p:spPr>
          <a:xfrm>
            <a:off x="5797296" y="1645920"/>
            <a:ext cx="1088136" cy="292608"/>
          </a:xfrm>
          <a:prstGeom prst="rect">
            <a:avLst/>
          </a:prstGeom>
          <a:noFill/>
          <a:ln/>
        </p:spPr>
        <p:txBody>
          <a:bodyPr wrap="square" lIns="0" tIns="0" rIns="0" bIns="0" rtlCol="0" anchor="ctr"/>
          <a:lstStyle/>
          <a:p>
            <a:pPr indent="0" marL="0">
              <a:buNone/>
            </a:pPr>
            <a:r>
              <a:rPr lang="en-US" sz="1500" b="1" dirty="0">
                <a:solidFill>
                  <a:schemeClr val="bg1"/>
                </a:solidFill>
              </a:rPr>
              <a:t>Detect</a:t>
            </a:r>
            <a:endParaRPr lang="en-US" sz="1500" dirty="0"/>
          </a:p>
        </p:txBody>
      </p:sp>
      <p:sp>
        <p:nvSpPr>
          <p:cNvPr id="20" name="s3p2-body"/>
          <p:cNvSpPr txBox="1"/>
          <p:nvPr/>
        </p:nvSpPr>
        <p:spPr>
          <a:xfrm>
            <a:off x="5266944" y="2011680"/>
            <a:ext cx="1618488" cy="1444752"/>
          </a:xfrm>
          <a:prstGeom prst="rect">
            <a:avLst/>
          </a:prstGeom>
          <a:noFill/>
          <a:ln/>
        </p:spPr>
        <p:txBody>
          <a:bodyPr wrap="square" lIns="0" tIns="0" rIns="0" bIns="0" rtlCol="0" anchor="t"/>
          <a:lstStyle/>
          <a:p>
            <a:pPr indent="0" marL="0">
              <a:buNone/>
            </a:pPr>
            <a:r>
              <a:rPr lang="en-US" sz="1150" dirty="0">
                <a:solidFill>
                  <a:schemeClr val="accent5"/>
                </a:solidFill>
              </a:rPr>
              <a:t>Four classifiers train on the signature chain and build normal and abnormal profiles.</a:t>
            </a:r>
            <a:endParaRPr lang="en-US" sz="1150" dirty="0"/>
          </a:p>
        </p:txBody>
      </p:sp>
      <p:sp>
        <p:nvSpPr>
          <p:cNvPr id="21" name="s3arrow2"/>
          <p:cNvSpPr/>
          <p:nvPr/>
        </p:nvSpPr>
        <p:spPr>
          <a:xfrm>
            <a:off x="7136892" y="2670048"/>
            <a:ext cx="91440" cy="45720"/>
          </a:xfrm>
          <a:prstGeom prst="rect">
            <a:avLst/>
          </a:prstGeom>
          <a:solidFill>
            <a:schemeClr val="accent1"/>
          </a:solidFill>
          <a:ln/>
        </p:spPr>
      </p:sp>
      <p:sp>
        <p:nvSpPr>
          <p:cNvPr id="22" name="s3p3-panel"/>
          <p:cNvSpPr/>
          <p:nvPr/>
        </p:nvSpPr>
        <p:spPr>
          <a:xfrm>
            <a:off x="7287768" y="1481328"/>
            <a:ext cx="2057400" cy="2103120"/>
          </a:xfrm>
          <a:prstGeom prst="roundRect">
            <a:avLst>
              <a:gd name="adj" fmla="val 2667"/>
            </a:avLst>
          </a:prstGeom>
          <a:solidFill>
            <a:schemeClr val="tx2"/>
          </a:solidFill>
          <a:ln/>
        </p:spPr>
      </p:sp>
      <p:sp>
        <p:nvSpPr>
          <p:cNvPr id="23" name="s3p3-chip"/>
          <p:cNvSpPr/>
          <p:nvPr/>
        </p:nvSpPr>
        <p:spPr>
          <a:xfrm>
            <a:off x="7507224" y="1664208"/>
            <a:ext cx="402336" cy="274320"/>
          </a:xfrm>
          <a:prstGeom prst="roundRect">
            <a:avLst>
              <a:gd name="adj" fmla="val 16667"/>
            </a:avLst>
          </a:prstGeom>
          <a:solidFill>
            <a:schemeClr val="accent1"/>
          </a:solidFill>
          <a:ln/>
        </p:spPr>
      </p:sp>
      <p:sp>
        <p:nvSpPr>
          <p:cNvPr id="24" name="s3p3-tagtext"/>
          <p:cNvSpPr txBox="1"/>
          <p:nvPr/>
        </p:nvSpPr>
        <p:spPr>
          <a:xfrm>
            <a:off x="7507224" y="1664208"/>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s3p3-heading"/>
          <p:cNvSpPr txBox="1"/>
          <p:nvPr/>
        </p:nvSpPr>
        <p:spPr>
          <a:xfrm>
            <a:off x="8037576" y="1645920"/>
            <a:ext cx="1088136" cy="292608"/>
          </a:xfrm>
          <a:prstGeom prst="rect">
            <a:avLst/>
          </a:prstGeom>
          <a:noFill/>
          <a:ln/>
        </p:spPr>
        <p:txBody>
          <a:bodyPr wrap="square" lIns="0" tIns="0" rIns="0" bIns="0" rtlCol="0" anchor="ctr"/>
          <a:lstStyle/>
          <a:p>
            <a:pPr indent="0" marL="0">
              <a:buNone/>
            </a:pPr>
            <a:r>
              <a:rPr lang="en-US" sz="1500" b="1" dirty="0">
                <a:solidFill>
                  <a:schemeClr val="bg1"/>
                </a:solidFill>
              </a:rPr>
              <a:t>Mitigate</a:t>
            </a:r>
            <a:endParaRPr lang="en-US" sz="1500" dirty="0"/>
          </a:p>
        </p:txBody>
      </p:sp>
      <p:sp>
        <p:nvSpPr>
          <p:cNvPr id="26" name="s3p3-body"/>
          <p:cNvSpPr txBox="1"/>
          <p:nvPr/>
        </p:nvSpPr>
        <p:spPr>
          <a:xfrm>
            <a:off x="7507224" y="2011680"/>
            <a:ext cx="1618488" cy="1444752"/>
          </a:xfrm>
          <a:prstGeom prst="rect">
            <a:avLst/>
          </a:prstGeom>
          <a:noFill/>
          <a:ln/>
        </p:spPr>
        <p:txBody>
          <a:bodyPr wrap="square" lIns="0" tIns="0" rIns="0" bIns="0" rtlCol="0" anchor="t"/>
          <a:lstStyle/>
          <a:p>
            <a:pPr indent="0" marL="0">
              <a:buNone/>
            </a:pPr>
            <a:r>
              <a:rPr lang="en-US" sz="1150" dirty="0">
                <a:solidFill>
                  <a:schemeClr val="accent5"/>
                </a:solidFill>
              </a:rPr>
              <a:t>The infected system is isolated, then cleaned, restored, or handled by policy.</a:t>
            </a:r>
            <a:endParaRPr lang="en-US" sz="1150" dirty="0"/>
          </a:p>
        </p:txBody>
      </p:sp>
      <p:sp>
        <p:nvSpPr>
          <p:cNvPr id="27" name="s3arrow3"/>
          <p:cNvSpPr/>
          <p:nvPr/>
        </p:nvSpPr>
        <p:spPr>
          <a:xfrm>
            <a:off x="9377172" y="2670048"/>
            <a:ext cx="91440" cy="45720"/>
          </a:xfrm>
          <a:prstGeom prst="rect">
            <a:avLst/>
          </a:prstGeom>
          <a:solidFill>
            <a:schemeClr val="accent1"/>
          </a:solidFill>
          <a:ln/>
        </p:spPr>
      </p:sp>
      <p:sp>
        <p:nvSpPr>
          <p:cNvPr id="28" name="s3p4-panel"/>
          <p:cNvSpPr/>
          <p:nvPr/>
        </p:nvSpPr>
        <p:spPr>
          <a:xfrm>
            <a:off x="9528048" y="1481328"/>
            <a:ext cx="2057400" cy="2103120"/>
          </a:xfrm>
          <a:prstGeom prst="roundRect">
            <a:avLst>
              <a:gd name="adj" fmla="val 2667"/>
            </a:avLst>
          </a:prstGeom>
          <a:solidFill>
            <a:schemeClr val="tx2"/>
          </a:solidFill>
          <a:ln/>
        </p:spPr>
      </p:sp>
      <p:sp>
        <p:nvSpPr>
          <p:cNvPr id="29" name="s3p4-chip"/>
          <p:cNvSpPr/>
          <p:nvPr/>
        </p:nvSpPr>
        <p:spPr>
          <a:xfrm>
            <a:off x="9747504" y="1664208"/>
            <a:ext cx="402336" cy="274320"/>
          </a:xfrm>
          <a:prstGeom prst="roundRect">
            <a:avLst>
              <a:gd name="adj" fmla="val 16667"/>
            </a:avLst>
          </a:prstGeom>
          <a:solidFill>
            <a:schemeClr val="accent1"/>
          </a:solidFill>
          <a:ln/>
        </p:spPr>
      </p:sp>
      <p:sp>
        <p:nvSpPr>
          <p:cNvPr id="30" name="s3p4-tagtext"/>
          <p:cNvSpPr txBox="1"/>
          <p:nvPr/>
        </p:nvSpPr>
        <p:spPr>
          <a:xfrm>
            <a:off x="9747504" y="1664208"/>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s3p4-heading"/>
          <p:cNvSpPr txBox="1"/>
          <p:nvPr/>
        </p:nvSpPr>
        <p:spPr>
          <a:xfrm>
            <a:off x="10277856" y="1645920"/>
            <a:ext cx="1088136" cy="292608"/>
          </a:xfrm>
          <a:prstGeom prst="rect">
            <a:avLst/>
          </a:prstGeom>
          <a:noFill/>
          <a:ln/>
        </p:spPr>
        <p:txBody>
          <a:bodyPr wrap="square" lIns="0" tIns="0" rIns="0" bIns="0" rtlCol="0" anchor="ctr"/>
          <a:lstStyle/>
          <a:p>
            <a:pPr indent="0" marL="0">
              <a:buNone/>
            </a:pPr>
            <a:r>
              <a:rPr lang="en-US" sz="1500" b="1" dirty="0">
                <a:solidFill>
                  <a:schemeClr val="bg1"/>
                </a:solidFill>
              </a:rPr>
              <a:t>Recover</a:t>
            </a:r>
            <a:endParaRPr lang="en-US" sz="1500" dirty="0"/>
          </a:p>
        </p:txBody>
      </p:sp>
      <p:sp>
        <p:nvSpPr>
          <p:cNvPr id="32" name="s3p4-body"/>
          <p:cNvSpPr txBox="1"/>
          <p:nvPr/>
        </p:nvSpPr>
        <p:spPr>
          <a:xfrm>
            <a:off x="9747504" y="2011680"/>
            <a:ext cx="1618488" cy="1444752"/>
          </a:xfrm>
          <a:prstGeom prst="rect">
            <a:avLst/>
          </a:prstGeom>
          <a:noFill/>
          <a:ln/>
        </p:spPr>
        <p:txBody>
          <a:bodyPr wrap="square" lIns="0" tIns="0" rIns="0" bIns="0" rtlCol="0" anchor="t"/>
          <a:lstStyle/>
          <a:p>
            <a:pPr indent="0" marL="0">
              <a:buNone/>
            </a:pPr>
            <a:r>
              <a:rPr lang="en-US" sz="1150" dirty="0">
                <a:solidFill>
                  <a:schemeClr val="accent5"/>
                </a:solidFill>
              </a:rPr>
              <a:t>Backups are located, decrypted by the key holder, and restored to the system.</a:t>
            </a:r>
            <a:endParaRPr lang="en-US" sz="1150" dirty="0"/>
          </a:p>
        </p:txBody>
      </p:sp>
      <p:sp>
        <p:nvSpPr>
          <p:cNvPr id="33" name="s3why-panel"/>
          <p:cNvSpPr/>
          <p:nvPr/>
        </p:nvSpPr>
        <p:spPr>
          <a:xfrm>
            <a:off x="566928" y="3803904"/>
            <a:ext cx="5394960" cy="1426464"/>
          </a:xfrm>
          <a:prstGeom prst="roundRect">
            <a:avLst>
              <a:gd name="adj" fmla="val 3846"/>
            </a:avLst>
          </a:prstGeom>
          <a:solidFill>
            <a:schemeClr val="tx2"/>
          </a:solidFill>
          <a:ln/>
        </p:spPr>
      </p:sp>
      <p:sp>
        <p:nvSpPr>
          <p:cNvPr id="34" name="s3why-heading"/>
          <p:cNvSpPr txBox="1"/>
          <p:nvPr/>
        </p:nvSpPr>
        <p:spPr>
          <a:xfrm>
            <a:off x="786384" y="3968496"/>
            <a:ext cx="4956048" cy="274320"/>
          </a:xfrm>
          <a:prstGeom prst="rect">
            <a:avLst/>
          </a:prstGeom>
          <a:noFill/>
          <a:ln/>
        </p:spPr>
        <p:txBody>
          <a:bodyPr wrap="square" lIns="0" tIns="0" rIns="0" bIns="0" rtlCol="0" anchor="ctr"/>
          <a:lstStyle/>
          <a:p>
            <a:pPr indent="0" marL="0">
              <a:buNone/>
            </a:pPr>
            <a:r>
              <a:rPr lang="en-US" sz="1400" b="1" dirty="0">
                <a:solidFill>
                  <a:schemeClr val="bg1"/>
                </a:solidFill>
              </a:rPr>
              <a:t>Why a blockchain</a:t>
            </a:r>
            <a:endParaRPr lang="en-US" sz="1400" dirty="0"/>
          </a:p>
        </p:txBody>
      </p:sp>
      <p:sp>
        <p:nvSpPr>
          <p:cNvPr id="35" name="s3why-body"/>
          <p:cNvSpPr txBox="1"/>
          <p:nvPr/>
        </p:nvSpPr>
        <p:spPr>
          <a:xfrm>
            <a:off x="786384" y="4315968"/>
            <a:ext cx="4956048" cy="786384"/>
          </a:xfrm>
          <a:prstGeom prst="rect">
            <a:avLst/>
          </a:prstGeom>
          <a:noFill/>
          <a:ln/>
        </p:spPr>
        <p:txBody>
          <a:bodyPr wrap="square" lIns="0" tIns="0" rIns="0" bIns="0" rtlCol="0" anchor="t"/>
          <a:lstStyle/>
          <a:p>
            <a:pPr indent="0" marL="0">
              <a:buNone/>
            </a:pPr>
            <a:r>
              <a:rPr lang="en-US" sz="1200" dirty="0">
                <a:solidFill>
                  <a:schemeClr val="accent5"/>
                </a:solidFill>
              </a:rPr>
              <a:t>Once a backup is committed it cannot be quietly deleted or altered. Destroying backups is precisely what a ransomware operator does before encrypting — it is what makes the ransom work.</a:t>
            </a:r>
            <a:endParaRPr lang="en-US" sz="1200" dirty="0"/>
          </a:p>
        </p:txBody>
      </p:sp>
      <p:sp>
        <p:nvSpPr>
          <p:cNvPr id="36" name="s3two-panel"/>
          <p:cNvSpPr/>
          <p:nvPr/>
        </p:nvSpPr>
        <p:spPr>
          <a:xfrm>
            <a:off x="6199632" y="3803904"/>
            <a:ext cx="5394960" cy="1426464"/>
          </a:xfrm>
          <a:prstGeom prst="roundRect">
            <a:avLst>
              <a:gd name="adj" fmla="val 3846"/>
            </a:avLst>
          </a:prstGeom>
          <a:solidFill>
            <a:schemeClr val="tx2"/>
          </a:solidFill>
          <a:ln/>
        </p:spPr>
      </p:sp>
      <p:sp>
        <p:nvSpPr>
          <p:cNvPr id="37" name="s3two-heading"/>
          <p:cNvSpPr txBox="1"/>
          <p:nvPr/>
        </p:nvSpPr>
        <p:spPr>
          <a:xfrm>
            <a:off x="6419088" y="3968496"/>
            <a:ext cx="4956048" cy="274320"/>
          </a:xfrm>
          <a:prstGeom prst="rect">
            <a:avLst/>
          </a:prstGeom>
          <a:noFill/>
          <a:ln/>
        </p:spPr>
        <p:txBody>
          <a:bodyPr wrap="square" lIns="0" tIns="0" rIns="0" bIns="0" rtlCol="0" anchor="ctr"/>
          <a:lstStyle/>
          <a:p>
            <a:pPr indent="0" marL="0">
              <a:buNone/>
            </a:pPr>
            <a:r>
              <a:rPr lang="en-US" sz="1400" b="1" dirty="0">
                <a:solidFill>
                  <a:schemeClr val="bg1"/>
                </a:solidFill>
              </a:rPr>
              <a:t>Why two chains</a:t>
            </a:r>
            <a:endParaRPr lang="en-US" sz="1400" dirty="0"/>
          </a:p>
        </p:txBody>
      </p:sp>
      <p:sp>
        <p:nvSpPr>
          <p:cNvPr id="38" name="s3two-body"/>
          <p:cNvSpPr txBox="1"/>
          <p:nvPr/>
        </p:nvSpPr>
        <p:spPr>
          <a:xfrm>
            <a:off x="6419088" y="4315968"/>
            <a:ext cx="4956048" cy="786384"/>
          </a:xfrm>
          <a:prstGeom prst="rect">
            <a:avLst/>
          </a:prstGeom>
          <a:noFill/>
          <a:ln/>
        </p:spPr>
        <p:txBody>
          <a:bodyPr wrap="square" lIns="0" tIns="0" rIns="0" bIns="0" rtlCol="0" anchor="t"/>
          <a:lstStyle/>
          <a:p>
            <a:pPr indent="0" marL="0">
              <a:buNone/>
            </a:pPr>
            <a:r>
              <a:rPr lang="en-US" sz="1200" dirty="0">
                <a:solidFill>
                  <a:schemeClr val="accent5"/>
                </a:solidFill>
              </a:rPr>
              <a:t>Backups and detector training data are protected separately, so compromising the mechanism that guards one does not expose the other.</a:t>
            </a:r>
            <a:endParaRPr lang="en-US" sz="1200" dirty="0"/>
          </a:p>
        </p:txBody>
      </p:sp>
      <p:sp>
        <p:nvSpPr>
          <p:cNvPr id="39" name="s3cite"/>
          <p:cNvSpPr txBox="1"/>
          <p:nvPr/>
        </p:nvSpPr>
        <p:spPr>
          <a:xfrm>
            <a:off x="566928" y="5431536"/>
            <a:ext cx="11027664" cy="292608"/>
          </a:xfrm>
          <a:prstGeom prst="rect">
            <a:avLst/>
          </a:prstGeom>
          <a:noFill/>
          <a:ln/>
        </p:spPr>
        <p:txBody>
          <a:bodyPr wrap="square" lIns="0" tIns="0" rIns="0" bIns="0" rtlCol="0" anchor="t"/>
          <a:lstStyle/>
          <a:p>
            <a:pPr indent="0" marL="0">
              <a:buNone/>
            </a:pPr>
            <a:r>
              <a:rPr lang="en-US" sz="1050" i="1" dirty="0">
                <a:solidFill>
                  <a:schemeClr val="accent5"/>
                </a:solidFill>
              </a:rPr>
              <a:t>Adapted from Fig. 2, Wazid, Das &amp; Shetty (2023)</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FULL ARCHITECTURE</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Two independent chains, one shared mechanism</a:t>
            </a:r>
            <a:endParaRPr lang="en-US" sz="2900" dirty="0"/>
          </a:p>
        </p:txBody>
      </p:sp>
      <p:sp>
        <p:nvSpPr>
          <p:cNvPr id="4" name="s4a-hd-panel"/>
          <p:cNvSpPr/>
          <p:nvPr/>
        </p:nvSpPr>
        <p:spPr>
          <a:xfrm>
            <a:off x="566928" y="1371600"/>
            <a:ext cx="5394960" cy="877824"/>
          </a:xfrm>
          <a:prstGeom prst="roundRect">
            <a:avLst>
              <a:gd name="adj" fmla="val 6250"/>
            </a:avLst>
          </a:prstGeom>
          <a:solidFill>
            <a:schemeClr val="tx2"/>
          </a:solidFill>
          <a:ln/>
        </p:spPr>
      </p:sp>
      <p:sp>
        <p:nvSpPr>
          <p:cNvPr id="5" name="s4a-hd-heading"/>
          <p:cNvSpPr txBox="1"/>
          <p:nvPr/>
        </p:nvSpPr>
        <p:spPr>
          <a:xfrm>
            <a:off x="786384" y="1536192"/>
            <a:ext cx="4956048" cy="274320"/>
          </a:xfrm>
          <a:prstGeom prst="rect">
            <a:avLst/>
          </a:prstGeom>
          <a:noFill/>
          <a:ln/>
        </p:spPr>
        <p:txBody>
          <a:bodyPr wrap="square" lIns="0" tIns="0" rIns="0" bIns="0" rtlCol="0" anchor="ctr"/>
          <a:lstStyle/>
          <a:p>
            <a:pPr indent="0" marL="0">
              <a:buNone/>
            </a:pPr>
            <a:r>
              <a:rPr lang="en-US" sz="1600" b="1" dirty="0">
                <a:solidFill>
                  <a:schemeClr val="bg1"/>
                </a:solidFill>
              </a:rPr>
              <a:t>Asset 1 — the backups</a:t>
            </a:r>
            <a:endParaRPr lang="en-US" sz="1600" dirty="0"/>
          </a:p>
        </p:txBody>
      </p:sp>
      <p:sp>
        <p:nvSpPr>
          <p:cNvPr id="6" name="s4a-hd-body"/>
          <p:cNvSpPr txBox="1"/>
          <p:nvPr/>
        </p:nvSpPr>
        <p:spPr>
          <a:xfrm>
            <a:off x="786384" y="1883664"/>
            <a:ext cx="4956048" cy="237744"/>
          </a:xfrm>
          <a:prstGeom prst="rect">
            <a:avLst/>
          </a:prstGeom>
          <a:noFill/>
          <a:ln/>
        </p:spPr>
        <p:txBody>
          <a:bodyPr wrap="square" lIns="0" tIns="0" rIns="0" bIns="0" rtlCol="0" anchor="t"/>
          <a:lstStyle/>
          <a:p>
            <a:pPr indent="0" marL="0">
              <a:buNone/>
            </a:pPr>
            <a:r>
              <a:rPr lang="en-US" sz="1150" dirty="0">
                <a:solidFill>
                  <a:schemeClr val="accent5"/>
                </a:solidFill>
              </a:rPr>
              <a:t>Protects the ability to restore without paying</a:t>
            </a:r>
            <a:endParaRPr lang="en-US" sz="1150" dirty="0"/>
          </a:p>
        </p:txBody>
      </p:sp>
      <p:sp>
        <p:nvSpPr>
          <p:cNvPr id="7" name="s4a-w-panel"/>
          <p:cNvSpPr/>
          <p:nvPr/>
        </p:nvSpPr>
        <p:spPr>
          <a:xfrm>
            <a:off x="566928" y="2359152"/>
            <a:ext cx="2578608" cy="1005840"/>
          </a:xfrm>
          <a:prstGeom prst="roundRect">
            <a:avLst>
              <a:gd name="adj" fmla="val 5455"/>
            </a:avLst>
          </a:prstGeom>
          <a:solidFill>
            <a:schemeClr val="tx2"/>
          </a:solidFill>
          <a:ln/>
        </p:spPr>
      </p:sp>
      <p:sp>
        <p:nvSpPr>
          <p:cNvPr id="8" name="s4a-w-heading"/>
          <p:cNvSpPr txBox="1"/>
          <p:nvPr/>
        </p:nvSpPr>
        <p:spPr>
          <a:xfrm>
            <a:off x="786384" y="2523744"/>
            <a:ext cx="2139696" cy="256032"/>
          </a:xfrm>
          <a:prstGeom prst="rect">
            <a:avLst/>
          </a:prstGeom>
          <a:noFill/>
          <a:ln/>
        </p:spPr>
        <p:txBody>
          <a:bodyPr wrap="square" lIns="0" tIns="0" rIns="0" bIns="0" rtlCol="0" anchor="ctr"/>
          <a:lstStyle/>
          <a:p>
            <a:pPr indent="0" marL="0">
              <a:buNone/>
            </a:pPr>
            <a:r>
              <a:rPr lang="en-US" sz="1300" b="1" dirty="0">
                <a:solidFill>
                  <a:schemeClr val="bg1"/>
                </a:solidFill>
              </a:rPr>
              <a:t>Phase 1 writes</a:t>
            </a:r>
            <a:endParaRPr lang="en-US" sz="1300" dirty="0"/>
          </a:p>
        </p:txBody>
      </p:sp>
      <p:sp>
        <p:nvSpPr>
          <p:cNvPr id="9" name="s4a-w-body"/>
          <p:cNvSpPr txBox="1"/>
          <p:nvPr/>
        </p:nvSpPr>
        <p:spPr>
          <a:xfrm>
            <a:off x="786384" y="2852928"/>
            <a:ext cx="2139696" cy="384048"/>
          </a:xfrm>
          <a:prstGeom prst="rect">
            <a:avLst/>
          </a:prstGeom>
          <a:noFill/>
          <a:ln/>
        </p:spPr>
        <p:txBody>
          <a:bodyPr wrap="square" lIns="0" tIns="0" rIns="0" bIns="0" rtlCol="0" anchor="t"/>
          <a:lstStyle/>
          <a:p>
            <a:pPr indent="0" marL="0">
              <a:buNone/>
            </a:pPr>
            <a:r>
              <a:rPr lang="en-US" sz="1100" dirty="0">
                <a:solidFill>
                  <a:schemeClr val="accent5"/>
                </a:solidFill>
              </a:rPr>
              <a:t>Encrypt, block, commit</a:t>
            </a:r>
            <a:endParaRPr lang="en-US" sz="1100" dirty="0"/>
          </a:p>
        </p:txBody>
      </p:sp>
      <p:sp>
        <p:nvSpPr>
          <p:cNvPr id="10" name="s4a-r-panel"/>
          <p:cNvSpPr/>
          <p:nvPr/>
        </p:nvSpPr>
        <p:spPr>
          <a:xfrm>
            <a:off x="3383280" y="2359152"/>
            <a:ext cx="2578608" cy="1005840"/>
          </a:xfrm>
          <a:prstGeom prst="roundRect">
            <a:avLst>
              <a:gd name="adj" fmla="val 5455"/>
            </a:avLst>
          </a:prstGeom>
          <a:solidFill>
            <a:schemeClr val="tx2"/>
          </a:solidFill>
          <a:ln/>
        </p:spPr>
      </p:sp>
      <p:sp>
        <p:nvSpPr>
          <p:cNvPr id="11" name="s4a-r-heading"/>
          <p:cNvSpPr txBox="1"/>
          <p:nvPr/>
        </p:nvSpPr>
        <p:spPr>
          <a:xfrm>
            <a:off x="3602736" y="2523744"/>
            <a:ext cx="2139696" cy="256032"/>
          </a:xfrm>
          <a:prstGeom prst="rect">
            <a:avLst/>
          </a:prstGeom>
          <a:noFill/>
          <a:ln/>
        </p:spPr>
        <p:txBody>
          <a:bodyPr wrap="square" lIns="0" tIns="0" rIns="0" bIns="0" rtlCol="0" anchor="ctr"/>
          <a:lstStyle/>
          <a:p>
            <a:pPr indent="0" marL="0">
              <a:buNone/>
            </a:pPr>
            <a:r>
              <a:rPr lang="en-US" sz="1300" b="1" dirty="0">
                <a:solidFill>
                  <a:schemeClr val="bg1"/>
                </a:solidFill>
              </a:rPr>
              <a:t>Phase 5 reads</a:t>
            </a:r>
            <a:endParaRPr lang="en-US" sz="1300" dirty="0"/>
          </a:p>
        </p:txBody>
      </p:sp>
      <p:sp>
        <p:nvSpPr>
          <p:cNvPr id="12" name="s4a-r-body"/>
          <p:cNvSpPr txBox="1"/>
          <p:nvPr/>
        </p:nvSpPr>
        <p:spPr>
          <a:xfrm>
            <a:off x="3602736" y="2852928"/>
            <a:ext cx="2139696" cy="384048"/>
          </a:xfrm>
          <a:prstGeom prst="rect">
            <a:avLst/>
          </a:prstGeom>
          <a:noFill/>
          <a:ln/>
        </p:spPr>
        <p:txBody>
          <a:bodyPr wrap="square" lIns="0" tIns="0" rIns="0" bIns="0" rtlCol="0" anchor="t"/>
          <a:lstStyle/>
          <a:p>
            <a:pPr indent="0" marL="0">
              <a:buNone/>
            </a:pPr>
            <a:r>
              <a:rPr lang="en-US" sz="1100" dirty="0">
                <a:solidFill>
                  <a:schemeClr val="accent5"/>
                </a:solidFill>
              </a:rPr>
              <a:t>Locate, decrypt, restore</a:t>
            </a:r>
            <a:endParaRPr lang="en-US" sz="1100" dirty="0"/>
          </a:p>
        </p:txBody>
      </p:sp>
      <p:sp>
        <p:nvSpPr>
          <p:cNvPr id="13" name="s4a-chain"/>
          <p:cNvSpPr/>
          <p:nvPr/>
        </p:nvSpPr>
        <p:spPr>
          <a:xfrm>
            <a:off x="566928" y="3511296"/>
            <a:ext cx="5394960" cy="658368"/>
          </a:xfrm>
          <a:prstGeom prst="roundRect">
            <a:avLst>
              <a:gd name="adj" fmla="val 8333"/>
            </a:avLst>
          </a:prstGeom>
          <a:solidFill>
            <a:schemeClr val="accent3"/>
          </a:solidFill>
          <a:ln/>
        </p:spPr>
      </p:sp>
      <p:sp>
        <p:nvSpPr>
          <p:cNvPr id="14" name="s4a-chaintext"/>
          <p:cNvSpPr txBox="1"/>
          <p:nvPr/>
        </p:nvSpPr>
        <p:spPr>
          <a:xfrm>
            <a:off x="566928" y="3511296"/>
            <a:ext cx="5394960" cy="658368"/>
          </a:xfrm>
          <a:prstGeom prst="rect">
            <a:avLst/>
          </a:prstGeom>
          <a:noFill/>
          <a:ln/>
        </p:spPr>
        <p:txBody>
          <a:bodyPr wrap="square" lIns="0" tIns="0" rIns="0" bIns="0" rtlCol="0" anchor="ctr"/>
          <a:lstStyle/>
          <a:p>
            <a:pPr algn="ctr" indent="0" marL="0">
              <a:buNone/>
            </a:pPr>
            <a:r>
              <a:rPr lang="en-US" sz="1500" b="1" dirty="0">
                <a:solidFill>
                  <a:schemeClr val="bg1"/>
                </a:solidFill>
              </a:rPr>
              <a:t>BC_DTBU</a:t>
            </a:r>
            <a:endParaRPr lang="en-US" sz="1500" dirty="0"/>
          </a:p>
        </p:txBody>
      </p:sp>
      <p:sp>
        <p:nvSpPr>
          <p:cNvPr id="15" name="s4b-hd-panel"/>
          <p:cNvSpPr/>
          <p:nvPr/>
        </p:nvSpPr>
        <p:spPr>
          <a:xfrm>
            <a:off x="6199632" y="1371600"/>
            <a:ext cx="5394960" cy="877824"/>
          </a:xfrm>
          <a:prstGeom prst="roundRect">
            <a:avLst>
              <a:gd name="adj" fmla="val 6250"/>
            </a:avLst>
          </a:prstGeom>
          <a:solidFill>
            <a:schemeClr val="tx2"/>
          </a:solidFill>
          <a:ln/>
        </p:spPr>
      </p:sp>
      <p:sp>
        <p:nvSpPr>
          <p:cNvPr id="16" name="s4b-hd-heading"/>
          <p:cNvSpPr txBox="1"/>
          <p:nvPr/>
        </p:nvSpPr>
        <p:spPr>
          <a:xfrm>
            <a:off x="6419088" y="1536192"/>
            <a:ext cx="4956048" cy="274320"/>
          </a:xfrm>
          <a:prstGeom prst="rect">
            <a:avLst/>
          </a:prstGeom>
          <a:noFill/>
          <a:ln/>
        </p:spPr>
        <p:txBody>
          <a:bodyPr wrap="square" lIns="0" tIns="0" rIns="0" bIns="0" rtlCol="0" anchor="ctr"/>
          <a:lstStyle/>
          <a:p>
            <a:pPr indent="0" marL="0">
              <a:buNone/>
            </a:pPr>
            <a:r>
              <a:rPr lang="en-US" sz="1600" b="1" dirty="0">
                <a:solidFill>
                  <a:schemeClr val="bg1"/>
                </a:solidFill>
              </a:rPr>
              <a:t>Asset 2 — the training data</a:t>
            </a:r>
            <a:endParaRPr lang="en-US" sz="1600" dirty="0"/>
          </a:p>
        </p:txBody>
      </p:sp>
      <p:sp>
        <p:nvSpPr>
          <p:cNvPr id="17" name="s4b-hd-body"/>
          <p:cNvSpPr txBox="1"/>
          <p:nvPr/>
        </p:nvSpPr>
        <p:spPr>
          <a:xfrm>
            <a:off x="6419088" y="1883664"/>
            <a:ext cx="4956048" cy="237744"/>
          </a:xfrm>
          <a:prstGeom prst="rect">
            <a:avLst/>
          </a:prstGeom>
          <a:noFill/>
          <a:ln/>
        </p:spPr>
        <p:txBody>
          <a:bodyPr wrap="square" lIns="0" tIns="0" rIns="0" bIns="0" rtlCol="0" anchor="t"/>
          <a:lstStyle/>
          <a:p>
            <a:pPr indent="0" marL="0">
              <a:buNone/>
            </a:pPr>
            <a:r>
              <a:rPr lang="en-US" sz="1150" dirty="0">
                <a:solidFill>
                  <a:schemeClr val="accent5"/>
                </a:solidFill>
              </a:rPr>
              <a:t>Protects the integrity of detection</a:t>
            </a:r>
            <a:endParaRPr lang="en-US" sz="1150" dirty="0"/>
          </a:p>
        </p:txBody>
      </p:sp>
      <p:sp>
        <p:nvSpPr>
          <p:cNvPr id="18" name="s4b-w-panel"/>
          <p:cNvSpPr/>
          <p:nvPr/>
        </p:nvSpPr>
        <p:spPr>
          <a:xfrm>
            <a:off x="6199632" y="2359152"/>
            <a:ext cx="2578608" cy="1005840"/>
          </a:xfrm>
          <a:prstGeom prst="roundRect">
            <a:avLst>
              <a:gd name="adj" fmla="val 5455"/>
            </a:avLst>
          </a:prstGeom>
          <a:solidFill>
            <a:schemeClr val="tx2"/>
          </a:solidFill>
          <a:ln/>
        </p:spPr>
      </p:sp>
      <p:sp>
        <p:nvSpPr>
          <p:cNvPr id="19" name="s4b-w-heading"/>
          <p:cNvSpPr txBox="1"/>
          <p:nvPr/>
        </p:nvSpPr>
        <p:spPr>
          <a:xfrm>
            <a:off x="6419088" y="2523744"/>
            <a:ext cx="2139696" cy="256032"/>
          </a:xfrm>
          <a:prstGeom prst="rect">
            <a:avLst/>
          </a:prstGeom>
          <a:noFill/>
          <a:ln/>
        </p:spPr>
        <p:txBody>
          <a:bodyPr wrap="square" lIns="0" tIns="0" rIns="0" bIns="0" rtlCol="0" anchor="ctr"/>
          <a:lstStyle/>
          <a:p>
            <a:pPr indent="0" marL="0">
              <a:buNone/>
            </a:pPr>
            <a:r>
              <a:rPr lang="en-US" sz="1300" b="1" dirty="0">
                <a:solidFill>
                  <a:schemeClr val="bg1"/>
                </a:solidFill>
              </a:rPr>
              <a:t>Phase 2 writes</a:t>
            </a:r>
            <a:endParaRPr lang="en-US" sz="1300" dirty="0"/>
          </a:p>
        </p:txBody>
      </p:sp>
      <p:sp>
        <p:nvSpPr>
          <p:cNvPr id="20" name="s4b-w-body"/>
          <p:cNvSpPr txBox="1"/>
          <p:nvPr/>
        </p:nvSpPr>
        <p:spPr>
          <a:xfrm>
            <a:off x="6419088" y="2852928"/>
            <a:ext cx="2139696" cy="384048"/>
          </a:xfrm>
          <a:prstGeom prst="rect">
            <a:avLst/>
          </a:prstGeom>
          <a:noFill/>
          <a:ln/>
        </p:spPr>
        <p:txBody>
          <a:bodyPr wrap="square" lIns="0" tIns="0" rIns="0" bIns="0" rtlCol="0" anchor="t"/>
          <a:lstStyle/>
          <a:p>
            <a:pPr indent="0" marL="0">
              <a:buNone/>
            </a:pPr>
            <a:r>
              <a:rPr lang="en-US" sz="1100" dirty="0">
                <a:solidFill>
                  <a:schemeClr val="accent5"/>
                </a:solidFill>
              </a:rPr>
              <a:t>Signatures and features</a:t>
            </a:r>
            <a:endParaRPr lang="en-US" sz="1100" dirty="0"/>
          </a:p>
        </p:txBody>
      </p:sp>
      <p:sp>
        <p:nvSpPr>
          <p:cNvPr id="21" name="s4b-r-panel"/>
          <p:cNvSpPr/>
          <p:nvPr/>
        </p:nvSpPr>
        <p:spPr>
          <a:xfrm>
            <a:off x="9015984" y="2359152"/>
            <a:ext cx="2578608" cy="1005840"/>
          </a:xfrm>
          <a:prstGeom prst="roundRect">
            <a:avLst>
              <a:gd name="adj" fmla="val 5455"/>
            </a:avLst>
          </a:prstGeom>
          <a:solidFill>
            <a:schemeClr val="tx2"/>
          </a:solidFill>
          <a:ln/>
        </p:spPr>
      </p:sp>
      <p:sp>
        <p:nvSpPr>
          <p:cNvPr id="22" name="s4b-r-heading"/>
          <p:cNvSpPr txBox="1"/>
          <p:nvPr/>
        </p:nvSpPr>
        <p:spPr>
          <a:xfrm>
            <a:off x="9235440" y="2523744"/>
            <a:ext cx="2139696" cy="256032"/>
          </a:xfrm>
          <a:prstGeom prst="rect">
            <a:avLst/>
          </a:prstGeom>
          <a:noFill/>
          <a:ln/>
        </p:spPr>
        <p:txBody>
          <a:bodyPr wrap="square" lIns="0" tIns="0" rIns="0" bIns="0" rtlCol="0" anchor="ctr"/>
          <a:lstStyle/>
          <a:p>
            <a:pPr indent="0" marL="0">
              <a:buNone/>
            </a:pPr>
            <a:r>
              <a:rPr lang="en-US" sz="1300" b="1" dirty="0">
                <a:solidFill>
                  <a:schemeClr val="bg1"/>
                </a:solidFill>
              </a:rPr>
              <a:t>Phase 3 reads</a:t>
            </a:r>
            <a:endParaRPr lang="en-US" sz="1300" dirty="0"/>
          </a:p>
        </p:txBody>
      </p:sp>
      <p:sp>
        <p:nvSpPr>
          <p:cNvPr id="23" name="s4b-r-body"/>
          <p:cNvSpPr txBox="1"/>
          <p:nvPr/>
        </p:nvSpPr>
        <p:spPr>
          <a:xfrm>
            <a:off x="9235440" y="2852928"/>
            <a:ext cx="2139696" cy="384048"/>
          </a:xfrm>
          <a:prstGeom prst="rect">
            <a:avLst/>
          </a:prstGeom>
          <a:noFill/>
          <a:ln/>
        </p:spPr>
        <p:txBody>
          <a:bodyPr wrap="square" lIns="0" tIns="0" rIns="0" bIns="0" rtlCol="0" anchor="t"/>
          <a:lstStyle/>
          <a:p>
            <a:pPr indent="0" marL="0">
              <a:buNone/>
            </a:pPr>
            <a:r>
              <a:rPr lang="en-US" sz="1100" dirty="0">
                <a:solidFill>
                  <a:schemeClr val="accent5"/>
                </a:solidFill>
              </a:rPr>
              <a:t>Train, profile, detect</a:t>
            </a:r>
            <a:endParaRPr lang="en-US" sz="1100" dirty="0"/>
          </a:p>
        </p:txBody>
      </p:sp>
      <p:sp>
        <p:nvSpPr>
          <p:cNvPr id="24" name="s4b-chain"/>
          <p:cNvSpPr/>
          <p:nvPr/>
        </p:nvSpPr>
        <p:spPr>
          <a:xfrm>
            <a:off x="6199632" y="3511296"/>
            <a:ext cx="5394960" cy="658368"/>
          </a:xfrm>
          <a:prstGeom prst="roundRect">
            <a:avLst>
              <a:gd name="adj" fmla="val 8333"/>
            </a:avLst>
          </a:prstGeom>
          <a:solidFill>
            <a:schemeClr val="accent1"/>
          </a:solidFill>
          <a:ln/>
        </p:spPr>
      </p:sp>
      <p:sp>
        <p:nvSpPr>
          <p:cNvPr id="25" name="s4b-chaintext"/>
          <p:cNvSpPr txBox="1"/>
          <p:nvPr/>
        </p:nvSpPr>
        <p:spPr>
          <a:xfrm>
            <a:off x="6199632" y="3511296"/>
            <a:ext cx="5394960" cy="658368"/>
          </a:xfrm>
          <a:prstGeom prst="rect">
            <a:avLst/>
          </a:prstGeom>
          <a:noFill/>
          <a:ln/>
        </p:spPr>
        <p:txBody>
          <a:bodyPr wrap="square" lIns="0" tIns="0" rIns="0" bIns="0" rtlCol="0" anchor="ctr"/>
          <a:lstStyle/>
          <a:p>
            <a:pPr algn="ctr" indent="0" marL="0">
              <a:buNone/>
            </a:pPr>
            <a:r>
              <a:rPr lang="en-US" sz="1500" b="1" dirty="0">
                <a:solidFill>
                  <a:schemeClr val="bg1"/>
                </a:solidFill>
              </a:rPr>
              <a:t>BC_SigRW</a:t>
            </a:r>
            <a:endParaRPr lang="en-US" sz="1500" dirty="0"/>
          </a:p>
        </p:txBody>
      </p:sp>
      <p:sp>
        <p:nvSpPr>
          <p:cNvPr id="26" name="o2-panel"/>
          <p:cNvSpPr/>
          <p:nvPr/>
        </p:nvSpPr>
        <p:spPr>
          <a:xfrm>
            <a:off x="566928" y="4443984"/>
            <a:ext cx="11027664" cy="676656"/>
          </a:xfrm>
          <a:prstGeom prst="roundRect">
            <a:avLst>
              <a:gd name="adj" fmla="val 8108"/>
            </a:avLst>
          </a:prstGeom>
          <a:solidFill>
            <a:schemeClr val="tx2"/>
          </a:solidFill>
          <a:ln/>
        </p:spPr>
      </p:sp>
      <p:sp>
        <p:nvSpPr>
          <p:cNvPr id="27" name="o2-text"/>
          <p:cNvSpPr txBox="1"/>
          <p:nvPr/>
        </p:nvSpPr>
        <p:spPr>
          <a:xfrm>
            <a:off x="841248" y="4443984"/>
            <a:ext cx="10479024" cy="676656"/>
          </a:xfrm>
          <a:prstGeom prst="rect">
            <a:avLst/>
          </a:prstGeom>
          <a:noFill/>
          <a:ln/>
        </p:spPr>
        <p:txBody>
          <a:bodyPr wrap="square" lIns="0" tIns="0" rIns="0" bIns="0" rtlCol="0" anchor="ctr"/>
          <a:lstStyle/>
          <a:p>
            <a:pPr indent="0" marL="0">
              <a:buNone/>
            </a:pPr>
            <a:r>
              <a:rPr lang="en-US" sz="1350" dirty="0">
                <a:solidFill>
                  <a:schemeClr val="bg1"/>
                </a:solidFill>
              </a:rPr>
              <a:t>Phase 4 touches neither chain. It receives a verdict from Phase 3, isolates the system, and may call Phase 5 — the only point where the two lanes meet.</a:t>
            </a:r>
            <a:endParaRPr lang="en-US" sz="1350" dirty="0"/>
          </a:p>
        </p:txBody>
      </p:sp>
      <p:sp>
        <p:nvSpPr>
          <p:cNvPr id="28" name="s4close"/>
          <p:cNvSpPr txBox="1"/>
          <p:nvPr/>
        </p:nvSpPr>
        <p:spPr>
          <a:xfrm>
            <a:off x="566928" y="5340096"/>
            <a:ext cx="11027664" cy="731520"/>
          </a:xfrm>
          <a:prstGeom prst="rect">
            <a:avLst/>
          </a:prstGeom>
          <a:noFill/>
          <a:ln/>
        </p:spPr>
        <p:txBody>
          <a:bodyPr wrap="square" lIns="0" tIns="0" rIns="0" bIns="0" rtlCol="0" anchor="t"/>
          <a:lstStyle/>
          <a:p>
            <a:pPr indent="0" marL="0">
              <a:buNone/>
            </a:pPr>
            <a:r>
              <a:rPr lang="en-US" sz="1300" dirty="0">
                <a:solidFill>
                  <a:schemeClr val="bg1"/>
                </a:solidFill>
              </a:rPr>
              <a:t>Separate genesis blocks, separate four-node consensus clusters, no shared state. An attacker who compromises the signature chain still cannot reach the backups — a property pinned by a dedicated test.</a:t>
            </a:r>
            <a:endParaRPr lang="en-US" sz="130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THE PAPER’S CLAIM</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Detection accuracy: 98.98%</a:t>
            </a:r>
            <a:endParaRPr lang="en-US" sz="2900" dirty="0"/>
          </a:p>
        </p:txBody>
      </p:sp>
      <p:sp>
        <p:nvSpPr>
          <p:cNvPr id="4" name="s5stat-v"/>
          <p:cNvSpPr txBox="1"/>
          <p:nvPr/>
        </p:nvSpPr>
        <p:spPr>
          <a:xfrm>
            <a:off x="566928" y="1371600"/>
            <a:ext cx="2377440" cy="841248"/>
          </a:xfrm>
          <a:prstGeom prst="rect">
            <a:avLst/>
          </a:prstGeom>
          <a:noFill/>
          <a:ln/>
        </p:spPr>
        <p:txBody>
          <a:bodyPr wrap="square" lIns="0" tIns="0" rIns="0" bIns="0" rtlCol="0" anchor="b"/>
          <a:lstStyle/>
          <a:p>
            <a:pPr algn="l" indent="0" marL="0">
              <a:buNone/>
            </a:pPr>
            <a:r>
              <a:rPr lang="en-US" sz="5200" b="1" dirty="0">
                <a:solidFill>
                  <a:schemeClr val="accent1"/>
                </a:solidFill>
              </a:rPr>
              <a:t>98.98</a:t>
            </a:r>
            <a:endParaRPr lang="en-US" sz="5200" dirty="0"/>
          </a:p>
        </p:txBody>
      </p:sp>
      <p:sp>
        <p:nvSpPr>
          <p:cNvPr id="5" name="s5stat-l"/>
          <p:cNvSpPr txBox="1"/>
          <p:nvPr/>
        </p:nvSpPr>
        <p:spPr>
          <a:xfrm>
            <a:off x="566928" y="2249424"/>
            <a:ext cx="2377440" cy="457200"/>
          </a:xfrm>
          <a:prstGeom prst="rect">
            <a:avLst/>
          </a:prstGeom>
          <a:noFill/>
          <a:ln/>
        </p:spPr>
        <p:txBody>
          <a:bodyPr wrap="square" lIns="0" tIns="0" rIns="0" bIns="0" rtlCol="0" anchor="t"/>
          <a:lstStyle/>
          <a:p>
            <a:pPr algn="l" indent="0" marL="0">
              <a:buNone/>
            </a:pPr>
            <a:r>
              <a:rPr lang="en-US" sz="1150" dirty="0">
                <a:solidFill>
                  <a:schemeClr val="accent5"/>
                </a:solidFill>
              </a:rPr>
              <a:t>reported accuracy, F1 0.990</a:t>
            </a:r>
            <a:endParaRPr lang="en-US" sz="1150" dirty="0"/>
          </a:p>
        </p:txBody>
      </p:sp>
      <p:sp>
        <p:nvSpPr>
          <p:cNvPr id="6" name="s5tbl-h0"/>
          <p:cNvSpPr txBox="1"/>
          <p:nvPr/>
        </p:nvSpPr>
        <p:spPr>
          <a:xfrm>
            <a:off x="3310128" y="1371600"/>
            <a:ext cx="374904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Technique</a:t>
            </a:r>
            <a:endParaRPr lang="en-US" sz="1100" dirty="0"/>
          </a:p>
        </p:txBody>
      </p:sp>
      <p:sp>
        <p:nvSpPr>
          <p:cNvPr id="7" name="s5tbl-h1"/>
          <p:cNvSpPr txBox="1"/>
          <p:nvPr/>
        </p:nvSpPr>
        <p:spPr>
          <a:xfrm>
            <a:off x="7059168" y="1371600"/>
            <a:ext cx="210312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Accuracy</a:t>
            </a:r>
            <a:endParaRPr lang="en-US" sz="1100" dirty="0"/>
          </a:p>
        </p:txBody>
      </p:sp>
      <p:sp>
        <p:nvSpPr>
          <p:cNvPr id="8" name="s5tbl-h2"/>
          <p:cNvSpPr txBox="1"/>
          <p:nvPr/>
        </p:nvSpPr>
        <p:spPr>
          <a:xfrm>
            <a:off x="9162288" y="1371600"/>
            <a:ext cx="2432304"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F1</a:t>
            </a:r>
            <a:endParaRPr lang="en-US" sz="1100" dirty="0"/>
          </a:p>
        </p:txBody>
      </p:sp>
      <p:sp>
        <p:nvSpPr>
          <p:cNvPr id="9" name="s5tbl-band0"/>
          <p:cNvSpPr/>
          <p:nvPr/>
        </p:nvSpPr>
        <p:spPr>
          <a:xfrm>
            <a:off x="3200400" y="1719072"/>
            <a:ext cx="8503920" cy="384048"/>
          </a:xfrm>
          <a:prstGeom prst="roundRect">
            <a:avLst>
              <a:gd name="adj" fmla="val 9524"/>
            </a:avLst>
          </a:prstGeom>
          <a:solidFill>
            <a:schemeClr val="tx2"/>
          </a:solidFill>
          <a:ln/>
        </p:spPr>
      </p:sp>
      <p:sp>
        <p:nvSpPr>
          <p:cNvPr id="10" name="s5tbl-r0c0"/>
          <p:cNvSpPr txBox="1"/>
          <p:nvPr/>
        </p:nvSpPr>
        <p:spPr>
          <a:xfrm>
            <a:off x="3310128" y="1719072"/>
            <a:ext cx="3749040" cy="384048"/>
          </a:xfrm>
          <a:prstGeom prst="rect">
            <a:avLst/>
          </a:prstGeom>
          <a:noFill/>
          <a:ln/>
        </p:spPr>
        <p:txBody>
          <a:bodyPr wrap="square" lIns="0" tIns="0" rIns="0" bIns="0" rtlCol="0" anchor="ctr"/>
          <a:lstStyle/>
          <a:p>
            <a:pPr algn="l" indent="0" marL="0">
              <a:buNone/>
            </a:pPr>
            <a:r>
              <a:rPr lang="en-US" sz="1250" dirty="0">
                <a:solidFill>
                  <a:schemeClr val="bg1"/>
                </a:solidFill>
              </a:rPr>
              <a:t>Almashhadani et al.</a:t>
            </a:r>
            <a:endParaRPr lang="en-US" sz="1250" dirty="0"/>
          </a:p>
        </p:txBody>
      </p:sp>
      <p:sp>
        <p:nvSpPr>
          <p:cNvPr id="11" name="s5tbl-r0c1"/>
          <p:cNvSpPr txBox="1"/>
          <p:nvPr/>
        </p:nvSpPr>
        <p:spPr>
          <a:xfrm>
            <a:off x="7059168" y="1719072"/>
            <a:ext cx="2103120" cy="384048"/>
          </a:xfrm>
          <a:prstGeom prst="rect">
            <a:avLst/>
          </a:prstGeom>
          <a:noFill/>
          <a:ln/>
        </p:spPr>
        <p:txBody>
          <a:bodyPr wrap="square" lIns="0" tIns="0" rIns="0" bIns="0" rtlCol="0" anchor="ctr"/>
          <a:lstStyle/>
          <a:p>
            <a:pPr algn="r" indent="0" marL="0">
              <a:buNone/>
            </a:pPr>
            <a:r>
              <a:rPr lang="en-US" sz="1250" dirty="0">
                <a:solidFill>
                  <a:schemeClr val="accent5"/>
                </a:solidFill>
              </a:rPr>
              <a:t>97.08%</a:t>
            </a:r>
            <a:endParaRPr lang="en-US" sz="1250" dirty="0"/>
          </a:p>
        </p:txBody>
      </p:sp>
      <p:sp>
        <p:nvSpPr>
          <p:cNvPr id="12" name="s5tbl-r0c2"/>
          <p:cNvSpPr txBox="1"/>
          <p:nvPr/>
        </p:nvSpPr>
        <p:spPr>
          <a:xfrm>
            <a:off x="9162288" y="1719072"/>
            <a:ext cx="2432304" cy="384048"/>
          </a:xfrm>
          <a:prstGeom prst="rect">
            <a:avLst/>
          </a:prstGeom>
          <a:noFill/>
          <a:ln/>
        </p:spPr>
        <p:txBody>
          <a:bodyPr wrap="square" lIns="0" tIns="0" rIns="0" bIns="0" rtlCol="0" anchor="ctr"/>
          <a:lstStyle/>
          <a:p>
            <a:pPr algn="r" indent="0" marL="0">
              <a:buNone/>
            </a:pPr>
            <a:r>
              <a:rPr lang="en-US" sz="1250" dirty="0">
                <a:solidFill>
                  <a:schemeClr val="accent5"/>
                </a:solidFill>
              </a:rPr>
              <a:t>0.971</a:t>
            </a:r>
            <a:endParaRPr lang="en-US" sz="1250" dirty="0"/>
          </a:p>
        </p:txBody>
      </p:sp>
      <p:sp>
        <p:nvSpPr>
          <p:cNvPr id="13" name="s5tbl-r1c0"/>
          <p:cNvSpPr txBox="1"/>
          <p:nvPr/>
        </p:nvSpPr>
        <p:spPr>
          <a:xfrm>
            <a:off x="3310128" y="2139696"/>
            <a:ext cx="3749040" cy="384048"/>
          </a:xfrm>
          <a:prstGeom prst="rect">
            <a:avLst/>
          </a:prstGeom>
          <a:noFill/>
          <a:ln/>
        </p:spPr>
        <p:txBody>
          <a:bodyPr wrap="square" lIns="0" tIns="0" rIns="0" bIns="0" rtlCol="0" anchor="ctr"/>
          <a:lstStyle/>
          <a:p>
            <a:pPr algn="l" indent="0" marL="0">
              <a:buNone/>
            </a:pPr>
            <a:r>
              <a:rPr lang="en-US" sz="1250" dirty="0">
                <a:solidFill>
                  <a:schemeClr val="bg1"/>
                </a:solidFill>
              </a:rPr>
              <a:t>Hwang et al.</a:t>
            </a:r>
            <a:endParaRPr lang="en-US" sz="1250" dirty="0"/>
          </a:p>
        </p:txBody>
      </p:sp>
      <p:sp>
        <p:nvSpPr>
          <p:cNvPr id="14" name="s5tbl-r1c1"/>
          <p:cNvSpPr txBox="1"/>
          <p:nvPr/>
        </p:nvSpPr>
        <p:spPr>
          <a:xfrm>
            <a:off x="7059168" y="2139696"/>
            <a:ext cx="2103120" cy="384048"/>
          </a:xfrm>
          <a:prstGeom prst="rect">
            <a:avLst/>
          </a:prstGeom>
          <a:noFill/>
          <a:ln/>
        </p:spPr>
        <p:txBody>
          <a:bodyPr wrap="square" lIns="0" tIns="0" rIns="0" bIns="0" rtlCol="0" anchor="ctr"/>
          <a:lstStyle/>
          <a:p>
            <a:pPr algn="r" indent="0" marL="0">
              <a:buNone/>
            </a:pPr>
            <a:r>
              <a:rPr lang="en-US" sz="1250" dirty="0">
                <a:solidFill>
                  <a:schemeClr val="accent5"/>
                </a:solidFill>
              </a:rPr>
              <a:t>97.30%</a:t>
            </a:r>
            <a:endParaRPr lang="en-US" sz="1250" dirty="0"/>
          </a:p>
        </p:txBody>
      </p:sp>
      <p:sp>
        <p:nvSpPr>
          <p:cNvPr id="15" name="s5tbl-r1c2"/>
          <p:cNvSpPr txBox="1"/>
          <p:nvPr/>
        </p:nvSpPr>
        <p:spPr>
          <a:xfrm>
            <a:off x="9162288" y="2139696"/>
            <a:ext cx="2432304" cy="384048"/>
          </a:xfrm>
          <a:prstGeom prst="rect">
            <a:avLst/>
          </a:prstGeom>
          <a:noFill/>
          <a:ln/>
        </p:spPr>
        <p:txBody>
          <a:bodyPr wrap="square" lIns="0" tIns="0" rIns="0" bIns="0" rtlCol="0" anchor="ctr"/>
          <a:lstStyle/>
          <a:p>
            <a:pPr algn="r" indent="0" marL="0">
              <a:buNone/>
            </a:pPr>
            <a:r>
              <a:rPr lang="en-US" sz="1250" dirty="0">
                <a:solidFill>
                  <a:schemeClr val="accent5"/>
                </a:solidFill>
              </a:rPr>
              <a:t>0.973</a:t>
            </a:r>
            <a:endParaRPr lang="en-US" sz="1250" dirty="0"/>
          </a:p>
        </p:txBody>
      </p:sp>
      <p:sp>
        <p:nvSpPr>
          <p:cNvPr id="16" name="s5tbl-band2"/>
          <p:cNvSpPr/>
          <p:nvPr/>
        </p:nvSpPr>
        <p:spPr>
          <a:xfrm>
            <a:off x="3200400" y="2560320"/>
            <a:ext cx="8503920" cy="384048"/>
          </a:xfrm>
          <a:prstGeom prst="roundRect">
            <a:avLst>
              <a:gd name="adj" fmla="val 9524"/>
            </a:avLst>
          </a:prstGeom>
          <a:solidFill>
            <a:schemeClr val="tx2"/>
          </a:solidFill>
          <a:ln/>
        </p:spPr>
      </p:sp>
      <p:sp>
        <p:nvSpPr>
          <p:cNvPr id="17" name="s5tbl-r2c0"/>
          <p:cNvSpPr txBox="1"/>
          <p:nvPr/>
        </p:nvSpPr>
        <p:spPr>
          <a:xfrm>
            <a:off x="3310128" y="2560320"/>
            <a:ext cx="3749040" cy="384048"/>
          </a:xfrm>
          <a:prstGeom prst="rect">
            <a:avLst/>
          </a:prstGeom>
          <a:noFill/>
          <a:ln/>
        </p:spPr>
        <p:txBody>
          <a:bodyPr wrap="square" lIns="0" tIns="0" rIns="0" bIns="0" rtlCol="0" anchor="ctr"/>
          <a:lstStyle/>
          <a:p>
            <a:pPr algn="l" indent="0" marL="0">
              <a:buNone/>
            </a:pPr>
            <a:r>
              <a:rPr lang="en-US" sz="1250" dirty="0">
                <a:solidFill>
                  <a:schemeClr val="bg1"/>
                </a:solidFill>
              </a:rPr>
              <a:t>Sharmeen et al.</a:t>
            </a:r>
            <a:endParaRPr lang="en-US" sz="1250" dirty="0"/>
          </a:p>
        </p:txBody>
      </p:sp>
      <p:sp>
        <p:nvSpPr>
          <p:cNvPr id="18" name="s5tbl-r2c1"/>
          <p:cNvSpPr txBox="1"/>
          <p:nvPr/>
        </p:nvSpPr>
        <p:spPr>
          <a:xfrm>
            <a:off x="7059168" y="2560320"/>
            <a:ext cx="2103120" cy="384048"/>
          </a:xfrm>
          <a:prstGeom prst="rect">
            <a:avLst/>
          </a:prstGeom>
          <a:noFill/>
          <a:ln/>
        </p:spPr>
        <p:txBody>
          <a:bodyPr wrap="square" lIns="0" tIns="0" rIns="0" bIns="0" rtlCol="0" anchor="ctr"/>
          <a:lstStyle/>
          <a:p>
            <a:pPr algn="r" indent="0" marL="0">
              <a:buNone/>
            </a:pPr>
            <a:r>
              <a:rPr lang="en-US" sz="1250" dirty="0">
                <a:solidFill>
                  <a:schemeClr val="accent5"/>
                </a:solidFill>
              </a:rPr>
              <a:t>95.96%</a:t>
            </a:r>
            <a:endParaRPr lang="en-US" sz="1250" dirty="0"/>
          </a:p>
        </p:txBody>
      </p:sp>
      <p:sp>
        <p:nvSpPr>
          <p:cNvPr id="19" name="s5tbl-r2c2"/>
          <p:cNvSpPr txBox="1"/>
          <p:nvPr/>
        </p:nvSpPr>
        <p:spPr>
          <a:xfrm>
            <a:off x="9162288" y="2560320"/>
            <a:ext cx="2432304" cy="384048"/>
          </a:xfrm>
          <a:prstGeom prst="rect">
            <a:avLst/>
          </a:prstGeom>
          <a:noFill/>
          <a:ln/>
        </p:spPr>
        <p:txBody>
          <a:bodyPr wrap="square" lIns="0" tIns="0" rIns="0" bIns="0" rtlCol="0" anchor="ctr"/>
          <a:lstStyle/>
          <a:p>
            <a:pPr algn="r" indent="0" marL="0">
              <a:buNone/>
            </a:pPr>
            <a:r>
              <a:rPr lang="en-US" sz="1250" dirty="0">
                <a:solidFill>
                  <a:schemeClr val="accent5"/>
                </a:solidFill>
              </a:rPr>
              <a:t>0.960</a:t>
            </a:r>
            <a:endParaRPr lang="en-US" sz="1250" dirty="0"/>
          </a:p>
        </p:txBody>
      </p:sp>
      <p:sp>
        <p:nvSpPr>
          <p:cNvPr id="20" name="s5tbl-r3c0"/>
          <p:cNvSpPr txBox="1"/>
          <p:nvPr/>
        </p:nvSpPr>
        <p:spPr>
          <a:xfrm>
            <a:off x="3310128" y="2980944"/>
            <a:ext cx="3749040" cy="384048"/>
          </a:xfrm>
          <a:prstGeom prst="rect">
            <a:avLst/>
          </a:prstGeom>
          <a:noFill/>
          <a:ln/>
        </p:spPr>
        <p:txBody>
          <a:bodyPr wrap="square" lIns="0" tIns="0" rIns="0" bIns="0" rtlCol="0" anchor="ctr"/>
          <a:lstStyle/>
          <a:p>
            <a:pPr algn="l" indent="0" marL="0">
              <a:buNone/>
            </a:pPr>
            <a:r>
              <a:rPr lang="en-US" sz="1250" dirty="0">
                <a:solidFill>
                  <a:schemeClr val="bg1"/>
                </a:solidFill>
              </a:rPr>
              <a:t>Bae et al.</a:t>
            </a:r>
            <a:endParaRPr lang="en-US" sz="1250" dirty="0"/>
          </a:p>
        </p:txBody>
      </p:sp>
      <p:sp>
        <p:nvSpPr>
          <p:cNvPr id="21" name="s5tbl-r3c1"/>
          <p:cNvSpPr txBox="1"/>
          <p:nvPr/>
        </p:nvSpPr>
        <p:spPr>
          <a:xfrm>
            <a:off x="7059168" y="2980944"/>
            <a:ext cx="2103120" cy="384048"/>
          </a:xfrm>
          <a:prstGeom prst="rect">
            <a:avLst/>
          </a:prstGeom>
          <a:noFill/>
          <a:ln/>
        </p:spPr>
        <p:txBody>
          <a:bodyPr wrap="square" lIns="0" tIns="0" rIns="0" bIns="0" rtlCol="0" anchor="ctr"/>
          <a:lstStyle/>
          <a:p>
            <a:pPr algn="r" indent="0" marL="0">
              <a:buNone/>
            </a:pPr>
            <a:r>
              <a:rPr lang="en-US" sz="1250" dirty="0">
                <a:solidFill>
                  <a:schemeClr val="accent5"/>
                </a:solidFill>
              </a:rPr>
              <a:t>98.65%</a:t>
            </a:r>
            <a:endParaRPr lang="en-US" sz="1250" dirty="0"/>
          </a:p>
        </p:txBody>
      </p:sp>
      <p:sp>
        <p:nvSpPr>
          <p:cNvPr id="22" name="s5tbl-r3c2"/>
          <p:cNvSpPr txBox="1"/>
          <p:nvPr/>
        </p:nvSpPr>
        <p:spPr>
          <a:xfrm>
            <a:off x="9162288" y="2980944"/>
            <a:ext cx="2432304" cy="384048"/>
          </a:xfrm>
          <a:prstGeom prst="rect">
            <a:avLst/>
          </a:prstGeom>
          <a:noFill/>
          <a:ln/>
        </p:spPr>
        <p:txBody>
          <a:bodyPr wrap="square" lIns="0" tIns="0" rIns="0" bIns="0" rtlCol="0" anchor="ctr"/>
          <a:lstStyle/>
          <a:p>
            <a:pPr algn="r" indent="0" marL="0">
              <a:buNone/>
            </a:pPr>
            <a:r>
              <a:rPr lang="en-US" sz="1250" dirty="0">
                <a:solidFill>
                  <a:schemeClr val="accent5"/>
                </a:solidFill>
              </a:rPr>
              <a:t>0.987</a:t>
            </a:r>
            <a:endParaRPr lang="en-US" sz="1250" dirty="0"/>
          </a:p>
        </p:txBody>
      </p:sp>
      <p:sp>
        <p:nvSpPr>
          <p:cNvPr id="23" name="s5tbl-band4"/>
          <p:cNvSpPr/>
          <p:nvPr/>
        </p:nvSpPr>
        <p:spPr>
          <a:xfrm>
            <a:off x="3200400" y="3401568"/>
            <a:ext cx="8503920" cy="384048"/>
          </a:xfrm>
          <a:prstGeom prst="roundRect">
            <a:avLst>
              <a:gd name="adj" fmla="val 9524"/>
            </a:avLst>
          </a:prstGeom>
          <a:solidFill>
            <a:schemeClr val="accent3"/>
          </a:solidFill>
          <a:ln/>
        </p:spPr>
      </p:sp>
      <p:sp>
        <p:nvSpPr>
          <p:cNvPr id="24" name="s5tbl-r4c0"/>
          <p:cNvSpPr txBox="1"/>
          <p:nvPr/>
        </p:nvSpPr>
        <p:spPr>
          <a:xfrm>
            <a:off x="3310128" y="3401568"/>
            <a:ext cx="3749040" cy="384048"/>
          </a:xfrm>
          <a:prstGeom prst="rect">
            <a:avLst/>
          </a:prstGeom>
          <a:noFill/>
          <a:ln/>
        </p:spPr>
        <p:txBody>
          <a:bodyPr wrap="square" lIns="0" tIns="0" rIns="0" bIns="0" rtlCol="0" anchor="ctr"/>
          <a:lstStyle/>
          <a:p>
            <a:pPr algn="l" indent="0" marL="0">
              <a:buNone/>
            </a:pPr>
            <a:r>
              <a:rPr lang="en-US" sz="1250" b="1" dirty="0">
                <a:solidFill>
                  <a:schemeClr val="bg1"/>
                </a:solidFill>
              </a:rPr>
              <a:t>BSFR-SH (paper)</a:t>
            </a:r>
            <a:endParaRPr lang="en-US" sz="1250" dirty="0"/>
          </a:p>
        </p:txBody>
      </p:sp>
      <p:sp>
        <p:nvSpPr>
          <p:cNvPr id="25" name="s5tbl-r4c1"/>
          <p:cNvSpPr txBox="1"/>
          <p:nvPr/>
        </p:nvSpPr>
        <p:spPr>
          <a:xfrm>
            <a:off x="7059168" y="3401568"/>
            <a:ext cx="2103120" cy="384048"/>
          </a:xfrm>
          <a:prstGeom prst="rect">
            <a:avLst/>
          </a:prstGeom>
          <a:noFill/>
          <a:ln/>
        </p:spPr>
        <p:txBody>
          <a:bodyPr wrap="square" lIns="0" tIns="0" rIns="0" bIns="0" rtlCol="0" anchor="ctr"/>
          <a:lstStyle/>
          <a:p>
            <a:pPr algn="r" indent="0" marL="0">
              <a:buNone/>
            </a:pPr>
            <a:r>
              <a:rPr lang="en-US" sz="1250" b="1" dirty="0">
                <a:solidFill>
                  <a:schemeClr val="bg1"/>
                </a:solidFill>
              </a:rPr>
              <a:t>98.98%</a:t>
            </a:r>
            <a:endParaRPr lang="en-US" sz="1250" dirty="0"/>
          </a:p>
        </p:txBody>
      </p:sp>
      <p:sp>
        <p:nvSpPr>
          <p:cNvPr id="26" name="s5tbl-r4c2"/>
          <p:cNvSpPr txBox="1"/>
          <p:nvPr/>
        </p:nvSpPr>
        <p:spPr>
          <a:xfrm>
            <a:off x="9162288" y="3401568"/>
            <a:ext cx="2432304" cy="384048"/>
          </a:xfrm>
          <a:prstGeom prst="rect">
            <a:avLst/>
          </a:prstGeom>
          <a:noFill/>
          <a:ln/>
        </p:spPr>
        <p:txBody>
          <a:bodyPr wrap="square" lIns="0" tIns="0" rIns="0" bIns="0" rtlCol="0" anchor="ctr"/>
          <a:lstStyle/>
          <a:p>
            <a:pPr algn="r" indent="0" marL="0">
              <a:buNone/>
            </a:pPr>
            <a:r>
              <a:rPr lang="en-US" sz="1250" b="1" dirty="0">
                <a:solidFill>
                  <a:schemeClr val="bg1"/>
                </a:solidFill>
              </a:rPr>
              <a:t>0.990</a:t>
            </a:r>
            <a:endParaRPr lang="en-US" sz="1250" dirty="0"/>
          </a:p>
        </p:txBody>
      </p:sp>
      <p:sp>
        <p:nvSpPr>
          <p:cNvPr id="27" name="s5d-panel"/>
          <p:cNvSpPr/>
          <p:nvPr/>
        </p:nvSpPr>
        <p:spPr>
          <a:xfrm>
            <a:off x="566928" y="3822192"/>
            <a:ext cx="3520440" cy="1243584"/>
          </a:xfrm>
          <a:prstGeom prst="roundRect">
            <a:avLst>
              <a:gd name="adj" fmla="val 4412"/>
            </a:avLst>
          </a:prstGeom>
          <a:solidFill>
            <a:schemeClr val="tx2"/>
          </a:solidFill>
          <a:ln/>
        </p:spPr>
      </p:sp>
      <p:sp>
        <p:nvSpPr>
          <p:cNvPr id="28" name="s5d-chip"/>
          <p:cNvSpPr/>
          <p:nvPr/>
        </p:nvSpPr>
        <p:spPr>
          <a:xfrm>
            <a:off x="786384" y="4005072"/>
            <a:ext cx="402336" cy="274320"/>
          </a:xfrm>
          <a:prstGeom prst="roundRect">
            <a:avLst>
              <a:gd name="adj" fmla="val 16667"/>
            </a:avLst>
          </a:prstGeom>
          <a:solidFill>
            <a:schemeClr val="accent3"/>
          </a:solidFill>
          <a:ln/>
        </p:spPr>
      </p:sp>
      <p:sp>
        <p:nvSpPr>
          <p:cNvPr id="29" name="s5d-tagtext"/>
          <p:cNvSpPr txBox="1"/>
          <p:nvPr/>
        </p:nvSpPr>
        <p:spPr>
          <a:xfrm>
            <a:off x="786384" y="4005072"/>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30" name="s5d-heading"/>
          <p:cNvSpPr txBox="1"/>
          <p:nvPr/>
        </p:nvSpPr>
        <p:spPr>
          <a:xfrm>
            <a:off x="1316736" y="3986784"/>
            <a:ext cx="2551176" cy="256032"/>
          </a:xfrm>
          <a:prstGeom prst="rect">
            <a:avLst/>
          </a:prstGeom>
          <a:noFill/>
          <a:ln/>
        </p:spPr>
        <p:txBody>
          <a:bodyPr wrap="square" lIns="0" tIns="0" rIns="0" bIns="0" rtlCol="0" anchor="ctr"/>
          <a:lstStyle/>
          <a:p>
            <a:pPr indent="0" marL="0">
              <a:buNone/>
            </a:pPr>
            <a:r>
              <a:rPr lang="en-US" sz="1350" b="1" dirty="0">
                <a:solidFill>
                  <a:schemeClr val="bg1"/>
                </a:solidFill>
              </a:rPr>
              <a:t>Dataset</a:t>
            </a:r>
            <a:endParaRPr lang="en-US" sz="1350" dirty="0"/>
          </a:p>
        </p:txBody>
      </p:sp>
      <p:sp>
        <p:nvSpPr>
          <p:cNvPr id="31" name="s5d-body"/>
          <p:cNvSpPr txBox="1"/>
          <p:nvPr/>
        </p:nvSpPr>
        <p:spPr>
          <a:xfrm>
            <a:off x="786384" y="4315968"/>
            <a:ext cx="3081528" cy="621792"/>
          </a:xfrm>
          <a:prstGeom prst="rect">
            <a:avLst/>
          </a:prstGeom>
          <a:noFill/>
          <a:ln/>
        </p:spPr>
        <p:txBody>
          <a:bodyPr wrap="square" lIns="0" tIns="0" rIns="0" bIns="0" rtlCol="0" anchor="t"/>
          <a:lstStyle/>
          <a:p>
            <a:pPr indent="0" marL="0">
              <a:buNone/>
            </a:pPr>
            <a:r>
              <a:rPr lang="en-US" sz="1150" dirty="0">
                <a:solidFill>
                  <a:schemeClr val="accent5"/>
                </a:solidFill>
              </a:rPr>
              <a:t>BitcoinHeist. 2,916,697 rows, of which only 1.42% are ransomware.</a:t>
            </a:r>
            <a:endParaRPr lang="en-US" sz="1150" dirty="0"/>
          </a:p>
        </p:txBody>
      </p:sp>
      <p:sp>
        <p:nvSpPr>
          <p:cNvPr id="32" name="s5e-panel"/>
          <p:cNvSpPr/>
          <p:nvPr/>
        </p:nvSpPr>
        <p:spPr>
          <a:xfrm>
            <a:off x="4325112" y="3822192"/>
            <a:ext cx="3520440" cy="1243584"/>
          </a:xfrm>
          <a:prstGeom prst="roundRect">
            <a:avLst>
              <a:gd name="adj" fmla="val 4412"/>
            </a:avLst>
          </a:prstGeom>
          <a:solidFill>
            <a:schemeClr val="tx2"/>
          </a:solidFill>
          <a:ln/>
        </p:spPr>
      </p:sp>
      <p:sp>
        <p:nvSpPr>
          <p:cNvPr id="33" name="s5e-chip"/>
          <p:cNvSpPr/>
          <p:nvPr/>
        </p:nvSpPr>
        <p:spPr>
          <a:xfrm>
            <a:off x="4544568" y="4005072"/>
            <a:ext cx="402336" cy="274320"/>
          </a:xfrm>
          <a:prstGeom prst="roundRect">
            <a:avLst>
              <a:gd name="adj" fmla="val 16667"/>
            </a:avLst>
          </a:prstGeom>
          <a:solidFill>
            <a:schemeClr val="accent3"/>
          </a:solidFill>
          <a:ln/>
        </p:spPr>
      </p:sp>
      <p:sp>
        <p:nvSpPr>
          <p:cNvPr id="34" name="s5e-tagtext"/>
          <p:cNvSpPr txBox="1"/>
          <p:nvPr/>
        </p:nvSpPr>
        <p:spPr>
          <a:xfrm>
            <a:off x="4544568" y="4005072"/>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E</a:t>
            </a:r>
            <a:endParaRPr lang="en-US" sz="1200" dirty="0"/>
          </a:p>
        </p:txBody>
      </p:sp>
      <p:sp>
        <p:nvSpPr>
          <p:cNvPr id="35" name="s5e-heading"/>
          <p:cNvSpPr txBox="1"/>
          <p:nvPr/>
        </p:nvSpPr>
        <p:spPr>
          <a:xfrm>
            <a:off x="5074920" y="3986784"/>
            <a:ext cx="2551176" cy="256032"/>
          </a:xfrm>
          <a:prstGeom prst="rect">
            <a:avLst/>
          </a:prstGeom>
          <a:noFill/>
          <a:ln/>
        </p:spPr>
        <p:txBody>
          <a:bodyPr wrap="square" lIns="0" tIns="0" rIns="0" bIns="0" rtlCol="0" anchor="ctr"/>
          <a:lstStyle/>
          <a:p>
            <a:pPr indent="0" marL="0">
              <a:buNone/>
            </a:pPr>
            <a:r>
              <a:rPr lang="en-US" sz="1350" b="1" dirty="0">
                <a:solidFill>
                  <a:schemeClr val="bg1"/>
                </a:solidFill>
              </a:rPr>
              <a:t>Evaluation protocol</a:t>
            </a:r>
            <a:endParaRPr lang="en-US" sz="1350" dirty="0"/>
          </a:p>
        </p:txBody>
      </p:sp>
      <p:sp>
        <p:nvSpPr>
          <p:cNvPr id="36" name="s5e-body"/>
          <p:cNvSpPr txBox="1"/>
          <p:nvPr/>
        </p:nvSpPr>
        <p:spPr>
          <a:xfrm>
            <a:off x="4544568" y="4315968"/>
            <a:ext cx="3081528" cy="621792"/>
          </a:xfrm>
          <a:prstGeom prst="rect">
            <a:avLst/>
          </a:prstGeom>
          <a:noFill/>
          <a:ln/>
        </p:spPr>
        <p:txBody>
          <a:bodyPr wrap="square" lIns="0" tIns="0" rIns="0" bIns="0" rtlCol="0" anchor="t"/>
          <a:lstStyle/>
          <a:p>
            <a:pPr indent="0" marL="0">
              <a:buNone/>
            </a:pPr>
            <a:r>
              <a:rPr lang="en-US" sz="1150" dirty="0">
                <a:solidFill>
                  <a:schemeClr val="accent5"/>
                </a:solidFill>
              </a:rPr>
              <a:t>Resampled to 90% ransomware / 10% benign before training and evaluation.</a:t>
            </a:r>
            <a:endParaRPr lang="en-US" sz="1150" dirty="0"/>
          </a:p>
        </p:txBody>
      </p:sp>
      <p:sp>
        <p:nvSpPr>
          <p:cNvPr id="37" name="s5m-panel"/>
          <p:cNvSpPr/>
          <p:nvPr/>
        </p:nvSpPr>
        <p:spPr>
          <a:xfrm>
            <a:off x="8083296" y="3822192"/>
            <a:ext cx="3511296" cy="1243584"/>
          </a:xfrm>
          <a:prstGeom prst="roundRect">
            <a:avLst>
              <a:gd name="adj" fmla="val 4412"/>
            </a:avLst>
          </a:prstGeom>
          <a:solidFill>
            <a:schemeClr val="tx2"/>
          </a:solidFill>
          <a:ln/>
        </p:spPr>
      </p:sp>
      <p:sp>
        <p:nvSpPr>
          <p:cNvPr id="38" name="s5m-chip"/>
          <p:cNvSpPr/>
          <p:nvPr/>
        </p:nvSpPr>
        <p:spPr>
          <a:xfrm>
            <a:off x="8302752" y="4005072"/>
            <a:ext cx="402336" cy="274320"/>
          </a:xfrm>
          <a:prstGeom prst="roundRect">
            <a:avLst>
              <a:gd name="adj" fmla="val 16667"/>
            </a:avLst>
          </a:prstGeom>
          <a:solidFill>
            <a:schemeClr val="accent1"/>
          </a:solidFill>
          <a:ln/>
        </p:spPr>
      </p:sp>
      <p:sp>
        <p:nvSpPr>
          <p:cNvPr id="39" name="s5m-tagtext"/>
          <p:cNvSpPr txBox="1"/>
          <p:nvPr/>
        </p:nvSpPr>
        <p:spPr>
          <a:xfrm>
            <a:off x="8302752" y="4005072"/>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40" name="s5m-heading"/>
          <p:cNvSpPr txBox="1"/>
          <p:nvPr/>
        </p:nvSpPr>
        <p:spPr>
          <a:xfrm>
            <a:off x="8833104" y="3986784"/>
            <a:ext cx="2542032" cy="256032"/>
          </a:xfrm>
          <a:prstGeom prst="rect">
            <a:avLst/>
          </a:prstGeom>
          <a:noFill/>
          <a:ln/>
        </p:spPr>
        <p:txBody>
          <a:bodyPr wrap="square" lIns="0" tIns="0" rIns="0" bIns="0" rtlCol="0" anchor="ctr"/>
          <a:lstStyle/>
          <a:p>
            <a:pPr indent="0" marL="0">
              <a:buNone/>
            </a:pPr>
            <a:r>
              <a:rPr lang="en-US" sz="1350" b="1" dirty="0">
                <a:solidFill>
                  <a:schemeClr val="bg1"/>
                </a:solidFill>
              </a:rPr>
              <a:t>What is measured</a:t>
            </a:r>
            <a:endParaRPr lang="en-US" sz="1350" dirty="0"/>
          </a:p>
        </p:txBody>
      </p:sp>
      <p:sp>
        <p:nvSpPr>
          <p:cNvPr id="41" name="s5m-body"/>
          <p:cNvSpPr txBox="1"/>
          <p:nvPr/>
        </p:nvSpPr>
        <p:spPr>
          <a:xfrm>
            <a:off x="8302752" y="4315968"/>
            <a:ext cx="3072384" cy="621792"/>
          </a:xfrm>
          <a:prstGeom prst="rect">
            <a:avLst/>
          </a:prstGeom>
          <a:noFill/>
          <a:ln/>
        </p:spPr>
        <p:txBody>
          <a:bodyPr wrap="square" lIns="0" tIns="0" rIns="0" bIns="0" rtlCol="0" anchor="t"/>
          <a:lstStyle/>
          <a:p>
            <a:pPr indent="0" marL="0">
              <a:buNone/>
            </a:pPr>
            <a:r>
              <a:rPr lang="en-US" sz="1150" dirty="0">
                <a:solidFill>
                  <a:schemeClr val="accent5"/>
                </a:solidFill>
              </a:rPr>
              <a:t>Bitcoin address transaction-graph features — not the honeypot behavioural features Phases 2 and 3 describe.</a:t>
            </a:r>
            <a:endParaRPr lang="en-US" sz="1150" dirty="0"/>
          </a:p>
        </p:txBody>
      </p:sp>
      <p:sp>
        <p:nvSpPr>
          <p:cNvPr id="42" name="o3-panel"/>
          <p:cNvSpPr/>
          <p:nvPr/>
        </p:nvSpPr>
        <p:spPr>
          <a:xfrm>
            <a:off x="566928" y="5193792"/>
            <a:ext cx="11027664" cy="603504"/>
          </a:xfrm>
          <a:prstGeom prst="roundRect">
            <a:avLst>
              <a:gd name="adj" fmla="val 9091"/>
            </a:avLst>
          </a:prstGeom>
          <a:solidFill>
            <a:schemeClr val="accent1"/>
          </a:solidFill>
          <a:ln/>
        </p:spPr>
      </p:sp>
      <p:sp>
        <p:nvSpPr>
          <p:cNvPr id="43" name="o3-text"/>
          <p:cNvSpPr txBox="1"/>
          <p:nvPr/>
        </p:nvSpPr>
        <p:spPr>
          <a:xfrm>
            <a:off x="841248" y="5193792"/>
            <a:ext cx="10479024" cy="603504"/>
          </a:xfrm>
          <a:prstGeom prst="rect">
            <a:avLst/>
          </a:prstGeom>
          <a:noFill/>
          <a:ln/>
        </p:spPr>
        <p:txBody>
          <a:bodyPr wrap="square" lIns="0" tIns="0" rIns="0" bIns="0" rtlCol="0" anchor="ctr"/>
          <a:lstStyle/>
          <a:p>
            <a:pPr indent="0" marL="0">
              <a:buNone/>
            </a:pPr>
            <a:r>
              <a:rPr lang="en-US" sz="1350" b="1" dirty="0">
                <a:solidFill>
                  <a:schemeClr val="bg1"/>
                </a:solidFill>
              </a:rPr>
              <a:t>The framework detects a running program from honeypot behaviour. The evaluation labels a wallet address after the fact. These are different problems, and the paper does not note the substitution.</a:t>
            </a:r>
            <a:endParaRPr lang="en-US" sz="1350" dirty="0"/>
          </a:p>
        </p:txBody>
      </p:sp>
      <p:sp>
        <p:nvSpPr>
          <p:cNvPr id="44" name="s5cite"/>
          <p:cNvSpPr txBox="1"/>
          <p:nvPr/>
        </p:nvSpPr>
        <p:spPr>
          <a:xfrm>
            <a:off x="566928" y="5961888"/>
            <a:ext cx="11027664" cy="274320"/>
          </a:xfrm>
          <a:prstGeom prst="rect">
            <a:avLst/>
          </a:prstGeom>
          <a:noFill/>
          <a:ln/>
        </p:spPr>
        <p:txBody>
          <a:bodyPr wrap="square" lIns="0" tIns="0" rIns="0" bIns="0" rtlCol="0" anchor="t"/>
          <a:lstStyle/>
          <a:p>
            <a:pPr indent="0" marL="0">
              <a:buNone/>
            </a:pPr>
            <a:r>
              <a:rPr lang="en-US" sz="1050" i="1" dirty="0">
                <a:solidFill>
                  <a:schemeClr val="accent5"/>
                </a:solidFill>
              </a:rPr>
              <a:t>Table II, Wazid, Das &amp; Shetty (2023) · dataset: Akcora et al., IJCAI 2021</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PAPER CLAIMS</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Five security claims</a:t>
            </a:r>
            <a:endParaRPr lang="en-US" sz="2900" dirty="0"/>
          </a:p>
        </p:txBody>
      </p:sp>
      <p:sp>
        <p:nvSpPr>
          <p:cNvPr id="4" name="s6lede"/>
          <p:cNvSpPr txBox="1"/>
          <p:nvPr/>
        </p:nvSpPr>
        <p:spPr>
          <a:xfrm>
            <a:off x="566928" y="1371600"/>
            <a:ext cx="11027664" cy="457200"/>
          </a:xfrm>
          <a:prstGeom prst="rect">
            <a:avLst/>
          </a:prstGeom>
          <a:noFill/>
          <a:ln/>
        </p:spPr>
        <p:txBody>
          <a:bodyPr wrap="square" lIns="0" tIns="0" rIns="0" bIns="0" rtlCol="0" anchor="t"/>
          <a:lstStyle/>
          <a:p>
            <a:pPr indent="0" marL="0">
              <a:buNone/>
            </a:pPr>
            <a:r>
              <a:rPr lang="en-US" sz="1450" dirty="0">
                <a:solidFill>
                  <a:schemeClr val="bg1"/>
                </a:solidFill>
              </a:rPr>
              <a:t>The paper argues each one informally. Our goal was to build the system and then bring formal tools to bear on them.</a:t>
            </a:r>
            <a:endParaRPr lang="en-US" sz="1450" dirty="0"/>
          </a:p>
        </p:txBody>
      </p:sp>
      <p:sp>
        <p:nvSpPr>
          <p:cNvPr id="5" name="s6row0"/>
          <p:cNvSpPr/>
          <p:nvPr/>
        </p:nvSpPr>
        <p:spPr>
          <a:xfrm>
            <a:off x="566928" y="2084832"/>
            <a:ext cx="11027664" cy="603504"/>
          </a:xfrm>
          <a:prstGeom prst="roundRect">
            <a:avLst>
              <a:gd name="adj" fmla="val 7576"/>
            </a:avLst>
          </a:prstGeom>
          <a:solidFill>
            <a:schemeClr val="tx2"/>
          </a:solidFill>
          <a:ln/>
        </p:spPr>
      </p:sp>
      <p:sp>
        <p:nvSpPr>
          <p:cNvPr id="6" name="s6chip0"/>
          <p:cNvSpPr/>
          <p:nvPr/>
        </p:nvSpPr>
        <p:spPr>
          <a:xfrm>
            <a:off x="786384" y="2231136"/>
            <a:ext cx="365760" cy="310896"/>
          </a:xfrm>
          <a:prstGeom prst="roundRect">
            <a:avLst>
              <a:gd name="adj" fmla="val 14706"/>
            </a:avLst>
          </a:prstGeom>
          <a:solidFill>
            <a:schemeClr val="accent1"/>
          </a:solidFill>
          <a:ln/>
        </p:spPr>
      </p:sp>
      <p:sp>
        <p:nvSpPr>
          <p:cNvPr id="7" name="s6num0"/>
          <p:cNvSpPr txBox="1"/>
          <p:nvPr/>
        </p:nvSpPr>
        <p:spPr>
          <a:xfrm>
            <a:off x="786384" y="2231136"/>
            <a:ext cx="365760"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s6txt0"/>
          <p:cNvSpPr txBox="1"/>
          <p:nvPr/>
        </p:nvSpPr>
        <p:spPr>
          <a:xfrm>
            <a:off x="1353312" y="2084832"/>
            <a:ext cx="10021824" cy="603504"/>
          </a:xfrm>
          <a:prstGeom prst="rect">
            <a:avLst/>
          </a:prstGeom>
          <a:noFill/>
          <a:ln/>
        </p:spPr>
        <p:txBody>
          <a:bodyPr wrap="square" lIns="0" tIns="0" rIns="0" bIns="0" rtlCol="0" anchor="ctr"/>
          <a:lstStyle/>
          <a:p>
            <a:pPr indent="0" marL="0">
              <a:buNone/>
            </a:pPr>
            <a:r>
              <a:rPr lang="en-US" sz="1350" dirty="0">
                <a:solidFill>
                  <a:schemeClr val="bg1"/>
                </a:solidFill>
              </a:rPr>
              <a:t>Resists replay, man-in-the-middle, and impersonation attacks</a:t>
            </a:r>
            <a:endParaRPr lang="en-US" sz="1350" dirty="0"/>
          </a:p>
        </p:txBody>
      </p:sp>
      <p:sp>
        <p:nvSpPr>
          <p:cNvPr id="9" name="s6row1"/>
          <p:cNvSpPr/>
          <p:nvPr/>
        </p:nvSpPr>
        <p:spPr>
          <a:xfrm>
            <a:off x="566928" y="2770632"/>
            <a:ext cx="11027664" cy="603504"/>
          </a:xfrm>
          <a:prstGeom prst="roundRect">
            <a:avLst>
              <a:gd name="adj" fmla="val 7576"/>
            </a:avLst>
          </a:prstGeom>
          <a:solidFill>
            <a:schemeClr val="tx2"/>
          </a:solidFill>
          <a:ln/>
        </p:spPr>
      </p:sp>
      <p:sp>
        <p:nvSpPr>
          <p:cNvPr id="10" name="s6chip1"/>
          <p:cNvSpPr/>
          <p:nvPr/>
        </p:nvSpPr>
        <p:spPr>
          <a:xfrm>
            <a:off x="786384" y="2916936"/>
            <a:ext cx="365760" cy="310896"/>
          </a:xfrm>
          <a:prstGeom prst="roundRect">
            <a:avLst>
              <a:gd name="adj" fmla="val 14706"/>
            </a:avLst>
          </a:prstGeom>
          <a:solidFill>
            <a:schemeClr val="accent1"/>
          </a:solidFill>
          <a:ln/>
        </p:spPr>
      </p:sp>
      <p:sp>
        <p:nvSpPr>
          <p:cNvPr id="11" name="s6num1"/>
          <p:cNvSpPr txBox="1"/>
          <p:nvPr/>
        </p:nvSpPr>
        <p:spPr>
          <a:xfrm>
            <a:off x="786384" y="2916936"/>
            <a:ext cx="365760"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s6txt1"/>
          <p:cNvSpPr txBox="1"/>
          <p:nvPr/>
        </p:nvSpPr>
        <p:spPr>
          <a:xfrm>
            <a:off x="1353312" y="2770632"/>
            <a:ext cx="10021824" cy="603504"/>
          </a:xfrm>
          <a:prstGeom prst="rect">
            <a:avLst/>
          </a:prstGeom>
          <a:noFill/>
          <a:ln/>
        </p:spPr>
        <p:txBody>
          <a:bodyPr wrap="square" lIns="0" tIns="0" rIns="0" bIns="0" rtlCol="0" anchor="ctr"/>
          <a:lstStyle/>
          <a:p>
            <a:pPr indent="0" marL="0">
              <a:buNone/>
            </a:pPr>
            <a:r>
              <a:rPr lang="en-US" sz="1350" dirty="0">
                <a:solidFill>
                  <a:schemeClr val="bg1"/>
                </a:solidFill>
              </a:rPr>
              <a:t>Resists privileged insider threats and credential guessing</a:t>
            </a:r>
            <a:endParaRPr lang="en-US" sz="1350" dirty="0"/>
          </a:p>
        </p:txBody>
      </p:sp>
      <p:sp>
        <p:nvSpPr>
          <p:cNvPr id="13" name="s6row2"/>
          <p:cNvSpPr/>
          <p:nvPr/>
        </p:nvSpPr>
        <p:spPr>
          <a:xfrm>
            <a:off x="566928" y="3456432"/>
            <a:ext cx="11027664" cy="603504"/>
          </a:xfrm>
          <a:prstGeom prst="roundRect">
            <a:avLst>
              <a:gd name="adj" fmla="val 7576"/>
            </a:avLst>
          </a:prstGeom>
          <a:solidFill>
            <a:schemeClr val="tx2"/>
          </a:solidFill>
          <a:ln/>
        </p:spPr>
      </p:sp>
      <p:sp>
        <p:nvSpPr>
          <p:cNvPr id="14" name="s6chip2"/>
          <p:cNvSpPr/>
          <p:nvPr/>
        </p:nvSpPr>
        <p:spPr>
          <a:xfrm>
            <a:off x="786384" y="3602736"/>
            <a:ext cx="365760" cy="310896"/>
          </a:xfrm>
          <a:prstGeom prst="roundRect">
            <a:avLst>
              <a:gd name="adj" fmla="val 14706"/>
            </a:avLst>
          </a:prstGeom>
          <a:solidFill>
            <a:schemeClr val="accent1"/>
          </a:solidFill>
          <a:ln/>
        </p:spPr>
      </p:sp>
      <p:sp>
        <p:nvSpPr>
          <p:cNvPr id="15" name="s6num2"/>
          <p:cNvSpPr txBox="1"/>
          <p:nvPr/>
        </p:nvSpPr>
        <p:spPr>
          <a:xfrm>
            <a:off x="786384" y="3602736"/>
            <a:ext cx="365760"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s6txt2"/>
          <p:cNvSpPr txBox="1"/>
          <p:nvPr/>
        </p:nvSpPr>
        <p:spPr>
          <a:xfrm>
            <a:off x="1353312" y="3456432"/>
            <a:ext cx="10021824" cy="603504"/>
          </a:xfrm>
          <a:prstGeom prst="rect">
            <a:avLst/>
          </a:prstGeom>
          <a:noFill/>
          <a:ln/>
        </p:spPr>
        <p:txBody>
          <a:bodyPr wrap="square" lIns="0" tIns="0" rIns="0" bIns="0" rtlCol="0" anchor="ctr"/>
          <a:lstStyle/>
          <a:p>
            <a:pPr indent="0" marL="0">
              <a:buNone/>
            </a:pPr>
            <a:r>
              <a:rPr lang="en-US" sz="1350" dirty="0">
                <a:solidFill>
                  <a:schemeClr val="bg1"/>
                </a:solidFill>
              </a:rPr>
              <a:t>Resists 51% attacks, selfish mining, and Sybil attacks</a:t>
            </a:r>
            <a:endParaRPr lang="en-US" sz="1350" dirty="0"/>
          </a:p>
        </p:txBody>
      </p:sp>
      <p:sp>
        <p:nvSpPr>
          <p:cNvPr id="17" name="s6row3"/>
          <p:cNvSpPr/>
          <p:nvPr/>
        </p:nvSpPr>
        <p:spPr>
          <a:xfrm>
            <a:off x="566928" y="4142232"/>
            <a:ext cx="11027664" cy="603504"/>
          </a:xfrm>
          <a:prstGeom prst="roundRect">
            <a:avLst>
              <a:gd name="adj" fmla="val 7576"/>
            </a:avLst>
          </a:prstGeom>
          <a:solidFill>
            <a:schemeClr val="tx2"/>
          </a:solidFill>
          <a:ln/>
        </p:spPr>
      </p:sp>
      <p:sp>
        <p:nvSpPr>
          <p:cNvPr id="18" name="s6chip3"/>
          <p:cNvSpPr/>
          <p:nvPr/>
        </p:nvSpPr>
        <p:spPr>
          <a:xfrm>
            <a:off x="786384" y="4288536"/>
            <a:ext cx="365760" cy="310896"/>
          </a:xfrm>
          <a:prstGeom prst="roundRect">
            <a:avLst>
              <a:gd name="adj" fmla="val 14706"/>
            </a:avLst>
          </a:prstGeom>
          <a:solidFill>
            <a:schemeClr val="accent1"/>
          </a:solidFill>
          <a:ln/>
        </p:spPr>
      </p:sp>
      <p:sp>
        <p:nvSpPr>
          <p:cNvPr id="19" name="s6num3"/>
          <p:cNvSpPr txBox="1"/>
          <p:nvPr/>
        </p:nvSpPr>
        <p:spPr>
          <a:xfrm>
            <a:off x="786384" y="4288536"/>
            <a:ext cx="365760"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s6txt3"/>
          <p:cNvSpPr txBox="1"/>
          <p:nvPr/>
        </p:nvSpPr>
        <p:spPr>
          <a:xfrm>
            <a:off x="1353312" y="4142232"/>
            <a:ext cx="10021824" cy="603504"/>
          </a:xfrm>
          <a:prstGeom prst="rect">
            <a:avLst/>
          </a:prstGeom>
          <a:noFill/>
          <a:ln/>
        </p:spPr>
        <p:txBody>
          <a:bodyPr wrap="square" lIns="0" tIns="0" rIns="0" bIns="0" rtlCol="0" anchor="ctr"/>
          <a:lstStyle/>
          <a:p>
            <a:pPr indent="0" marL="0">
              <a:buNone/>
            </a:pPr>
            <a:r>
              <a:rPr lang="en-US" sz="1350" dirty="0">
                <a:solidFill>
                  <a:schemeClr val="bg1"/>
                </a:solidFill>
              </a:rPr>
              <a:t>Resists denial of service, data manipulation, and leakage</a:t>
            </a:r>
            <a:endParaRPr lang="en-US" sz="1350" dirty="0"/>
          </a:p>
        </p:txBody>
      </p:sp>
      <p:sp>
        <p:nvSpPr>
          <p:cNvPr id="21" name="s6row4"/>
          <p:cNvSpPr/>
          <p:nvPr/>
        </p:nvSpPr>
        <p:spPr>
          <a:xfrm>
            <a:off x="566928" y="4828032"/>
            <a:ext cx="11027664" cy="603504"/>
          </a:xfrm>
          <a:prstGeom prst="roundRect">
            <a:avLst>
              <a:gd name="adj" fmla="val 7576"/>
            </a:avLst>
          </a:prstGeom>
          <a:solidFill>
            <a:schemeClr val="tx2"/>
          </a:solidFill>
          <a:ln/>
        </p:spPr>
      </p:sp>
      <p:sp>
        <p:nvSpPr>
          <p:cNvPr id="22" name="s6chip4"/>
          <p:cNvSpPr/>
          <p:nvPr/>
        </p:nvSpPr>
        <p:spPr>
          <a:xfrm>
            <a:off x="786384" y="4974336"/>
            <a:ext cx="365760" cy="310896"/>
          </a:xfrm>
          <a:prstGeom prst="roundRect">
            <a:avLst>
              <a:gd name="adj" fmla="val 14706"/>
            </a:avLst>
          </a:prstGeom>
          <a:solidFill>
            <a:schemeClr val="accent1"/>
          </a:solidFill>
          <a:ln/>
        </p:spPr>
      </p:sp>
      <p:sp>
        <p:nvSpPr>
          <p:cNvPr id="23" name="s6num4"/>
          <p:cNvSpPr txBox="1"/>
          <p:nvPr/>
        </p:nvSpPr>
        <p:spPr>
          <a:xfrm>
            <a:off x="786384" y="4974336"/>
            <a:ext cx="365760" cy="310896"/>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4" name="s6txt4"/>
          <p:cNvSpPr txBox="1"/>
          <p:nvPr/>
        </p:nvSpPr>
        <p:spPr>
          <a:xfrm>
            <a:off x="1353312" y="4828032"/>
            <a:ext cx="10021824" cy="603504"/>
          </a:xfrm>
          <a:prstGeom prst="rect">
            <a:avLst/>
          </a:prstGeom>
          <a:noFill/>
          <a:ln/>
        </p:spPr>
        <p:txBody>
          <a:bodyPr wrap="square" lIns="0" tIns="0" rIns="0" bIns="0" rtlCol="0" anchor="ctr"/>
          <a:lstStyle/>
          <a:p>
            <a:pPr indent="0" marL="0">
              <a:buNone/>
            </a:pPr>
            <a:r>
              <a:rPr lang="en-US" sz="1350" dirty="0">
                <a:solidFill>
                  <a:schemeClr val="bg1"/>
                </a:solidFill>
              </a:rPr>
              <a:t>The two blockchains remain independent under attack</a:t>
            </a:r>
            <a:endParaRPr lang="en-US" sz="1350" dirty="0"/>
          </a:p>
        </p:txBody>
      </p:sp>
      <p:sp>
        <p:nvSpPr>
          <p:cNvPr id="25" name="s6cite"/>
          <p:cNvSpPr txBox="1"/>
          <p:nvPr/>
        </p:nvSpPr>
        <p:spPr>
          <a:xfrm>
            <a:off x="566928" y="5724144"/>
            <a:ext cx="11027664" cy="292608"/>
          </a:xfrm>
          <a:prstGeom prst="rect">
            <a:avLst/>
          </a:prstGeom>
          <a:noFill/>
          <a:ln/>
        </p:spPr>
        <p:txBody>
          <a:bodyPr wrap="square" lIns="0" tIns="0" rIns="0" bIns="0" rtlCol="0" anchor="t"/>
          <a:lstStyle/>
          <a:p>
            <a:pPr indent="0" marL="0">
              <a:buNone/>
            </a:pPr>
            <a:r>
              <a:rPr lang="en-US" sz="1050" i="1" dirty="0">
                <a:solidFill>
                  <a:schemeClr val="accent5"/>
                </a:solidFill>
              </a:rPr>
              <a:t>Section V, Wazid, Das &amp; Shetty (2023) — no protocol specification, no formal model, no proofs</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OUR CONTRIBUTION</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What we built</a:t>
            </a:r>
            <a:endParaRPr lang="en-US" sz="2900" dirty="0"/>
          </a:p>
        </p:txBody>
      </p:sp>
      <p:sp>
        <p:nvSpPr>
          <p:cNvPr id="4" name="s7s0-v"/>
          <p:cNvSpPr txBox="1"/>
          <p:nvPr/>
        </p:nvSpPr>
        <p:spPr>
          <a:xfrm>
            <a:off x="566928" y="1371600"/>
            <a:ext cx="2651760" cy="713232"/>
          </a:xfrm>
          <a:prstGeom prst="rect">
            <a:avLst/>
          </a:prstGeom>
          <a:noFill/>
          <a:ln/>
        </p:spPr>
        <p:txBody>
          <a:bodyPr wrap="square" lIns="0" tIns="0" rIns="0" bIns="0" rtlCol="0" anchor="b"/>
          <a:lstStyle/>
          <a:p>
            <a:pPr algn="l" indent="0" marL="0">
              <a:buNone/>
            </a:pPr>
            <a:r>
              <a:rPr lang="en-US" sz="4000" b="1" dirty="0">
                <a:solidFill>
                  <a:schemeClr val="accent1"/>
                </a:solidFill>
              </a:rPr>
              <a:t>18</a:t>
            </a:r>
            <a:endParaRPr lang="en-US" sz="4000" dirty="0"/>
          </a:p>
        </p:txBody>
      </p:sp>
      <p:sp>
        <p:nvSpPr>
          <p:cNvPr id="5" name="s7s0-l"/>
          <p:cNvSpPr txBox="1"/>
          <p:nvPr/>
        </p:nvSpPr>
        <p:spPr>
          <a:xfrm>
            <a:off x="566928" y="2121408"/>
            <a:ext cx="2651760" cy="457200"/>
          </a:xfrm>
          <a:prstGeom prst="rect">
            <a:avLst/>
          </a:prstGeom>
          <a:noFill/>
          <a:ln/>
        </p:spPr>
        <p:txBody>
          <a:bodyPr wrap="square" lIns="0" tIns="0" rIns="0" bIns="0" rtlCol="0" anchor="t"/>
          <a:lstStyle/>
          <a:p>
            <a:pPr algn="l" indent="0" marL="0">
              <a:buNone/>
            </a:pPr>
            <a:r>
              <a:rPr lang="en-US" sz="1150" dirty="0">
                <a:solidFill>
                  <a:schemeClr val="accent5"/>
                </a:solidFill>
              </a:rPr>
              <a:t>milestones completed</a:t>
            </a:r>
            <a:endParaRPr lang="en-US" sz="1150" dirty="0"/>
          </a:p>
        </p:txBody>
      </p:sp>
      <p:sp>
        <p:nvSpPr>
          <p:cNvPr id="6" name="s7s1-v"/>
          <p:cNvSpPr txBox="1"/>
          <p:nvPr/>
        </p:nvSpPr>
        <p:spPr>
          <a:xfrm>
            <a:off x="3374136" y="1371600"/>
            <a:ext cx="2651760" cy="713232"/>
          </a:xfrm>
          <a:prstGeom prst="rect">
            <a:avLst/>
          </a:prstGeom>
          <a:noFill/>
          <a:ln/>
        </p:spPr>
        <p:txBody>
          <a:bodyPr wrap="square" lIns="0" tIns="0" rIns="0" bIns="0" rtlCol="0" anchor="b"/>
          <a:lstStyle/>
          <a:p>
            <a:pPr algn="l" indent="0" marL="0">
              <a:buNone/>
            </a:pPr>
            <a:r>
              <a:rPr lang="en-US" sz="4000" b="1" dirty="0">
                <a:solidFill>
                  <a:schemeClr val="accent1"/>
                </a:solidFill>
              </a:rPr>
              <a:t>1,814</a:t>
            </a:r>
            <a:endParaRPr lang="en-US" sz="4000" dirty="0"/>
          </a:p>
        </p:txBody>
      </p:sp>
      <p:sp>
        <p:nvSpPr>
          <p:cNvPr id="7" name="s7s1-l"/>
          <p:cNvSpPr txBox="1"/>
          <p:nvPr/>
        </p:nvSpPr>
        <p:spPr>
          <a:xfrm>
            <a:off x="3374136" y="2121408"/>
            <a:ext cx="2651760" cy="457200"/>
          </a:xfrm>
          <a:prstGeom prst="rect">
            <a:avLst/>
          </a:prstGeom>
          <a:noFill/>
          <a:ln/>
        </p:spPr>
        <p:txBody>
          <a:bodyPr wrap="square" lIns="0" tIns="0" rIns="0" bIns="0" rtlCol="0" anchor="t"/>
          <a:lstStyle/>
          <a:p>
            <a:pPr algn="l" indent="0" marL="0">
              <a:buNone/>
            </a:pPr>
            <a:r>
              <a:rPr lang="en-US" sz="1150" dirty="0">
                <a:solidFill>
                  <a:schemeClr val="accent5"/>
                </a:solidFill>
              </a:rPr>
              <a:t>tests passing</a:t>
            </a:r>
            <a:endParaRPr lang="en-US" sz="1150" dirty="0"/>
          </a:p>
        </p:txBody>
      </p:sp>
      <p:sp>
        <p:nvSpPr>
          <p:cNvPr id="8" name="s7s2-v"/>
          <p:cNvSpPr txBox="1"/>
          <p:nvPr/>
        </p:nvSpPr>
        <p:spPr>
          <a:xfrm>
            <a:off x="6181344" y="1371600"/>
            <a:ext cx="2651760" cy="713232"/>
          </a:xfrm>
          <a:prstGeom prst="rect">
            <a:avLst/>
          </a:prstGeom>
          <a:noFill/>
          <a:ln/>
        </p:spPr>
        <p:txBody>
          <a:bodyPr wrap="square" lIns="0" tIns="0" rIns="0" bIns="0" rtlCol="0" anchor="b"/>
          <a:lstStyle/>
          <a:p>
            <a:pPr algn="l" indent="0" marL="0">
              <a:buNone/>
            </a:pPr>
            <a:r>
              <a:rPr lang="en-US" sz="4000" b="1" dirty="0">
                <a:solidFill>
                  <a:schemeClr val="accent1"/>
                </a:solidFill>
              </a:rPr>
              <a:t>43</a:t>
            </a:r>
            <a:endParaRPr lang="en-US" sz="4000" dirty="0"/>
          </a:p>
        </p:txBody>
      </p:sp>
      <p:sp>
        <p:nvSpPr>
          <p:cNvPr id="9" name="s7s2-l"/>
          <p:cNvSpPr txBox="1"/>
          <p:nvPr/>
        </p:nvSpPr>
        <p:spPr>
          <a:xfrm>
            <a:off x="6181344" y="2121408"/>
            <a:ext cx="2651760" cy="457200"/>
          </a:xfrm>
          <a:prstGeom prst="rect">
            <a:avLst/>
          </a:prstGeom>
          <a:noFill/>
          <a:ln/>
        </p:spPr>
        <p:txBody>
          <a:bodyPr wrap="square" lIns="0" tIns="0" rIns="0" bIns="0" rtlCol="0" anchor="t"/>
          <a:lstStyle/>
          <a:p>
            <a:pPr algn="l" indent="0" marL="0">
              <a:buNone/>
            </a:pPr>
            <a:r>
              <a:rPr lang="en-US" sz="1150" dirty="0">
                <a:solidFill>
                  <a:schemeClr val="accent5"/>
                </a:solidFill>
              </a:rPr>
              <a:t>design deviations documented</a:t>
            </a:r>
            <a:endParaRPr lang="en-US" sz="1150" dirty="0"/>
          </a:p>
        </p:txBody>
      </p:sp>
      <p:sp>
        <p:nvSpPr>
          <p:cNvPr id="10" name="s7s3-v"/>
          <p:cNvSpPr txBox="1"/>
          <p:nvPr/>
        </p:nvSpPr>
        <p:spPr>
          <a:xfrm>
            <a:off x="8988552" y="1371600"/>
            <a:ext cx="2651760" cy="713232"/>
          </a:xfrm>
          <a:prstGeom prst="rect">
            <a:avLst/>
          </a:prstGeom>
          <a:noFill/>
          <a:ln/>
        </p:spPr>
        <p:txBody>
          <a:bodyPr wrap="square" lIns="0" tIns="0" rIns="0" bIns="0" rtlCol="0" anchor="b"/>
          <a:lstStyle/>
          <a:p>
            <a:pPr algn="l" indent="0" marL="0">
              <a:buNone/>
            </a:pPr>
            <a:r>
              <a:rPr lang="en-US" sz="4000" b="1" dirty="0">
                <a:solidFill>
                  <a:schemeClr val="accent1"/>
                </a:solidFill>
              </a:rPr>
              <a:t>31</a:t>
            </a:r>
            <a:endParaRPr lang="en-US" sz="4000" dirty="0"/>
          </a:p>
        </p:txBody>
      </p:sp>
      <p:sp>
        <p:nvSpPr>
          <p:cNvPr id="11" name="s7s3-l"/>
          <p:cNvSpPr txBox="1"/>
          <p:nvPr/>
        </p:nvSpPr>
        <p:spPr>
          <a:xfrm>
            <a:off x="8988552" y="2121408"/>
            <a:ext cx="2651760" cy="457200"/>
          </a:xfrm>
          <a:prstGeom prst="rect">
            <a:avLst/>
          </a:prstGeom>
          <a:noFill/>
          <a:ln/>
        </p:spPr>
        <p:txBody>
          <a:bodyPr wrap="square" lIns="0" tIns="0" rIns="0" bIns="0" rtlCol="0" anchor="t"/>
          <a:lstStyle/>
          <a:p>
            <a:pPr algn="l" indent="0" marL="0">
              <a:buNone/>
            </a:pPr>
            <a:r>
              <a:rPr lang="en-US" sz="1150" dirty="0">
                <a:solidFill>
                  <a:schemeClr val="accent5"/>
                </a:solidFill>
              </a:rPr>
              <a:t>page technical report</a:t>
            </a:r>
            <a:endParaRPr lang="en-US" sz="1150" dirty="0"/>
          </a:p>
        </p:txBody>
      </p:sp>
      <p:sp>
        <p:nvSpPr>
          <p:cNvPr id="12" name="s7c0-panel"/>
          <p:cNvSpPr/>
          <p:nvPr/>
        </p:nvSpPr>
        <p:spPr>
          <a:xfrm>
            <a:off x="566928" y="2834640"/>
            <a:ext cx="5394960" cy="1078992"/>
          </a:xfrm>
          <a:prstGeom prst="roundRect">
            <a:avLst>
              <a:gd name="adj" fmla="val 5085"/>
            </a:avLst>
          </a:prstGeom>
          <a:solidFill>
            <a:schemeClr val="tx2"/>
          </a:solidFill>
          <a:ln/>
        </p:spPr>
      </p:sp>
      <p:sp>
        <p:nvSpPr>
          <p:cNvPr id="13" name="s7c0-heading"/>
          <p:cNvSpPr txBox="1"/>
          <p:nvPr/>
        </p:nvSpPr>
        <p:spPr>
          <a:xfrm>
            <a:off x="786384" y="2999232"/>
            <a:ext cx="4956048" cy="274320"/>
          </a:xfrm>
          <a:prstGeom prst="rect">
            <a:avLst/>
          </a:prstGeom>
          <a:noFill/>
          <a:ln/>
        </p:spPr>
        <p:txBody>
          <a:bodyPr wrap="square" lIns="0" tIns="0" rIns="0" bIns="0" rtlCol="0" anchor="ctr"/>
          <a:lstStyle/>
          <a:p>
            <a:pPr indent="0" marL="0">
              <a:buNone/>
            </a:pPr>
            <a:r>
              <a:rPr lang="en-US" sz="1400" b="1" dirty="0">
                <a:solidFill>
                  <a:schemeClr val="bg1"/>
                </a:solidFill>
              </a:rPr>
              <a:t>Full Python reimplementation</a:t>
            </a:r>
            <a:endParaRPr lang="en-US" sz="1400" dirty="0"/>
          </a:p>
        </p:txBody>
      </p:sp>
      <p:sp>
        <p:nvSpPr>
          <p:cNvPr id="14" name="s7c0-body"/>
          <p:cNvSpPr txBox="1"/>
          <p:nvPr/>
        </p:nvSpPr>
        <p:spPr>
          <a:xfrm>
            <a:off x="786384" y="3346704"/>
            <a:ext cx="4956048" cy="438912"/>
          </a:xfrm>
          <a:prstGeom prst="rect">
            <a:avLst/>
          </a:prstGeom>
          <a:noFill/>
          <a:ln/>
        </p:spPr>
        <p:txBody>
          <a:bodyPr wrap="square" lIns="0" tIns="0" rIns="0" bIns="0" rtlCol="0" anchor="t"/>
          <a:lstStyle/>
          <a:p>
            <a:pPr indent="0" marL="0">
              <a:buNone/>
            </a:pPr>
            <a:r>
              <a:rPr lang="en-US" sz="1200" dirty="0">
                <a:solidFill>
                  <a:schemeClr val="accent5"/>
                </a:solidFill>
              </a:rPr>
              <a:t>The paper is Java, and no source code accompanies it.</a:t>
            </a:r>
            <a:endParaRPr lang="en-US" sz="1200" dirty="0"/>
          </a:p>
        </p:txBody>
      </p:sp>
      <p:sp>
        <p:nvSpPr>
          <p:cNvPr id="15" name="s7c1-panel"/>
          <p:cNvSpPr/>
          <p:nvPr/>
        </p:nvSpPr>
        <p:spPr>
          <a:xfrm>
            <a:off x="6199632" y="2834640"/>
            <a:ext cx="5394960" cy="1078992"/>
          </a:xfrm>
          <a:prstGeom prst="roundRect">
            <a:avLst>
              <a:gd name="adj" fmla="val 5085"/>
            </a:avLst>
          </a:prstGeom>
          <a:solidFill>
            <a:schemeClr val="tx2"/>
          </a:solidFill>
          <a:ln/>
        </p:spPr>
      </p:sp>
      <p:sp>
        <p:nvSpPr>
          <p:cNvPr id="16" name="s7c1-heading"/>
          <p:cNvSpPr txBox="1"/>
          <p:nvPr/>
        </p:nvSpPr>
        <p:spPr>
          <a:xfrm>
            <a:off x="6419088" y="2999232"/>
            <a:ext cx="4956048" cy="274320"/>
          </a:xfrm>
          <a:prstGeom prst="rect">
            <a:avLst/>
          </a:prstGeom>
          <a:noFill/>
          <a:ln/>
        </p:spPr>
        <p:txBody>
          <a:bodyPr wrap="square" lIns="0" tIns="0" rIns="0" bIns="0" rtlCol="0" anchor="ctr"/>
          <a:lstStyle/>
          <a:p>
            <a:pPr indent="0" marL="0">
              <a:buNone/>
            </a:pPr>
            <a:r>
              <a:rPr lang="en-US" sz="1400" b="1" dirty="0">
                <a:solidFill>
                  <a:schemeClr val="bg1"/>
                </a:solidFill>
              </a:rPr>
              <a:t>Formal verification</a:t>
            </a:r>
            <a:endParaRPr lang="en-US" sz="1400" dirty="0"/>
          </a:p>
        </p:txBody>
      </p:sp>
      <p:sp>
        <p:nvSpPr>
          <p:cNvPr id="17" name="s7c1-body"/>
          <p:cNvSpPr txBox="1"/>
          <p:nvPr/>
        </p:nvSpPr>
        <p:spPr>
          <a:xfrm>
            <a:off x="6419088" y="3346704"/>
            <a:ext cx="4956048" cy="438912"/>
          </a:xfrm>
          <a:prstGeom prst="rect">
            <a:avLst/>
          </a:prstGeom>
          <a:noFill/>
          <a:ln/>
        </p:spPr>
        <p:txBody>
          <a:bodyPr wrap="square" lIns="0" tIns="0" rIns="0" bIns="0" rtlCol="0" anchor="t"/>
          <a:lstStyle/>
          <a:p>
            <a:pPr indent="0" marL="0">
              <a:buNone/>
            </a:pPr>
            <a:r>
              <a:rPr lang="en-US" sz="1200" dirty="0">
                <a:solidFill>
                  <a:schemeClr val="accent5"/>
                </a:solidFill>
              </a:rPr>
              <a:t>Scyther for the session protocol, TLA+/TLC for pBFT consensus.</a:t>
            </a:r>
            <a:endParaRPr lang="en-US" sz="1200" dirty="0"/>
          </a:p>
        </p:txBody>
      </p:sp>
      <p:sp>
        <p:nvSpPr>
          <p:cNvPr id="18" name="s7c2-panel"/>
          <p:cNvSpPr/>
          <p:nvPr/>
        </p:nvSpPr>
        <p:spPr>
          <a:xfrm>
            <a:off x="566928" y="4059936"/>
            <a:ext cx="5394960" cy="1078992"/>
          </a:xfrm>
          <a:prstGeom prst="roundRect">
            <a:avLst>
              <a:gd name="adj" fmla="val 5085"/>
            </a:avLst>
          </a:prstGeom>
          <a:solidFill>
            <a:schemeClr val="tx2"/>
          </a:solidFill>
          <a:ln/>
        </p:spPr>
      </p:sp>
      <p:sp>
        <p:nvSpPr>
          <p:cNvPr id="19" name="s7c2-heading"/>
          <p:cNvSpPr txBox="1"/>
          <p:nvPr/>
        </p:nvSpPr>
        <p:spPr>
          <a:xfrm>
            <a:off x="786384" y="4224528"/>
            <a:ext cx="4956048" cy="274320"/>
          </a:xfrm>
          <a:prstGeom prst="rect">
            <a:avLst/>
          </a:prstGeom>
          <a:noFill/>
          <a:ln/>
        </p:spPr>
        <p:txBody>
          <a:bodyPr wrap="square" lIns="0" tIns="0" rIns="0" bIns="0" rtlCol="0" anchor="ctr"/>
          <a:lstStyle/>
          <a:p>
            <a:pPr indent="0" marL="0">
              <a:buNone/>
            </a:pPr>
            <a:r>
              <a:rPr lang="en-US" sz="1400" b="1" dirty="0">
                <a:solidFill>
                  <a:schemeClr val="bg1"/>
                </a:solidFill>
              </a:rPr>
              <a:t>Adversarial evaluation</a:t>
            </a:r>
            <a:endParaRPr lang="en-US" sz="1400" dirty="0"/>
          </a:p>
        </p:txBody>
      </p:sp>
      <p:sp>
        <p:nvSpPr>
          <p:cNvPr id="20" name="s7c2-body"/>
          <p:cNvSpPr txBox="1"/>
          <p:nvPr/>
        </p:nvSpPr>
        <p:spPr>
          <a:xfrm>
            <a:off x="786384" y="4572000"/>
            <a:ext cx="4956048" cy="438912"/>
          </a:xfrm>
          <a:prstGeom prst="rect">
            <a:avLst/>
          </a:prstGeom>
          <a:noFill/>
          <a:ln/>
        </p:spPr>
        <p:txBody>
          <a:bodyPr wrap="square" lIns="0" tIns="0" rIns="0" bIns="0" rtlCol="0" anchor="t"/>
          <a:lstStyle/>
          <a:p>
            <a:pPr indent="0" marL="0">
              <a:buNone/>
            </a:pPr>
            <a:r>
              <a:rPr lang="en-US" sz="1200" dirty="0">
                <a:solidFill>
                  <a:schemeClr val="accent5"/>
                </a:solidFill>
              </a:rPr>
              <a:t>Evasion, poisoning and robustness testing the paper does not attempt.</a:t>
            </a:r>
            <a:endParaRPr lang="en-US" sz="1200" dirty="0"/>
          </a:p>
        </p:txBody>
      </p:sp>
      <p:sp>
        <p:nvSpPr>
          <p:cNvPr id="21" name="s7c3-panel"/>
          <p:cNvSpPr/>
          <p:nvPr/>
        </p:nvSpPr>
        <p:spPr>
          <a:xfrm>
            <a:off x="6199632" y="4059936"/>
            <a:ext cx="5394960" cy="1078992"/>
          </a:xfrm>
          <a:prstGeom prst="roundRect">
            <a:avLst>
              <a:gd name="adj" fmla="val 5085"/>
            </a:avLst>
          </a:prstGeom>
          <a:solidFill>
            <a:schemeClr val="tx2"/>
          </a:solidFill>
          <a:ln/>
        </p:spPr>
      </p:sp>
      <p:sp>
        <p:nvSpPr>
          <p:cNvPr id="22" name="s7c3-heading"/>
          <p:cNvSpPr txBox="1"/>
          <p:nvPr/>
        </p:nvSpPr>
        <p:spPr>
          <a:xfrm>
            <a:off x="6419088" y="4224528"/>
            <a:ext cx="4956048" cy="274320"/>
          </a:xfrm>
          <a:prstGeom prst="rect">
            <a:avLst/>
          </a:prstGeom>
          <a:noFill/>
          <a:ln/>
        </p:spPr>
        <p:txBody>
          <a:bodyPr wrap="square" lIns="0" tIns="0" rIns="0" bIns="0" rtlCol="0" anchor="ctr"/>
          <a:lstStyle/>
          <a:p>
            <a:pPr indent="0" marL="0">
              <a:buNone/>
            </a:pPr>
            <a:r>
              <a:rPr lang="en-US" sz="1400" b="1" dirty="0">
                <a:solidFill>
                  <a:schemeClr val="bg1"/>
                </a:solidFill>
              </a:rPr>
              <a:t>The framework’s own path, run</a:t>
            </a:r>
            <a:endParaRPr lang="en-US" sz="1400" dirty="0"/>
          </a:p>
        </p:txBody>
      </p:sp>
      <p:sp>
        <p:nvSpPr>
          <p:cNvPr id="23" name="s7c3-body"/>
          <p:cNvSpPr txBox="1"/>
          <p:nvPr/>
        </p:nvSpPr>
        <p:spPr>
          <a:xfrm>
            <a:off x="6419088" y="4572000"/>
            <a:ext cx="4956048" cy="438912"/>
          </a:xfrm>
          <a:prstGeom prst="rect">
            <a:avLst/>
          </a:prstGeom>
          <a:noFill/>
          <a:ln/>
        </p:spPr>
        <p:txBody>
          <a:bodyPr wrap="square" lIns="0" tIns="0" rIns="0" bIns="0" rtlCol="0" anchor="t"/>
          <a:lstStyle/>
          <a:p>
            <a:pPr indent="0" marL="0">
              <a:buNone/>
            </a:pPr>
            <a:r>
              <a:rPr lang="en-US" sz="1200" dirty="0">
                <a:solidFill>
                  <a:schemeClr val="accent5"/>
                </a:solidFill>
              </a:rPr>
              <a:t>Honeypot to detection, end to end: 0.8422 balanced accuracy against a designed 0.85 ceiling. Never evaluated by the paper.</a:t>
            </a:r>
            <a:endParaRPr lang="en-US" sz="1200" dirty="0"/>
          </a:p>
        </p:txBody>
      </p:sp>
      <p:sp>
        <p:nvSpPr>
          <p:cNvPr id="24" name="o4-panel"/>
          <p:cNvSpPr/>
          <p:nvPr/>
        </p:nvSpPr>
        <p:spPr>
          <a:xfrm>
            <a:off x="566928" y="5431536"/>
            <a:ext cx="11027664" cy="621792"/>
          </a:xfrm>
          <a:prstGeom prst="roundRect">
            <a:avLst>
              <a:gd name="adj" fmla="val 8824"/>
            </a:avLst>
          </a:prstGeom>
          <a:solidFill>
            <a:schemeClr val="accent1"/>
          </a:solidFill>
          <a:ln/>
        </p:spPr>
      </p:sp>
      <p:sp>
        <p:nvSpPr>
          <p:cNvPr id="25" name="o4-text"/>
          <p:cNvSpPr txBox="1"/>
          <p:nvPr/>
        </p:nvSpPr>
        <p:spPr>
          <a:xfrm>
            <a:off x="841248" y="5431536"/>
            <a:ext cx="10479024" cy="621792"/>
          </a:xfrm>
          <a:prstGeom prst="rect">
            <a:avLst/>
          </a:prstGeom>
          <a:noFill/>
          <a:ln/>
        </p:spPr>
        <p:txBody>
          <a:bodyPr wrap="square" lIns="0" tIns="0" rIns="0" bIns="0" rtlCol="0" anchor="ctr"/>
          <a:lstStyle/>
          <a:p>
            <a:pPr indent="0" marL="0">
              <a:buNone/>
            </a:pPr>
            <a:r>
              <a:rPr lang="en-US" sz="1350" b="1" dirty="0">
                <a:solidFill>
                  <a:schemeClr val="bg1"/>
                </a:solidFill>
              </a:rPr>
              <a:t>The paper gives algorithms but no source. Many design choices are unspecified — we filled each gap and recorded it.</a:t>
            </a:r>
            <a:endParaRPr lang="en-US" sz="13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DESIGN GAPS</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What the paper leaves unspecified</a:t>
            </a:r>
            <a:endParaRPr lang="en-US" sz="2900" dirty="0"/>
          </a:p>
        </p:txBody>
      </p:sp>
      <p:sp>
        <p:nvSpPr>
          <p:cNvPr id="4" name="s8lede"/>
          <p:cNvSpPr txBox="1"/>
          <p:nvPr/>
        </p:nvSpPr>
        <p:spPr>
          <a:xfrm>
            <a:off x="566928" y="1371600"/>
            <a:ext cx="11027664" cy="402336"/>
          </a:xfrm>
          <a:prstGeom prst="rect">
            <a:avLst/>
          </a:prstGeom>
          <a:noFill/>
          <a:ln/>
        </p:spPr>
        <p:txBody>
          <a:bodyPr wrap="square" lIns="0" tIns="0" rIns="0" bIns="0" rtlCol="0" anchor="t"/>
          <a:lstStyle/>
          <a:p>
            <a:pPr indent="0" marL="0">
              <a:buNone/>
            </a:pPr>
            <a:r>
              <a:rPr lang="en-US" sz="1400" dirty="0">
                <a:solidFill>
                  <a:schemeClr val="bg1"/>
                </a:solidFill>
              </a:rPr>
              <a:t>The architecture is described. The engineering is not. Three distinct patterns of omission, each of which had to be resolved before the system could run at all.</a:t>
            </a:r>
            <a:endParaRPr lang="en-US" sz="1400" dirty="0"/>
          </a:p>
        </p:txBody>
      </p:sp>
      <p:sp>
        <p:nvSpPr>
          <p:cNvPr id="5" name="s8c0-panel"/>
          <p:cNvSpPr/>
          <p:nvPr/>
        </p:nvSpPr>
        <p:spPr>
          <a:xfrm>
            <a:off x="566928" y="1920240"/>
            <a:ext cx="3547872" cy="2596896"/>
          </a:xfrm>
          <a:prstGeom prst="roundRect">
            <a:avLst>
              <a:gd name="adj" fmla="val 2113"/>
            </a:avLst>
          </a:prstGeom>
          <a:solidFill>
            <a:schemeClr val="tx2"/>
          </a:solidFill>
          <a:ln/>
        </p:spPr>
      </p:sp>
      <p:sp>
        <p:nvSpPr>
          <p:cNvPr id="6" name="s8c0-heading"/>
          <p:cNvSpPr txBox="1"/>
          <p:nvPr/>
        </p:nvSpPr>
        <p:spPr>
          <a:xfrm>
            <a:off x="786384" y="2084832"/>
            <a:ext cx="3108960" cy="310896"/>
          </a:xfrm>
          <a:prstGeom prst="rect">
            <a:avLst/>
          </a:prstGeom>
          <a:noFill/>
          <a:ln/>
        </p:spPr>
        <p:txBody>
          <a:bodyPr wrap="square" lIns="0" tIns="0" rIns="0" bIns="0" rtlCol="0" anchor="ctr"/>
          <a:lstStyle/>
          <a:p>
            <a:pPr indent="0" marL="0">
              <a:buNone/>
            </a:pPr>
            <a:r>
              <a:rPr lang="en-US" sz="1450" b="1" dirty="0">
                <a:solidFill>
                  <a:schemeClr val="accent2"/>
                </a:solidFill>
              </a:rPr>
              <a:t>Named, never specified</a:t>
            </a:r>
            <a:endParaRPr lang="en-US" sz="1450" dirty="0"/>
          </a:p>
        </p:txBody>
      </p:sp>
      <p:sp>
        <p:nvSpPr>
          <p:cNvPr id="7" name="s8l0"/>
          <p:cNvSpPr txBox="1"/>
          <p:nvPr/>
        </p:nvSpPr>
        <p:spPr>
          <a:xfrm>
            <a:off x="786384" y="2542032"/>
            <a:ext cx="3108960" cy="1883664"/>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chemeClr val="accent5"/>
                </a:solidFill>
              </a:rPr>
              <a:t>ECDSA, cited as [23] — no message format, no statement of what is signed</a:t>
            </a:r>
            <a:endParaRPr lang="en-US" sz="1150" dirty="0"/>
          </a:p>
          <a:p>
            <a:pPr marL="342900" indent="-342900">
              <a:spcAft>
                <a:spcPts val="700"/>
              </a:spcAft>
              <a:buSzPct val="100000"/>
              <a:buChar char="•"/>
            </a:pPr>
            <a:r>
              <a:rPr lang="en-US" sz="1150" dirty="0">
                <a:solidFill>
                  <a:schemeClr val="accent5"/>
                </a:solidFill>
              </a:rPr>
              <a:t>pBFT, cited as [24] — no threshold value, no view change, no message types</a:t>
            </a:r>
            <a:endParaRPr lang="en-US" sz="1150" dirty="0"/>
          </a:p>
          <a:p>
            <a:pPr marL="342900" indent="-342900">
              <a:spcAft>
                <a:spcPts val="700"/>
              </a:spcAft>
              <a:buSzPct val="100000"/>
              <a:buChar char="•"/>
            </a:pPr>
            <a:r>
              <a:rPr lang="en-US" sz="1150" dirty="0">
                <a:solidFill>
                  <a:schemeClr val="accent5"/>
                </a:solidFill>
              </a:rPr>
              <a:t>A honeypot — no statement of what it observes or records</a:t>
            </a:r>
            <a:endParaRPr lang="en-US" sz="1150" dirty="0"/>
          </a:p>
          <a:p>
            <a:pPr marL="342900" indent="-342900">
              <a:spcAft>
                <a:spcPts val="700"/>
              </a:spcAft>
              <a:buSzPct val="100000"/>
              <a:buChar char="•"/>
            </a:pPr>
            <a:r>
              <a:rPr lang="en-US" sz="1150" dirty="0">
                <a:solidFill>
                  <a:schemeClr val="accent5"/>
                </a:solidFill>
              </a:rPr>
              <a:t>“Signatures and features are generated” — the whole of Alg. 2, lines 5–6</a:t>
            </a:r>
            <a:endParaRPr lang="en-US" sz="1150" dirty="0"/>
          </a:p>
        </p:txBody>
      </p:sp>
      <p:sp>
        <p:nvSpPr>
          <p:cNvPr id="8" name="s8c1-panel"/>
          <p:cNvSpPr/>
          <p:nvPr/>
        </p:nvSpPr>
        <p:spPr>
          <a:xfrm>
            <a:off x="4297680" y="1920240"/>
            <a:ext cx="3547872" cy="2596896"/>
          </a:xfrm>
          <a:prstGeom prst="roundRect">
            <a:avLst>
              <a:gd name="adj" fmla="val 2113"/>
            </a:avLst>
          </a:prstGeom>
          <a:solidFill>
            <a:schemeClr val="tx2"/>
          </a:solidFill>
          <a:ln/>
        </p:spPr>
      </p:sp>
      <p:sp>
        <p:nvSpPr>
          <p:cNvPr id="9" name="s8c1-heading"/>
          <p:cNvSpPr txBox="1"/>
          <p:nvPr/>
        </p:nvSpPr>
        <p:spPr>
          <a:xfrm>
            <a:off x="4517136" y="2084832"/>
            <a:ext cx="3108960" cy="310896"/>
          </a:xfrm>
          <a:prstGeom prst="rect">
            <a:avLst/>
          </a:prstGeom>
          <a:noFill/>
          <a:ln/>
        </p:spPr>
        <p:txBody>
          <a:bodyPr wrap="square" lIns="0" tIns="0" rIns="0" bIns="0" rtlCol="0" anchor="ctr"/>
          <a:lstStyle/>
          <a:p>
            <a:pPr indent="0" marL="0">
              <a:buNone/>
            </a:pPr>
            <a:r>
              <a:rPr lang="en-US" sz="1450" b="1" dirty="0">
                <a:solidFill>
                  <a:schemeClr val="accent2"/>
                </a:solidFill>
              </a:rPr>
              <a:t>Explicitly deferred</a:t>
            </a:r>
            <a:endParaRPr lang="en-US" sz="1450" dirty="0"/>
          </a:p>
        </p:txBody>
      </p:sp>
      <p:sp>
        <p:nvSpPr>
          <p:cNvPr id="10" name="s8l1"/>
          <p:cNvSpPr txBox="1"/>
          <p:nvPr/>
        </p:nvSpPr>
        <p:spPr>
          <a:xfrm>
            <a:off x="4517136" y="2542032"/>
            <a:ext cx="3108960" cy="1883664"/>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chemeClr val="accent5"/>
                </a:solidFill>
              </a:rPr>
              <a:t>Session establishment: “any standard mutual authentication and key establishment mechanism”</a:t>
            </a:r>
            <a:endParaRPr lang="en-US" sz="1150" dirty="0"/>
          </a:p>
          <a:p>
            <a:pPr marL="342900" indent="-342900">
              <a:spcAft>
                <a:spcPts val="700"/>
              </a:spcAft>
              <a:buSzPct val="100000"/>
              <a:buChar char="•"/>
            </a:pPr>
            <a:r>
              <a:rPr lang="en-US" sz="1150" dirty="0">
                <a:solidFill>
                  <a:schemeClr val="accent5"/>
                </a:solidFill>
              </a:rPr>
              <a:t>No formal model, no proof, no protocol verification of any of the five security claims</a:t>
            </a:r>
            <a:endParaRPr lang="en-US" sz="1150" dirty="0"/>
          </a:p>
        </p:txBody>
      </p:sp>
      <p:sp>
        <p:nvSpPr>
          <p:cNvPr id="11" name="s8c2-panel"/>
          <p:cNvSpPr/>
          <p:nvPr/>
        </p:nvSpPr>
        <p:spPr>
          <a:xfrm>
            <a:off x="8028432" y="1920240"/>
            <a:ext cx="3547872" cy="2596896"/>
          </a:xfrm>
          <a:prstGeom prst="roundRect">
            <a:avLst>
              <a:gd name="adj" fmla="val 2113"/>
            </a:avLst>
          </a:prstGeom>
          <a:solidFill>
            <a:schemeClr val="tx2"/>
          </a:solidFill>
          <a:ln/>
        </p:spPr>
      </p:sp>
      <p:sp>
        <p:nvSpPr>
          <p:cNvPr id="12" name="s8c2-heading"/>
          <p:cNvSpPr txBox="1"/>
          <p:nvPr/>
        </p:nvSpPr>
        <p:spPr>
          <a:xfrm>
            <a:off x="8247888" y="2084832"/>
            <a:ext cx="3108960" cy="310896"/>
          </a:xfrm>
          <a:prstGeom prst="rect">
            <a:avLst/>
          </a:prstGeom>
          <a:noFill/>
          <a:ln/>
        </p:spPr>
        <p:txBody>
          <a:bodyPr wrap="square" lIns="0" tIns="0" rIns="0" bIns="0" rtlCol="0" anchor="ctr"/>
          <a:lstStyle/>
          <a:p>
            <a:pPr indent="0" marL="0">
              <a:buNone/>
            </a:pPr>
            <a:r>
              <a:rPr lang="en-US" sz="1450" b="1" dirty="0">
                <a:solidFill>
                  <a:schemeClr val="accent2"/>
                </a:solidFill>
              </a:rPr>
              <a:t>Specified, but unworkable</a:t>
            </a:r>
            <a:endParaRPr lang="en-US" sz="1450" dirty="0"/>
          </a:p>
        </p:txBody>
      </p:sp>
      <p:sp>
        <p:nvSpPr>
          <p:cNvPr id="13" name="s8l2"/>
          <p:cNvSpPr txBox="1"/>
          <p:nvPr/>
        </p:nvSpPr>
        <p:spPr>
          <a:xfrm>
            <a:off x="8247888" y="2542032"/>
            <a:ext cx="3108960" cy="1883664"/>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chemeClr val="accent5"/>
                </a:solidFill>
              </a:rPr>
              <a:t>Bulk backup payloads encrypted directly under an elliptic-curve public key</a:t>
            </a:r>
            <a:endParaRPr lang="en-US" sz="1150" dirty="0"/>
          </a:p>
          <a:p>
            <a:pPr marL="342900" indent="-342900">
              <a:spcAft>
                <a:spcPts val="700"/>
              </a:spcAft>
              <a:buSzPct val="100000"/>
              <a:buChar char="•"/>
            </a:pPr>
            <a:r>
              <a:rPr lang="en-US" sz="1150" dirty="0">
                <a:solidFill>
                  <a:schemeClr val="accent5"/>
                </a:solidFill>
              </a:rPr>
              <a:t>“Remove the abnormalities” during preprocessing — which deletes the class being detected</a:t>
            </a:r>
            <a:endParaRPr lang="en-US" sz="1150" dirty="0"/>
          </a:p>
        </p:txBody>
      </p:sp>
      <p:sp>
        <p:nvSpPr>
          <p:cNvPr id="14" name="o5-panel"/>
          <p:cNvSpPr/>
          <p:nvPr/>
        </p:nvSpPr>
        <p:spPr>
          <a:xfrm>
            <a:off x="566928" y="4791456"/>
            <a:ext cx="11027664" cy="877824"/>
          </a:xfrm>
          <a:prstGeom prst="roundRect">
            <a:avLst>
              <a:gd name="adj" fmla="val 6250"/>
            </a:avLst>
          </a:prstGeom>
          <a:solidFill>
            <a:schemeClr val="accent1"/>
          </a:solidFill>
          <a:ln/>
        </p:spPr>
      </p:sp>
      <p:sp>
        <p:nvSpPr>
          <p:cNvPr id="15" name="o5-text"/>
          <p:cNvSpPr txBox="1"/>
          <p:nvPr/>
        </p:nvSpPr>
        <p:spPr>
          <a:xfrm>
            <a:off x="841248" y="4791456"/>
            <a:ext cx="10479024" cy="877824"/>
          </a:xfrm>
          <a:prstGeom prst="rect">
            <a:avLst/>
          </a:prstGeom>
          <a:noFill/>
          <a:ln/>
        </p:spPr>
        <p:txBody>
          <a:bodyPr wrap="square" lIns="0" tIns="0" rIns="0" bIns="0" rtlCol="0" anchor="ctr"/>
          <a:lstStyle/>
          <a:p>
            <a:pPr indent="0" marL="0">
              <a:buNone/>
            </a:pPr>
            <a:r>
              <a:rPr lang="en-US" sz="1450" b="1" dirty="0">
                <a:solidFill>
                  <a:schemeClr val="bg1"/>
                </a:solidFill>
              </a:rPr>
              <a:t>The consequence: the framework cannot be reproduced from its own text. Building it meant first writing the specification the paper does not contain.</a:t>
            </a:r>
            <a:endParaRPr lang="en-US" sz="1450" dirty="0"/>
          </a:p>
        </p:txBody>
      </p:sp>
      <p:sp>
        <p:nvSpPr>
          <p:cNvPr id="16" name="s8cite"/>
          <p:cNvSpPr txBox="1"/>
          <p:nvPr/>
        </p:nvSpPr>
        <p:spPr>
          <a:xfrm>
            <a:off x="566928" y="5797296"/>
            <a:ext cx="11027664" cy="274320"/>
          </a:xfrm>
          <a:prstGeom prst="rect">
            <a:avLst/>
          </a:prstGeom>
          <a:noFill/>
          <a:ln/>
        </p:spPr>
        <p:txBody>
          <a:bodyPr wrap="square" lIns="0" tIns="0" rIns="0" bIns="0" rtlCol="0" anchor="t"/>
          <a:lstStyle/>
          <a:p>
            <a:pPr indent="0" marL="0">
              <a:buNone/>
            </a:pPr>
            <a:r>
              <a:rPr lang="en-US" sz="1100" i="1" dirty="0">
                <a:solidFill>
                  <a:schemeClr val="accent5"/>
                </a:solidFill>
              </a:rPr>
              <a:t>A gap is not a defect — each was filled and recorded. The accumulation of them is the finding.</a:t>
            </a:r>
            <a:endParaRPr lang="en-US" sz="110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ASSUMPTIONS</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What we had to supply, and what it cost</a:t>
            </a:r>
            <a:endParaRPr lang="en-US" sz="2900" dirty="0"/>
          </a:p>
        </p:txBody>
      </p:sp>
      <p:sp>
        <p:nvSpPr>
          <p:cNvPr id="4" name="s9lede"/>
          <p:cNvSpPr txBox="1"/>
          <p:nvPr/>
        </p:nvSpPr>
        <p:spPr>
          <a:xfrm>
            <a:off x="566928" y="1371600"/>
            <a:ext cx="11027664" cy="365760"/>
          </a:xfrm>
          <a:prstGeom prst="rect">
            <a:avLst/>
          </a:prstGeom>
          <a:noFill/>
          <a:ln/>
        </p:spPr>
        <p:txBody>
          <a:bodyPr wrap="square" lIns="0" tIns="0" rIns="0" bIns="0" rtlCol="0" anchor="t"/>
          <a:lstStyle/>
          <a:p>
            <a:pPr indent="0" marL="0">
              <a:buNone/>
            </a:pPr>
            <a:r>
              <a:rPr lang="en-US" sz="1300" dirty="0">
                <a:solidFill>
                  <a:schemeClr val="accent5"/>
                </a:solidFill>
              </a:rPr>
              <a:t>Every value below is declared in configuration and carries a numbered deviation with its rationale.</a:t>
            </a:r>
            <a:endParaRPr lang="en-US" sz="1300" dirty="0"/>
          </a:p>
        </p:txBody>
      </p:sp>
      <p:sp>
        <p:nvSpPr>
          <p:cNvPr id="5" name="s9tbl-h0"/>
          <p:cNvSpPr txBox="1"/>
          <p:nvPr/>
        </p:nvSpPr>
        <p:spPr>
          <a:xfrm>
            <a:off x="566928" y="1828800"/>
            <a:ext cx="292608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Gap</a:t>
            </a:r>
            <a:endParaRPr lang="en-US" sz="1100" dirty="0"/>
          </a:p>
        </p:txBody>
      </p:sp>
      <p:sp>
        <p:nvSpPr>
          <p:cNvPr id="6" name="s9tbl-h1"/>
          <p:cNvSpPr txBox="1"/>
          <p:nvPr/>
        </p:nvSpPr>
        <p:spPr>
          <a:xfrm>
            <a:off x="3493008" y="1828800"/>
            <a:ext cx="402336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What we declared</a:t>
            </a:r>
            <a:endParaRPr lang="en-US" sz="1100" dirty="0"/>
          </a:p>
        </p:txBody>
      </p:sp>
      <p:sp>
        <p:nvSpPr>
          <p:cNvPr id="7" name="s9tbl-h2"/>
          <p:cNvSpPr txBox="1"/>
          <p:nvPr/>
        </p:nvSpPr>
        <p:spPr>
          <a:xfrm>
            <a:off x="7516368" y="1828800"/>
            <a:ext cx="4078224"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Why it mattered</a:t>
            </a:r>
            <a:endParaRPr lang="en-US" sz="1100" dirty="0"/>
          </a:p>
        </p:txBody>
      </p:sp>
      <p:sp>
        <p:nvSpPr>
          <p:cNvPr id="8" name="s9tbl-band0"/>
          <p:cNvSpPr/>
          <p:nvPr/>
        </p:nvSpPr>
        <p:spPr>
          <a:xfrm>
            <a:off x="457200" y="2176272"/>
            <a:ext cx="11247120" cy="457200"/>
          </a:xfrm>
          <a:prstGeom prst="roundRect">
            <a:avLst>
              <a:gd name="adj" fmla="val 8000"/>
            </a:avLst>
          </a:prstGeom>
          <a:solidFill>
            <a:schemeClr val="tx2"/>
          </a:solidFill>
          <a:ln/>
        </p:spPr>
      </p:sp>
      <p:sp>
        <p:nvSpPr>
          <p:cNvPr id="9" name="s9tbl-r0c0"/>
          <p:cNvSpPr txBox="1"/>
          <p:nvPr/>
        </p:nvSpPr>
        <p:spPr>
          <a:xfrm>
            <a:off x="566928" y="2176272"/>
            <a:ext cx="2926080" cy="457200"/>
          </a:xfrm>
          <a:prstGeom prst="rect">
            <a:avLst/>
          </a:prstGeom>
          <a:noFill/>
          <a:ln/>
        </p:spPr>
        <p:txBody>
          <a:bodyPr wrap="square" lIns="0" tIns="0" rIns="0" bIns="0" rtlCol="0" anchor="ctr"/>
          <a:lstStyle/>
          <a:p>
            <a:pPr algn="l" indent="0" marL="0">
              <a:buNone/>
            </a:pPr>
            <a:r>
              <a:rPr lang="en-US" sz="1150" b="1" dirty="0">
                <a:solidFill>
                  <a:schemeClr val="bg1"/>
                </a:solidFill>
              </a:rPr>
              <a:t>Transaction payload size</a:t>
            </a:r>
            <a:endParaRPr lang="en-US" sz="1150" dirty="0"/>
          </a:p>
        </p:txBody>
      </p:sp>
      <p:sp>
        <p:nvSpPr>
          <p:cNvPr id="10" name="s9tbl-r0c1"/>
          <p:cNvSpPr txBox="1"/>
          <p:nvPr/>
        </p:nvSpPr>
        <p:spPr>
          <a:xfrm>
            <a:off x="3493008" y="2176272"/>
            <a:ext cx="4023360" cy="457200"/>
          </a:xfrm>
          <a:prstGeom prst="rect">
            <a:avLst/>
          </a:prstGeom>
          <a:noFill/>
          <a:ln/>
        </p:spPr>
        <p:txBody>
          <a:bodyPr wrap="square" lIns="0" tIns="0" rIns="0" bIns="0" rtlCol="0" anchor="ctr"/>
          <a:lstStyle/>
          <a:p>
            <a:pPr algn="l" indent="0" marL="0">
              <a:buNone/>
            </a:pPr>
            <a:r>
              <a:rPr lang="en-US" sz="1150" dirty="0">
                <a:solidFill>
                  <a:schemeClr val="accent5"/>
                </a:solidFill>
              </a:rPr>
              <a:t>4096 B, swept at 1024 / 4096 / 16384</a:t>
            </a:r>
            <a:endParaRPr lang="en-US" sz="1150" dirty="0"/>
          </a:p>
        </p:txBody>
      </p:sp>
      <p:sp>
        <p:nvSpPr>
          <p:cNvPr id="11" name="s9tbl-r0c2"/>
          <p:cNvSpPr txBox="1"/>
          <p:nvPr/>
        </p:nvSpPr>
        <p:spPr>
          <a:xfrm>
            <a:off x="7516368" y="2176272"/>
            <a:ext cx="4078224" cy="457200"/>
          </a:xfrm>
          <a:prstGeom prst="rect">
            <a:avLst/>
          </a:prstGeom>
          <a:noFill/>
          <a:ln/>
        </p:spPr>
        <p:txBody>
          <a:bodyPr wrap="square" lIns="0" tIns="0" rIns="0" bIns="0" rtlCol="0" anchor="ctr"/>
          <a:lstStyle/>
          <a:p>
            <a:pPr algn="l" indent="0" marL="0">
              <a:buNone/>
            </a:pPr>
            <a:r>
              <a:rPr lang="en-US" sz="1150" dirty="0">
                <a:solidFill>
                  <a:schemeClr val="accent5"/>
                </a:solidFill>
              </a:rPr>
              <a:t>Every timing figure is a function of it</a:t>
            </a:r>
            <a:endParaRPr lang="en-US" sz="1150" dirty="0"/>
          </a:p>
        </p:txBody>
      </p:sp>
      <p:sp>
        <p:nvSpPr>
          <p:cNvPr id="12" name="s9tbl-r1c0"/>
          <p:cNvSpPr txBox="1"/>
          <p:nvPr/>
        </p:nvSpPr>
        <p:spPr>
          <a:xfrm>
            <a:off x="566928" y="2670048"/>
            <a:ext cx="2926080" cy="457200"/>
          </a:xfrm>
          <a:prstGeom prst="rect">
            <a:avLst/>
          </a:prstGeom>
          <a:noFill/>
          <a:ln/>
        </p:spPr>
        <p:txBody>
          <a:bodyPr wrap="square" lIns="0" tIns="0" rIns="0" bIns="0" rtlCol="0" anchor="ctr"/>
          <a:lstStyle/>
          <a:p>
            <a:pPr algn="l" indent="0" marL="0">
              <a:buNone/>
            </a:pPr>
            <a:r>
              <a:rPr lang="en-US" sz="1150" b="1" dirty="0">
                <a:solidFill>
                  <a:schemeClr val="bg1"/>
                </a:solidFill>
              </a:rPr>
              <a:t>ML hyperparameters, split, seed</a:t>
            </a:r>
            <a:endParaRPr lang="en-US" sz="1150" dirty="0"/>
          </a:p>
        </p:txBody>
      </p:sp>
      <p:sp>
        <p:nvSpPr>
          <p:cNvPr id="13" name="s9tbl-r1c1"/>
          <p:cNvSpPr txBox="1"/>
          <p:nvPr/>
        </p:nvSpPr>
        <p:spPr>
          <a:xfrm>
            <a:off x="3493008" y="2670048"/>
            <a:ext cx="4023360" cy="457200"/>
          </a:xfrm>
          <a:prstGeom prst="rect">
            <a:avLst/>
          </a:prstGeom>
          <a:noFill/>
          <a:ln/>
        </p:spPr>
        <p:txBody>
          <a:bodyPr wrap="square" lIns="0" tIns="0" rIns="0" bIns="0" rtlCol="0" anchor="ctr"/>
          <a:lstStyle/>
          <a:p>
            <a:pPr algn="l" indent="0" marL="0">
              <a:buNone/>
            </a:pPr>
            <a:r>
              <a:rPr lang="en-US" sz="1150" dirty="0">
                <a:solidFill>
                  <a:schemeClr val="accent5"/>
                </a:solidFill>
              </a:rPr>
              <a:t>All declared in configs/ml.yaml</a:t>
            </a:r>
            <a:endParaRPr lang="en-US" sz="1150" dirty="0"/>
          </a:p>
        </p:txBody>
      </p:sp>
      <p:sp>
        <p:nvSpPr>
          <p:cNvPr id="14" name="s9tbl-r1c2"/>
          <p:cNvSpPr txBox="1"/>
          <p:nvPr/>
        </p:nvSpPr>
        <p:spPr>
          <a:xfrm>
            <a:off x="7516368" y="2670048"/>
            <a:ext cx="4078224" cy="457200"/>
          </a:xfrm>
          <a:prstGeom prst="rect">
            <a:avLst/>
          </a:prstGeom>
          <a:noFill/>
          <a:ln/>
        </p:spPr>
        <p:txBody>
          <a:bodyPr wrap="square" lIns="0" tIns="0" rIns="0" bIns="0" rtlCol="0" anchor="ctr"/>
          <a:lstStyle/>
          <a:p>
            <a:pPr algn="l" indent="0" marL="0">
              <a:buNone/>
            </a:pPr>
            <a:r>
              <a:rPr lang="en-US" sz="1150" dirty="0">
                <a:solidFill>
                  <a:schemeClr val="accent5"/>
                </a:solidFill>
              </a:rPr>
              <a:t>The paper reports none of the three</a:t>
            </a:r>
            <a:endParaRPr lang="en-US" sz="1150" dirty="0"/>
          </a:p>
        </p:txBody>
      </p:sp>
      <p:sp>
        <p:nvSpPr>
          <p:cNvPr id="15" name="s9tbl-band2"/>
          <p:cNvSpPr/>
          <p:nvPr/>
        </p:nvSpPr>
        <p:spPr>
          <a:xfrm>
            <a:off x="457200" y="3163824"/>
            <a:ext cx="11247120" cy="457200"/>
          </a:xfrm>
          <a:prstGeom prst="roundRect">
            <a:avLst>
              <a:gd name="adj" fmla="val 8000"/>
            </a:avLst>
          </a:prstGeom>
          <a:solidFill>
            <a:schemeClr val="tx2"/>
          </a:solidFill>
          <a:ln/>
        </p:spPr>
      </p:sp>
      <p:sp>
        <p:nvSpPr>
          <p:cNvPr id="16" name="s9tbl-r2c0"/>
          <p:cNvSpPr txBox="1"/>
          <p:nvPr/>
        </p:nvSpPr>
        <p:spPr>
          <a:xfrm>
            <a:off x="566928" y="3163824"/>
            <a:ext cx="2926080" cy="457200"/>
          </a:xfrm>
          <a:prstGeom prst="rect">
            <a:avLst/>
          </a:prstGeom>
          <a:noFill/>
          <a:ln/>
        </p:spPr>
        <p:txBody>
          <a:bodyPr wrap="square" lIns="0" tIns="0" rIns="0" bIns="0" rtlCol="0" anchor="ctr"/>
          <a:lstStyle/>
          <a:p>
            <a:pPr algn="l" indent="0" marL="0">
              <a:buNone/>
            </a:pPr>
            <a:r>
              <a:rPr lang="en-US" sz="1150" b="1" dirty="0">
                <a:solidFill>
                  <a:schemeClr val="bg1"/>
                </a:solidFill>
              </a:rPr>
              <a:t>Consensus threshold</a:t>
            </a:r>
            <a:endParaRPr lang="en-US" sz="1150" dirty="0"/>
          </a:p>
        </p:txBody>
      </p:sp>
      <p:sp>
        <p:nvSpPr>
          <p:cNvPr id="17" name="s9tbl-r2c1"/>
          <p:cNvSpPr txBox="1"/>
          <p:nvPr/>
        </p:nvSpPr>
        <p:spPr>
          <a:xfrm>
            <a:off x="3493008" y="3163824"/>
            <a:ext cx="4023360" cy="457200"/>
          </a:xfrm>
          <a:prstGeom prst="rect">
            <a:avLst/>
          </a:prstGeom>
          <a:noFill/>
          <a:ln/>
        </p:spPr>
        <p:txBody>
          <a:bodyPr wrap="square" lIns="0" tIns="0" rIns="0" bIns="0" rtlCol="0" anchor="ctr"/>
          <a:lstStyle/>
          <a:p>
            <a:pPr algn="l" indent="0" marL="0">
              <a:buNone/>
            </a:pPr>
            <a:r>
              <a:rPr lang="en-US" sz="1150" dirty="0">
                <a:solidFill>
                  <a:schemeClr val="accent5"/>
                </a:solidFill>
              </a:rPr>
              <a:t>2f+1 of n = 3f+1, plus a view change</a:t>
            </a:r>
            <a:endParaRPr lang="en-US" sz="1150" dirty="0"/>
          </a:p>
        </p:txBody>
      </p:sp>
      <p:sp>
        <p:nvSpPr>
          <p:cNvPr id="18" name="s9tbl-r2c2"/>
          <p:cNvSpPr txBox="1"/>
          <p:nvPr/>
        </p:nvSpPr>
        <p:spPr>
          <a:xfrm>
            <a:off x="7516368" y="3163824"/>
            <a:ext cx="4078224" cy="457200"/>
          </a:xfrm>
          <a:prstGeom prst="rect">
            <a:avLst/>
          </a:prstGeom>
          <a:noFill/>
          <a:ln/>
        </p:spPr>
        <p:txBody>
          <a:bodyPr wrap="square" lIns="0" tIns="0" rIns="0" bIns="0" rtlCol="0" anchor="ctr"/>
          <a:lstStyle/>
          <a:p>
            <a:pPr algn="l" indent="0" marL="0">
              <a:buNone/>
            </a:pPr>
            <a:r>
              <a:rPr lang="en-US" sz="1150" dirty="0">
                <a:solidFill>
                  <a:schemeClr val="accent5"/>
                </a:solidFill>
              </a:rPr>
              <a:t>“A threshold fraction” is not a number</a:t>
            </a:r>
            <a:endParaRPr lang="en-US" sz="1150" dirty="0"/>
          </a:p>
        </p:txBody>
      </p:sp>
      <p:sp>
        <p:nvSpPr>
          <p:cNvPr id="19" name="s9tbl-r3c0"/>
          <p:cNvSpPr txBox="1"/>
          <p:nvPr/>
        </p:nvSpPr>
        <p:spPr>
          <a:xfrm>
            <a:off x="566928" y="3657600"/>
            <a:ext cx="2926080" cy="457200"/>
          </a:xfrm>
          <a:prstGeom prst="rect">
            <a:avLst/>
          </a:prstGeom>
          <a:noFill/>
          <a:ln/>
        </p:spPr>
        <p:txBody>
          <a:bodyPr wrap="square" lIns="0" tIns="0" rIns="0" bIns="0" rtlCol="0" anchor="ctr"/>
          <a:lstStyle/>
          <a:p>
            <a:pPr algn="l" indent="0" marL="0">
              <a:buNone/>
            </a:pPr>
            <a:r>
              <a:rPr lang="en-US" sz="1150" b="1" dirty="0">
                <a:solidFill>
                  <a:schemeClr val="bg1"/>
                </a:solidFill>
              </a:rPr>
              <a:t>Signature and feature schema</a:t>
            </a:r>
            <a:endParaRPr lang="en-US" sz="1150" dirty="0"/>
          </a:p>
        </p:txBody>
      </p:sp>
      <p:sp>
        <p:nvSpPr>
          <p:cNvPr id="20" name="s9tbl-r3c1"/>
          <p:cNvSpPr txBox="1"/>
          <p:nvPr/>
        </p:nvSpPr>
        <p:spPr>
          <a:xfrm>
            <a:off x="3493008" y="3657600"/>
            <a:ext cx="4023360" cy="457200"/>
          </a:xfrm>
          <a:prstGeom prst="rect">
            <a:avLst/>
          </a:prstGeom>
          <a:noFill/>
          <a:ln/>
        </p:spPr>
        <p:txBody>
          <a:bodyPr wrap="square" lIns="0" tIns="0" rIns="0" bIns="0" rtlCol="0" anchor="ctr"/>
          <a:lstStyle/>
          <a:p>
            <a:pPr algn="l" indent="0" marL="0">
              <a:buNone/>
            </a:pPr>
            <a:r>
              <a:rPr lang="en-US" sz="1150" dirty="0">
                <a:solidFill>
                  <a:schemeClr val="accent5"/>
                </a:solidFill>
              </a:rPr>
              <a:t>22 features, 7 groups, ceiling 0.85</a:t>
            </a:r>
            <a:endParaRPr lang="en-US" sz="1150" dirty="0"/>
          </a:p>
        </p:txBody>
      </p:sp>
      <p:sp>
        <p:nvSpPr>
          <p:cNvPr id="21" name="s9tbl-r3c2"/>
          <p:cNvSpPr txBox="1"/>
          <p:nvPr/>
        </p:nvSpPr>
        <p:spPr>
          <a:xfrm>
            <a:off x="7516368" y="3657600"/>
            <a:ext cx="4078224" cy="457200"/>
          </a:xfrm>
          <a:prstGeom prst="rect">
            <a:avLst/>
          </a:prstGeom>
          <a:noFill/>
          <a:ln/>
        </p:spPr>
        <p:txBody>
          <a:bodyPr wrap="square" lIns="0" tIns="0" rIns="0" bIns="0" rtlCol="0" anchor="ctr"/>
          <a:lstStyle/>
          <a:p>
            <a:pPr algn="l" indent="0" marL="0">
              <a:buNone/>
            </a:pPr>
            <a:r>
              <a:rPr lang="en-US" sz="1150" dirty="0">
                <a:solidFill>
                  <a:schemeClr val="accent5"/>
                </a:solidFill>
              </a:rPr>
              <a:t>Phase 3 has no input without it</a:t>
            </a:r>
            <a:endParaRPr lang="en-US" sz="1150" dirty="0"/>
          </a:p>
        </p:txBody>
      </p:sp>
      <p:sp>
        <p:nvSpPr>
          <p:cNvPr id="22" name="s9tbl-band4"/>
          <p:cNvSpPr/>
          <p:nvPr/>
        </p:nvSpPr>
        <p:spPr>
          <a:xfrm>
            <a:off x="457200" y="4151376"/>
            <a:ext cx="11247120" cy="457200"/>
          </a:xfrm>
          <a:prstGeom prst="roundRect">
            <a:avLst>
              <a:gd name="adj" fmla="val 8000"/>
            </a:avLst>
          </a:prstGeom>
          <a:solidFill>
            <a:schemeClr val="tx2"/>
          </a:solidFill>
          <a:ln/>
        </p:spPr>
      </p:sp>
      <p:sp>
        <p:nvSpPr>
          <p:cNvPr id="23" name="s9tbl-r4c0"/>
          <p:cNvSpPr txBox="1"/>
          <p:nvPr/>
        </p:nvSpPr>
        <p:spPr>
          <a:xfrm>
            <a:off x="566928" y="4151376"/>
            <a:ext cx="2926080" cy="457200"/>
          </a:xfrm>
          <a:prstGeom prst="rect">
            <a:avLst/>
          </a:prstGeom>
          <a:noFill/>
          <a:ln/>
        </p:spPr>
        <p:txBody>
          <a:bodyPr wrap="square" lIns="0" tIns="0" rIns="0" bIns="0" rtlCol="0" anchor="ctr"/>
          <a:lstStyle/>
          <a:p>
            <a:pPr algn="l" indent="0" marL="0">
              <a:buNone/>
            </a:pPr>
            <a:r>
              <a:rPr lang="en-US" sz="1150" b="1" dirty="0">
                <a:solidFill>
                  <a:schemeClr val="bg1"/>
                </a:solidFill>
              </a:rPr>
              <a:t>Mitigation case selection</a:t>
            </a:r>
            <a:endParaRPr lang="en-US" sz="1150" dirty="0"/>
          </a:p>
        </p:txBody>
      </p:sp>
      <p:sp>
        <p:nvSpPr>
          <p:cNvPr id="24" name="s9tbl-r4c1"/>
          <p:cNvSpPr txBox="1"/>
          <p:nvPr/>
        </p:nvSpPr>
        <p:spPr>
          <a:xfrm>
            <a:off x="3493008" y="4151376"/>
            <a:ext cx="4023360" cy="457200"/>
          </a:xfrm>
          <a:prstGeom prst="rect">
            <a:avLst/>
          </a:prstGeom>
          <a:noFill/>
          <a:ln/>
        </p:spPr>
        <p:txBody>
          <a:bodyPr wrap="square" lIns="0" tIns="0" rIns="0" bIns="0" rtlCol="0" anchor="ctr"/>
          <a:lstStyle/>
          <a:p>
            <a:pPr algn="l" indent="0" marL="0">
              <a:buNone/>
            </a:pPr>
            <a:r>
              <a:rPr lang="en-US" sz="1150" dirty="0">
                <a:solidFill>
                  <a:schemeClr val="accent5"/>
                </a:solidFill>
              </a:rPr>
              <a:t>Supplied by the caller, never inferred</a:t>
            </a:r>
            <a:endParaRPr lang="en-US" sz="1150" dirty="0"/>
          </a:p>
        </p:txBody>
      </p:sp>
      <p:sp>
        <p:nvSpPr>
          <p:cNvPr id="25" name="s9tbl-r4c2"/>
          <p:cNvSpPr txBox="1"/>
          <p:nvPr/>
        </p:nvSpPr>
        <p:spPr>
          <a:xfrm>
            <a:off x="7516368" y="4151376"/>
            <a:ext cx="4078224" cy="457200"/>
          </a:xfrm>
          <a:prstGeom prst="rect">
            <a:avLst/>
          </a:prstGeom>
          <a:noFill/>
          <a:ln/>
        </p:spPr>
        <p:txBody>
          <a:bodyPr wrap="square" lIns="0" tIns="0" rIns="0" bIns="0" rtlCol="0" anchor="ctr"/>
          <a:lstStyle/>
          <a:p>
            <a:pPr algn="l" indent="0" marL="0">
              <a:buNone/>
            </a:pPr>
            <a:r>
              <a:rPr lang="en-US" sz="1150" dirty="0">
                <a:solidFill>
                  <a:schemeClr val="accent5"/>
                </a:solidFill>
              </a:rPr>
              <a:t>No rule is given; we declined to invent one</a:t>
            </a:r>
            <a:endParaRPr lang="en-US" sz="1150" dirty="0"/>
          </a:p>
        </p:txBody>
      </p:sp>
      <p:sp>
        <p:nvSpPr>
          <p:cNvPr id="26" name="s9tbl-r5c0"/>
          <p:cNvSpPr txBox="1"/>
          <p:nvPr/>
        </p:nvSpPr>
        <p:spPr>
          <a:xfrm>
            <a:off x="566928" y="4645152"/>
            <a:ext cx="2926080" cy="457200"/>
          </a:xfrm>
          <a:prstGeom prst="rect">
            <a:avLst/>
          </a:prstGeom>
          <a:noFill/>
          <a:ln/>
        </p:spPr>
        <p:txBody>
          <a:bodyPr wrap="square" lIns="0" tIns="0" rIns="0" bIns="0" rtlCol="0" anchor="ctr"/>
          <a:lstStyle/>
          <a:p>
            <a:pPr algn="l" indent="0" marL="0">
              <a:buNone/>
            </a:pPr>
            <a:r>
              <a:rPr lang="en-US" sz="1150" b="1" dirty="0">
                <a:solidFill>
                  <a:schemeClr val="bg1"/>
                </a:solidFill>
              </a:rPr>
              <a:t>Second cloud server</a:t>
            </a:r>
            <a:endParaRPr lang="en-US" sz="1150" dirty="0"/>
          </a:p>
        </p:txBody>
      </p:sp>
      <p:sp>
        <p:nvSpPr>
          <p:cNvPr id="27" name="s9tbl-r5c1"/>
          <p:cNvSpPr txBox="1"/>
          <p:nvPr/>
        </p:nvSpPr>
        <p:spPr>
          <a:xfrm>
            <a:off x="3493008" y="4645152"/>
            <a:ext cx="4023360" cy="457200"/>
          </a:xfrm>
          <a:prstGeom prst="rect">
            <a:avLst/>
          </a:prstGeom>
          <a:noFill/>
          <a:ln/>
        </p:spPr>
        <p:txBody>
          <a:bodyPr wrap="square" lIns="0" tIns="0" rIns="0" bIns="0" rtlCol="0" anchor="ctr"/>
          <a:lstStyle/>
          <a:p>
            <a:pPr algn="l" indent="0" marL="0">
              <a:buNone/>
            </a:pPr>
            <a:r>
              <a:rPr lang="en-US" sz="1150" dirty="0">
                <a:solidFill>
                  <a:schemeClr val="accent5"/>
                </a:solidFill>
              </a:rPr>
              <a:t>The key holder from Phase 1</a:t>
            </a:r>
            <a:endParaRPr lang="en-US" sz="1150" dirty="0"/>
          </a:p>
        </p:txBody>
      </p:sp>
      <p:sp>
        <p:nvSpPr>
          <p:cNvPr id="28" name="s9tbl-r5c2"/>
          <p:cNvSpPr txBox="1"/>
          <p:nvPr/>
        </p:nvSpPr>
        <p:spPr>
          <a:xfrm>
            <a:off x="7516368" y="4645152"/>
            <a:ext cx="4078224" cy="457200"/>
          </a:xfrm>
          <a:prstGeom prst="rect">
            <a:avLst/>
          </a:prstGeom>
          <a:noFill/>
          <a:ln/>
        </p:spPr>
        <p:txBody>
          <a:bodyPr wrap="square" lIns="0" tIns="0" rIns="0" bIns="0" rtlCol="0" anchor="ctr"/>
          <a:lstStyle/>
          <a:p>
            <a:pPr algn="l" indent="0" marL="0">
              <a:buNone/>
            </a:pPr>
            <a:r>
              <a:rPr lang="en-US" sz="1150" dirty="0">
                <a:solidFill>
                  <a:schemeClr val="accent5"/>
                </a:solidFill>
              </a:rPr>
              <a:t>Never defined; the only consistent reading</a:t>
            </a:r>
            <a:endParaRPr lang="en-US" sz="1150" dirty="0"/>
          </a:p>
        </p:txBody>
      </p:sp>
      <p:sp>
        <p:nvSpPr>
          <p:cNvPr id="29" name="o6-panel"/>
          <p:cNvSpPr/>
          <p:nvPr/>
        </p:nvSpPr>
        <p:spPr>
          <a:xfrm>
            <a:off x="566928" y="5340096"/>
            <a:ext cx="11027664" cy="786384"/>
          </a:xfrm>
          <a:prstGeom prst="roundRect">
            <a:avLst>
              <a:gd name="adj" fmla="val 6977"/>
            </a:avLst>
          </a:prstGeom>
          <a:solidFill>
            <a:schemeClr val="accent1"/>
          </a:solidFill>
          <a:ln/>
        </p:spPr>
      </p:sp>
      <p:sp>
        <p:nvSpPr>
          <p:cNvPr id="30" name="o6-text"/>
          <p:cNvSpPr txBox="1"/>
          <p:nvPr/>
        </p:nvSpPr>
        <p:spPr>
          <a:xfrm>
            <a:off x="841248" y="5340096"/>
            <a:ext cx="10479024" cy="786384"/>
          </a:xfrm>
          <a:prstGeom prst="rect">
            <a:avLst/>
          </a:prstGeom>
          <a:noFill/>
          <a:ln/>
        </p:spPr>
        <p:txBody>
          <a:bodyPr wrap="square" lIns="0" tIns="0" rIns="0" bIns="0" rtlCol="0" anchor="ctr"/>
          <a:lstStyle/>
          <a:p>
            <a:pPr indent="0" marL="0">
              <a:buNone/>
            </a:pPr>
            <a:r>
              <a:rPr lang="en-US" sz="1500" b="1" dirty="0">
                <a:solidFill>
                  <a:schemeClr val="bg1"/>
                </a:solidFill>
              </a:rPr>
              <a:t>Our numbers are reproducible from our configuration. The paper’s are not reproducible from its own.</a:t>
            </a:r>
            <a:endParaRPr lang="en-US" sz="150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REPRODUCTION — PAPER MODE</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Reproducing the detection results</a:t>
            </a:r>
            <a:endParaRPr lang="en-US" sz="2900" dirty="0"/>
          </a:p>
        </p:txBody>
      </p:sp>
      <p:sp>
        <p:nvSpPr>
          <p:cNvPr id="4" name="s9lede"/>
          <p:cNvSpPr txBox="1"/>
          <p:nvPr/>
        </p:nvSpPr>
        <p:spPr>
          <a:xfrm>
            <a:off x="566928" y="1371600"/>
            <a:ext cx="11027664" cy="310896"/>
          </a:xfrm>
          <a:prstGeom prst="rect">
            <a:avLst/>
          </a:prstGeom>
          <a:noFill/>
          <a:ln/>
        </p:spPr>
        <p:txBody>
          <a:bodyPr wrap="square" lIns="0" tIns="0" rIns="0" bIns="0" rtlCol="0" anchor="t"/>
          <a:lstStyle/>
          <a:p>
            <a:pPr indent="0" marL="0">
              <a:buNone/>
            </a:pPr>
            <a:r>
              <a:rPr lang="en-US" sz="1300" dirty="0">
                <a:solidFill>
                  <a:schemeClr val="accent5"/>
                </a:solidFill>
              </a:rPr>
              <a:t>90% ransomware / 10% benign resample, address-grouped split, 20 seeds per cell.</a:t>
            </a:r>
            <a:endParaRPr lang="en-US" sz="1300" dirty="0"/>
          </a:p>
        </p:txBody>
      </p:sp>
      <p:sp>
        <p:nvSpPr>
          <p:cNvPr id="5" name="s9tbl-h0"/>
          <p:cNvSpPr txBox="1"/>
          <p:nvPr/>
        </p:nvSpPr>
        <p:spPr>
          <a:xfrm>
            <a:off x="566928" y="1828800"/>
            <a:ext cx="420624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Model</a:t>
            </a:r>
            <a:endParaRPr lang="en-US" sz="1100" dirty="0"/>
          </a:p>
        </p:txBody>
      </p:sp>
      <p:sp>
        <p:nvSpPr>
          <p:cNvPr id="6" name="s9tbl-h1"/>
          <p:cNvSpPr txBox="1"/>
          <p:nvPr/>
        </p:nvSpPr>
        <p:spPr>
          <a:xfrm>
            <a:off x="4773168" y="1828800"/>
            <a:ext cx="228600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Paper acc.</a:t>
            </a:r>
            <a:endParaRPr lang="en-US" sz="1100" dirty="0"/>
          </a:p>
        </p:txBody>
      </p:sp>
      <p:sp>
        <p:nvSpPr>
          <p:cNvPr id="7" name="s9tbl-h2"/>
          <p:cNvSpPr txBox="1"/>
          <p:nvPr/>
        </p:nvSpPr>
        <p:spPr>
          <a:xfrm>
            <a:off x="7059168" y="1828800"/>
            <a:ext cx="228600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Our accuracy (20 seeds)</a:t>
            </a:r>
            <a:endParaRPr lang="en-US" sz="1100" dirty="0"/>
          </a:p>
        </p:txBody>
      </p:sp>
      <p:sp>
        <p:nvSpPr>
          <p:cNvPr id="8" name="s9tbl-h3"/>
          <p:cNvSpPr txBox="1"/>
          <p:nvPr/>
        </p:nvSpPr>
        <p:spPr>
          <a:xfrm>
            <a:off x="9345168" y="1828800"/>
            <a:ext cx="2249424"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False-positive rate</a:t>
            </a:r>
            <a:endParaRPr lang="en-US" sz="1100" dirty="0"/>
          </a:p>
        </p:txBody>
      </p:sp>
      <p:sp>
        <p:nvSpPr>
          <p:cNvPr id="9" name="s9tbl-band0"/>
          <p:cNvSpPr/>
          <p:nvPr/>
        </p:nvSpPr>
        <p:spPr>
          <a:xfrm>
            <a:off x="457200" y="2176272"/>
            <a:ext cx="11247120" cy="475488"/>
          </a:xfrm>
          <a:prstGeom prst="roundRect">
            <a:avLst>
              <a:gd name="adj" fmla="val 7692"/>
            </a:avLst>
          </a:prstGeom>
          <a:solidFill>
            <a:schemeClr val="accent3"/>
          </a:solidFill>
          <a:ln/>
        </p:spPr>
      </p:sp>
      <p:sp>
        <p:nvSpPr>
          <p:cNvPr id="10" name="s9tbl-r0c0"/>
          <p:cNvSpPr txBox="1"/>
          <p:nvPr/>
        </p:nvSpPr>
        <p:spPr>
          <a:xfrm>
            <a:off x="566928" y="2176272"/>
            <a:ext cx="4206240" cy="475488"/>
          </a:xfrm>
          <a:prstGeom prst="rect">
            <a:avLst/>
          </a:prstGeom>
          <a:noFill/>
          <a:ln/>
        </p:spPr>
        <p:txBody>
          <a:bodyPr wrap="square" lIns="0" tIns="0" rIns="0" bIns="0" rtlCol="0" anchor="ctr"/>
          <a:lstStyle/>
          <a:p>
            <a:pPr algn="l" indent="0" marL="0">
              <a:buNone/>
            </a:pPr>
            <a:r>
              <a:rPr lang="en-US" sz="1250" b="1" dirty="0">
                <a:solidFill>
                  <a:schemeClr val="bg1"/>
                </a:solidFill>
              </a:rPr>
              <a:t>Paper (decision tree)</a:t>
            </a:r>
            <a:endParaRPr lang="en-US" sz="1250" dirty="0"/>
          </a:p>
        </p:txBody>
      </p:sp>
      <p:sp>
        <p:nvSpPr>
          <p:cNvPr id="11" name="s9tbl-r0c1"/>
          <p:cNvSpPr txBox="1"/>
          <p:nvPr/>
        </p:nvSpPr>
        <p:spPr>
          <a:xfrm>
            <a:off x="4773168" y="2176272"/>
            <a:ext cx="2286000" cy="475488"/>
          </a:xfrm>
          <a:prstGeom prst="rect">
            <a:avLst/>
          </a:prstGeom>
          <a:noFill/>
          <a:ln/>
        </p:spPr>
        <p:txBody>
          <a:bodyPr wrap="square" lIns="0" tIns="0" rIns="0" bIns="0" rtlCol="0" anchor="ctr"/>
          <a:lstStyle/>
          <a:p>
            <a:pPr algn="r" indent="0" marL="0">
              <a:buNone/>
            </a:pPr>
            <a:r>
              <a:rPr lang="en-US" sz="1250" b="1" dirty="0">
                <a:solidFill>
                  <a:schemeClr val="bg1"/>
                </a:solidFill>
              </a:rPr>
              <a:t>98.98</a:t>
            </a:r>
            <a:endParaRPr lang="en-US" sz="1250" dirty="0"/>
          </a:p>
        </p:txBody>
      </p:sp>
      <p:sp>
        <p:nvSpPr>
          <p:cNvPr id="12" name="s9tbl-r0c2"/>
          <p:cNvSpPr txBox="1"/>
          <p:nvPr/>
        </p:nvSpPr>
        <p:spPr>
          <a:xfrm>
            <a:off x="7059168" y="2176272"/>
            <a:ext cx="2286000" cy="475488"/>
          </a:xfrm>
          <a:prstGeom prst="rect">
            <a:avLst/>
          </a:prstGeom>
          <a:noFill/>
          <a:ln/>
        </p:spPr>
        <p:txBody>
          <a:bodyPr wrap="square" lIns="0" tIns="0" rIns="0" bIns="0" rtlCol="0" anchor="ctr"/>
          <a:lstStyle/>
          <a:p>
            <a:pPr algn="r" indent="0" marL="0">
              <a:buNone/>
            </a:pPr>
            <a:r>
              <a:rPr lang="en-US" sz="1250" b="1" dirty="0">
                <a:solidFill>
                  <a:schemeClr val="bg1"/>
                </a:solidFill>
              </a:rPr>
              <a:t>—</a:t>
            </a:r>
            <a:endParaRPr lang="en-US" sz="1250" dirty="0"/>
          </a:p>
        </p:txBody>
      </p:sp>
      <p:sp>
        <p:nvSpPr>
          <p:cNvPr id="13" name="s9tbl-r0c3"/>
          <p:cNvSpPr txBox="1"/>
          <p:nvPr/>
        </p:nvSpPr>
        <p:spPr>
          <a:xfrm>
            <a:off x="9345168" y="2176272"/>
            <a:ext cx="2249424" cy="475488"/>
          </a:xfrm>
          <a:prstGeom prst="rect">
            <a:avLst/>
          </a:prstGeom>
          <a:noFill/>
          <a:ln/>
        </p:spPr>
        <p:txBody>
          <a:bodyPr wrap="square" lIns="0" tIns="0" rIns="0" bIns="0" rtlCol="0" anchor="ctr"/>
          <a:lstStyle/>
          <a:p>
            <a:pPr algn="r" indent="0" marL="0">
              <a:buNone/>
            </a:pPr>
            <a:r>
              <a:rPr lang="en-US" sz="1250" b="1" dirty="0">
                <a:solidFill>
                  <a:schemeClr val="bg1"/>
                </a:solidFill>
              </a:rPr>
              <a:t>—</a:t>
            </a:r>
            <a:endParaRPr lang="en-US" sz="1250" dirty="0"/>
          </a:p>
        </p:txBody>
      </p:sp>
      <p:sp>
        <p:nvSpPr>
          <p:cNvPr id="14" name="s9tbl-r1c0"/>
          <p:cNvSpPr txBox="1"/>
          <p:nvPr/>
        </p:nvSpPr>
        <p:spPr>
          <a:xfrm>
            <a:off x="566928" y="2688336"/>
            <a:ext cx="4206240" cy="475488"/>
          </a:xfrm>
          <a:prstGeom prst="rect">
            <a:avLst/>
          </a:prstGeom>
          <a:noFill/>
          <a:ln/>
        </p:spPr>
        <p:txBody>
          <a:bodyPr wrap="square" lIns="0" tIns="0" rIns="0" bIns="0" rtlCol="0" anchor="ctr"/>
          <a:lstStyle/>
          <a:p>
            <a:pPr algn="l" indent="0" marL="0">
              <a:buNone/>
            </a:pPr>
            <a:r>
              <a:rPr lang="en-US" sz="1250" b="1" dirty="0">
                <a:solidFill>
                  <a:schemeClr val="bg1"/>
                </a:solidFill>
              </a:rPr>
              <a:t>Random Forest — our best</a:t>
            </a:r>
            <a:endParaRPr lang="en-US" sz="1250" dirty="0"/>
          </a:p>
        </p:txBody>
      </p:sp>
      <p:sp>
        <p:nvSpPr>
          <p:cNvPr id="15" name="s9tbl-r1c1"/>
          <p:cNvSpPr txBox="1"/>
          <p:nvPr/>
        </p:nvSpPr>
        <p:spPr>
          <a:xfrm>
            <a:off x="4773168" y="2688336"/>
            <a:ext cx="2286000" cy="475488"/>
          </a:xfrm>
          <a:prstGeom prst="rect">
            <a:avLst/>
          </a:prstGeom>
          <a:noFill/>
          <a:ln/>
        </p:spPr>
        <p:txBody>
          <a:bodyPr wrap="square" lIns="0" tIns="0" rIns="0" bIns="0" rtlCol="0" anchor="ctr"/>
          <a:lstStyle/>
          <a:p>
            <a:pPr algn="r" indent="0" marL="0">
              <a:buNone/>
            </a:pPr>
            <a:r>
              <a:rPr lang="en-US" sz="1250" dirty="0">
                <a:solidFill>
                  <a:schemeClr val="accent5"/>
                </a:solidFill>
              </a:rPr>
              <a:t>—</a:t>
            </a:r>
            <a:endParaRPr lang="en-US" sz="1250" dirty="0"/>
          </a:p>
        </p:txBody>
      </p:sp>
      <p:sp>
        <p:nvSpPr>
          <p:cNvPr id="16" name="s9tbl-r1c2"/>
          <p:cNvSpPr txBox="1"/>
          <p:nvPr/>
        </p:nvSpPr>
        <p:spPr>
          <a:xfrm>
            <a:off x="7059168" y="2688336"/>
            <a:ext cx="2286000" cy="475488"/>
          </a:xfrm>
          <a:prstGeom prst="rect">
            <a:avLst/>
          </a:prstGeom>
          <a:noFill/>
          <a:ln/>
        </p:spPr>
        <p:txBody>
          <a:bodyPr wrap="square" lIns="0" tIns="0" rIns="0" bIns="0" rtlCol="0" anchor="ctr"/>
          <a:lstStyle/>
          <a:p>
            <a:pPr algn="r" indent="0" marL="0">
              <a:buNone/>
            </a:pPr>
            <a:r>
              <a:rPr lang="en-US" sz="1250" dirty="0">
                <a:solidFill>
                  <a:schemeClr val="accent5"/>
                </a:solidFill>
              </a:rPr>
              <a:t>94.12</a:t>
            </a:r>
            <a:endParaRPr lang="en-US" sz="1250" dirty="0"/>
          </a:p>
        </p:txBody>
      </p:sp>
      <p:sp>
        <p:nvSpPr>
          <p:cNvPr id="17" name="s9tbl-r1c3"/>
          <p:cNvSpPr txBox="1"/>
          <p:nvPr/>
        </p:nvSpPr>
        <p:spPr>
          <a:xfrm>
            <a:off x="9345168" y="2688336"/>
            <a:ext cx="2249424" cy="475488"/>
          </a:xfrm>
          <a:prstGeom prst="rect">
            <a:avLst/>
          </a:prstGeom>
          <a:noFill/>
          <a:ln/>
        </p:spPr>
        <p:txBody>
          <a:bodyPr wrap="square" lIns="0" tIns="0" rIns="0" bIns="0" rtlCol="0" anchor="ctr"/>
          <a:lstStyle/>
          <a:p>
            <a:pPr algn="r" indent="0" marL="0">
              <a:buNone/>
            </a:pPr>
            <a:r>
              <a:rPr lang="en-US" sz="1250" dirty="0">
                <a:solidFill>
                  <a:schemeClr val="accent5"/>
                </a:solidFill>
              </a:rPr>
              <a:t>45.6%</a:t>
            </a:r>
            <a:endParaRPr lang="en-US" sz="1250" dirty="0"/>
          </a:p>
        </p:txBody>
      </p:sp>
      <p:sp>
        <p:nvSpPr>
          <p:cNvPr id="18" name="s9tbl-band2"/>
          <p:cNvSpPr/>
          <p:nvPr/>
        </p:nvSpPr>
        <p:spPr>
          <a:xfrm>
            <a:off x="457200" y="3200400"/>
            <a:ext cx="11247120" cy="475488"/>
          </a:xfrm>
          <a:prstGeom prst="roundRect">
            <a:avLst>
              <a:gd name="adj" fmla="val 7692"/>
            </a:avLst>
          </a:prstGeom>
          <a:solidFill>
            <a:schemeClr val="tx2"/>
          </a:solidFill>
          <a:ln/>
        </p:spPr>
      </p:sp>
      <p:sp>
        <p:nvSpPr>
          <p:cNvPr id="19" name="s9tbl-r2c0"/>
          <p:cNvSpPr txBox="1"/>
          <p:nvPr/>
        </p:nvSpPr>
        <p:spPr>
          <a:xfrm>
            <a:off x="566928" y="3200400"/>
            <a:ext cx="4206240" cy="475488"/>
          </a:xfrm>
          <a:prstGeom prst="rect">
            <a:avLst/>
          </a:prstGeom>
          <a:noFill/>
          <a:ln/>
        </p:spPr>
        <p:txBody>
          <a:bodyPr wrap="square" lIns="0" tIns="0" rIns="0" bIns="0" rtlCol="0" anchor="ctr"/>
          <a:lstStyle/>
          <a:p>
            <a:pPr algn="l" indent="0" marL="0">
              <a:buNone/>
            </a:pPr>
            <a:r>
              <a:rPr lang="en-US" sz="1250" b="1" dirty="0">
                <a:solidFill>
                  <a:schemeClr val="bg1"/>
                </a:solidFill>
              </a:rPr>
              <a:t>Decision Tree — paper's model</a:t>
            </a:r>
            <a:endParaRPr lang="en-US" sz="1250" dirty="0"/>
          </a:p>
        </p:txBody>
      </p:sp>
      <p:sp>
        <p:nvSpPr>
          <p:cNvPr id="20" name="s9tbl-r2c1"/>
          <p:cNvSpPr txBox="1"/>
          <p:nvPr/>
        </p:nvSpPr>
        <p:spPr>
          <a:xfrm>
            <a:off x="4773168" y="3200400"/>
            <a:ext cx="2286000" cy="475488"/>
          </a:xfrm>
          <a:prstGeom prst="rect">
            <a:avLst/>
          </a:prstGeom>
          <a:noFill/>
          <a:ln/>
        </p:spPr>
        <p:txBody>
          <a:bodyPr wrap="square" lIns="0" tIns="0" rIns="0" bIns="0" rtlCol="0" anchor="ctr"/>
          <a:lstStyle/>
          <a:p>
            <a:pPr algn="r" indent="0" marL="0">
              <a:buNone/>
            </a:pPr>
            <a:r>
              <a:rPr lang="en-US" sz="1250" dirty="0">
                <a:solidFill>
                  <a:schemeClr val="accent5"/>
                </a:solidFill>
              </a:rPr>
              <a:t>—</a:t>
            </a:r>
            <a:endParaRPr lang="en-US" sz="1250" dirty="0"/>
          </a:p>
        </p:txBody>
      </p:sp>
      <p:sp>
        <p:nvSpPr>
          <p:cNvPr id="21" name="s9tbl-r2c2"/>
          <p:cNvSpPr txBox="1"/>
          <p:nvPr/>
        </p:nvSpPr>
        <p:spPr>
          <a:xfrm>
            <a:off x="7059168" y="3200400"/>
            <a:ext cx="2286000" cy="475488"/>
          </a:xfrm>
          <a:prstGeom prst="rect">
            <a:avLst/>
          </a:prstGeom>
          <a:noFill/>
          <a:ln/>
        </p:spPr>
        <p:txBody>
          <a:bodyPr wrap="square" lIns="0" tIns="0" rIns="0" bIns="0" rtlCol="0" anchor="ctr"/>
          <a:lstStyle/>
          <a:p>
            <a:pPr algn="r" indent="0" marL="0">
              <a:buNone/>
            </a:pPr>
            <a:r>
              <a:rPr lang="en-US" sz="1250" dirty="0">
                <a:solidFill>
                  <a:schemeClr val="accent5"/>
                </a:solidFill>
              </a:rPr>
              <a:t>91.73</a:t>
            </a:r>
            <a:endParaRPr lang="en-US" sz="1250" dirty="0"/>
          </a:p>
        </p:txBody>
      </p:sp>
      <p:sp>
        <p:nvSpPr>
          <p:cNvPr id="22" name="s9tbl-r2c3"/>
          <p:cNvSpPr txBox="1"/>
          <p:nvPr/>
        </p:nvSpPr>
        <p:spPr>
          <a:xfrm>
            <a:off x="9345168" y="3200400"/>
            <a:ext cx="2249424" cy="475488"/>
          </a:xfrm>
          <a:prstGeom prst="rect">
            <a:avLst/>
          </a:prstGeom>
          <a:noFill/>
          <a:ln/>
        </p:spPr>
        <p:txBody>
          <a:bodyPr wrap="square" lIns="0" tIns="0" rIns="0" bIns="0" rtlCol="0" anchor="ctr"/>
          <a:lstStyle/>
          <a:p>
            <a:pPr algn="r" indent="0" marL="0">
              <a:buNone/>
            </a:pPr>
            <a:r>
              <a:rPr lang="en-US" sz="1250" dirty="0">
                <a:solidFill>
                  <a:schemeClr val="accent5"/>
                </a:solidFill>
              </a:rPr>
              <a:t>37.0%</a:t>
            </a:r>
            <a:endParaRPr lang="en-US" sz="1250" dirty="0"/>
          </a:p>
        </p:txBody>
      </p:sp>
      <p:sp>
        <p:nvSpPr>
          <p:cNvPr id="23" name="s9tbl-r3c0"/>
          <p:cNvSpPr txBox="1"/>
          <p:nvPr/>
        </p:nvSpPr>
        <p:spPr>
          <a:xfrm>
            <a:off x="566928" y="3712464"/>
            <a:ext cx="4206240" cy="475488"/>
          </a:xfrm>
          <a:prstGeom prst="rect">
            <a:avLst/>
          </a:prstGeom>
          <a:noFill/>
          <a:ln/>
        </p:spPr>
        <p:txBody>
          <a:bodyPr wrap="square" lIns="0" tIns="0" rIns="0" bIns="0" rtlCol="0" anchor="ctr"/>
          <a:lstStyle/>
          <a:p>
            <a:pPr algn="l" indent="0" marL="0">
              <a:buNone/>
            </a:pPr>
            <a:r>
              <a:rPr lang="en-US" sz="1250" b="1" dirty="0">
                <a:solidFill>
                  <a:schemeClr val="bg1"/>
                </a:solidFill>
              </a:rPr>
              <a:t>Always-ransomware baseline</a:t>
            </a:r>
            <a:endParaRPr lang="en-US" sz="1250" dirty="0"/>
          </a:p>
        </p:txBody>
      </p:sp>
      <p:sp>
        <p:nvSpPr>
          <p:cNvPr id="24" name="s9tbl-r3c1"/>
          <p:cNvSpPr txBox="1"/>
          <p:nvPr/>
        </p:nvSpPr>
        <p:spPr>
          <a:xfrm>
            <a:off x="4773168" y="3712464"/>
            <a:ext cx="2286000" cy="475488"/>
          </a:xfrm>
          <a:prstGeom prst="rect">
            <a:avLst/>
          </a:prstGeom>
          <a:noFill/>
          <a:ln/>
        </p:spPr>
        <p:txBody>
          <a:bodyPr wrap="square" lIns="0" tIns="0" rIns="0" bIns="0" rtlCol="0" anchor="ctr"/>
          <a:lstStyle/>
          <a:p>
            <a:pPr algn="r" indent="0" marL="0">
              <a:buNone/>
            </a:pPr>
            <a:r>
              <a:rPr lang="en-US" sz="1250" dirty="0">
                <a:solidFill>
                  <a:schemeClr val="accent5"/>
                </a:solidFill>
              </a:rPr>
              <a:t>—</a:t>
            </a:r>
            <a:endParaRPr lang="en-US" sz="1250" dirty="0"/>
          </a:p>
        </p:txBody>
      </p:sp>
      <p:sp>
        <p:nvSpPr>
          <p:cNvPr id="25" name="s9tbl-r3c2"/>
          <p:cNvSpPr txBox="1"/>
          <p:nvPr/>
        </p:nvSpPr>
        <p:spPr>
          <a:xfrm>
            <a:off x="7059168" y="3712464"/>
            <a:ext cx="2286000" cy="475488"/>
          </a:xfrm>
          <a:prstGeom prst="rect">
            <a:avLst/>
          </a:prstGeom>
          <a:noFill/>
          <a:ln/>
        </p:spPr>
        <p:txBody>
          <a:bodyPr wrap="square" lIns="0" tIns="0" rIns="0" bIns="0" rtlCol="0" anchor="ctr"/>
          <a:lstStyle/>
          <a:p>
            <a:pPr algn="r" indent="0" marL="0">
              <a:buNone/>
            </a:pPr>
            <a:r>
              <a:rPr lang="en-US" sz="1250" dirty="0">
                <a:solidFill>
                  <a:schemeClr val="accent5"/>
                </a:solidFill>
              </a:rPr>
              <a:t>90.01</a:t>
            </a:r>
            <a:endParaRPr lang="en-US" sz="1250" dirty="0"/>
          </a:p>
        </p:txBody>
      </p:sp>
      <p:sp>
        <p:nvSpPr>
          <p:cNvPr id="26" name="s9tbl-r3c3"/>
          <p:cNvSpPr txBox="1"/>
          <p:nvPr/>
        </p:nvSpPr>
        <p:spPr>
          <a:xfrm>
            <a:off x="9345168" y="3712464"/>
            <a:ext cx="2249424" cy="475488"/>
          </a:xfrm>
          <a:prstGeom prst="rect">
            <a:avLst/>
          </a:prstGeom>
          <a:noFill/>
          <a:ln/>
        </p:spPr>
        <p:txBody>
          <a:bodyPr wrap="square" lIns="0" tIns="0" rIns="0" bIns="0" rtlCol="0" anchor="ctr"/>
          <a:lstStyle/>
          <a:p>
            <a:pPr algn="r" indent="0" marL="0">
              <a:buNone/>
            </a:pPr>
            <a:r>
              <a:rPr lang="en-US" sz="1250" dirty="0">
                <a:solidFill>
                  <a:schemeClr val="accent5"/>
                </a:solidFill>
              </a:rPr>
              <a:t>100%</a:t>
            </a:r>
            <a:endParaRPr lang="en-US" sz="1250" dirty="0"/>
          </a:p>
        </p:txBody>
      </p:sp>
      <p:sp>
        <p:nvSpPr>
          <p:cNvPr id="27" name="o7-panel"/>
          <p:cNvSpPr/>
          <p:nvPr/>
        </p:nvSpPr>
        <p:spPr>
          <a:xfrm>
            <a:off x="566928" y="4572000"/>
            <a:ext cx="11027664" cy="1005840"/>
          </a:xfrm>
          <a:prstGeom prst="roundRect">
            <a:avLst>
              <a:gd name="adj" fmla="val 5455"/>
            </a:avLst>
          </a:prstGeom>
          <a:solidFill>
            <a:schemeClr val="accent1"/>
          </a:solidFill>
          <a:ln/>
        </p:spPr>
      </p:sp>
      <p:sp>
        <p:nvSpPr>
          <p:cNvPr id="28" name="o7-text"/>
          <p:cNvSpPr txBox="1"/>
          <p:nvPr/>
        </p:nvSpPr>
        <p:spPr>
          <a:xfrm>
            <a:off x="841248" y="4572000"/>
            <a:ext cx="10479024" cy="1005840"/>
          </a:xfrm>
          <a:prstGeom prst="rect">
            <a:avLst/>
          </a:prstGeom>
          <a:noFill/>
          <a:ln/>
        </p:spPr>
        <p:txBody>
          <a:bodyPr wrap="square" lIns="0" tIns="0" rIns="0" bIns="0" rtlCol="0" anchor="ctr"/>
          <a:lstStyle/>
          <a:p>
            <a:pPr indent="0" marL="0">
              <a:buNone/>
            </a:pPr>
            <a:r>
              <a:rPr lang="en-US" sz="1450" b="1" dirty="0">
                <a:solidFill>
                  <a:schemeClr val="bg1"/>
                </a:solidFill>
              </a:rPr>
              <a:t>A classifier that answers “always ransomware”, reading zero features, already scores 90.01% on this split. Our best model sits 4.1 points above it, and flags 46% of benign rows to get there.</a:t>
            </a:r>
            <a:endParaRPr lang="en-US" sz="1450" dirty="0"/>
          </a:p>
        </p:txBody>
      </p:sp>
      <p:sp>
        <p:nvSpPr>
          <p:cNvPr id="29" name="s9close"/>
          <p:cNvSpPr txBox="1"/>
          <p:nvPr/>
        </p:nvSpPr>
        <p:spPr>
          <a:xfrm>
            <a:off x="566928" y="5705856"/>
            <a:ext cx="11027664" cy="457200"/>
          </a:xfrm>
          <a:prstGeom prst="rect">
            <a:avLst/>
          </a:prstGeom>
          <a:noFill/>
          <a:ln/>
        </p:spPr>
        <p:txBody>
          <a:bodyPr wrap="square" lIns="0" tIns="0" rIns="0" bIns="0" rtlCol="0" anchor="t"/>
          <a:lstStyle/>
          <a:p>
            <a:pPr indent="0" marL="0">
              <a:buNone/>
            </a:pPr>
            <a:r>
              <a:rPr lang="en-US" sz="1300" dirty="0">
                <a:solidFill>
                  <a:schemeClr val="bg1"/>
                </a:solidFill>
              </a:rPr>
              <a:t>To reach 98.98% on a 90/10 test set, the false-positive rate would have to be at most 10.2% — even with nothing missed. Logistic regression and k-NN ran unscaled and are not a fair test of those algorithms.</a:t>
            </a:r>
            <a:endParaRPr lang="en-US" sz="130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HONEST MODE</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At the natural class balance</a:t>
            </a:r>
            <a:endParaRPr lang="en-US" sz="2900" dirty="0"/>
          </a:p>
        </p:txBody>
      </p:sp>
      <p:sp>
        <p:nvSpPr>
          <p:cNvPr id="4" name="s10lede"/>
          <p:cNvSpPr txBox="1"/>
          <p:nvPr/>
        </p:nvSpPr>
        <p:spPr>
          <a:xfrm>
            <a:off x="566928" y="1371600"/>
            <a:ext cx="11027664" cy="310896"/>
          </a:xfrm>
          <a:prstGeom prst="rect">
            <a:avLst/>
          </a:prstGeom>
          <a:noFill/>
          <a:ln/>
        </p:spPr>
        <p:txBody>
          <a:bodyPr wrap="square" lIns="0" tIns="0" rIns="0" bIns="0" rtlCol="0" anchor="t"/>
          <a:lstStyle/>
          <a:p>
            <a:pPr indent="0" marL="0">
              <a:buNone/>
            </a:pPr>
            <a:r>
              <a:rPr lang="en-US" sz="1300" dirty="0">
                <a:solidFill>
                  <a:schemeClr val="accent5"/>
                </a:solidFill>
              </a:rPr>
              <a:t>1.42% ransomware, 98.58% benign — the real distribution, full 2,916,697 rows.</a:t>
            </a:r>
            <a:endParaRPr lang="en-US" sz="1300" dirty="0"/>
          </a:p>
        </p:txBody>
      </p:sp>
      <p:sp>
        <p:nvSpPr>
          <p:cNvPr id="5" name="s10s1-v"/>
          <p:cNvSpPr txBox="1"/>
          <p:nvPr/>
        </p:nvSpPr>
        <p:spPr>
          <a:xfrm>
            <a:off x="566928" y="1810512"/>
            <a:ext cx="2651760" cy="658368"/>
          </a:xfrm>
          <a:prstGeom prst="rect">
            <a:avLst/>
          </a:prstGeom>
          <a:noFill/>
          <a:ln/>
        </p:spPr>
        <p:txBody>
          <a:bodyPr wrap="square" lIns="0" tIns="0" rIns="0" bIns="0" rtlCol="0" anchor="b"/>
          <a:lstStyle/>
          <a:p>
            <a:pPr algn="l" indent="0" marL="0">
              <a:buNone/>
            </a:pPr>
            <a:r>
              <a:rPr lang="en-US" sz="3800" b="1" dirty="0">
                <a:solidFill>
                  <a:schemeClr val="accent1"/>
                </a:solidFill>
              </a:rPr>
              <a:t>0.458</a:t>
            </a:r>
            <a:endParaRPr lang="en-US" sz="3800" dirty="0"/>
          </a:p>
        </p:txBody>
      </p:sp>
      <p:sp>
        <p:nvSpPr>
          <p:cNvPr id="6" name="s10s1-l"/>
          <p:cNvSpPr txBox="1"/>
          <p:nvPr/>
        </p:nvSpPr>
        <p:spPr>
          <a:xfrm>
            <a:off x="566928" y="2505456"/>
            <a:ext cx="2651760" cy="457200"/>
          </a:xfrm>
          <a:prstGeom prst="rect">
            <a:avLst/>
          </a:prstGeom>
          <a:noFill/>
          <a:ln/>
        </p:spPr>
        <p:txBody>
          <a:bodyPr wrap="square" lIns="0" tIns="0" rIns="0" bIns="0" rtlCol="0" anchor="t"/>
          <a:lstStyle/>
          <a:p>
            <a:pPr algn="l" indent="0" marL="0">
              <a:buNone/>
            </a:pPr>
            <a:r>
              <a:rPr lang="en-US" sz="1150" dirty="0">
                <a:solidFill>
                  <a:schemeClr val="accent5"/>
                </a:solidFill>
              </a:rPr>
              <a:t>best MCC (random forest). Real signal, far from 98.98%.</a:t>
            </a:r>
            <a:endParaRPr lang="en-US" sz="1150" dirty="0"/>
          </a:p>
        </p:txBody>
      </p:sp>
      <p:sp>
        <p:nvSpPr>
          <p:cNvPr id="7" name="s10s2-v"/>
          <p:cNvSpPr txBox="1"/>
          <p:nvPr/>
        </p:nvSpPr>
        <p:spPr>
          <a:xfrm>
            <a:off x="3401568" y="1810512"/>
            <a:ext cx="2651760" cy="658368"/>
          </a:xfrm>
          <a:prstGeom prst="rect">
            <a:avLst/>
          </a:prstGeom>
          <a:noFill/>
          <a:ln/>
        </p:spPr>
        <p:txBody>
          <a:bodyPr wrap="square" lIns="0" tIns="0" rIns="0" bIns="0" rtlCol="0" anchor="b"/>
          <a:lstStyle/>
          <a:p>
            <a:pPr algn="l" indent="0" marL="0">
              <a:buNone/>
            </a:pPr>
            <a:r>
              <a:rPr lang="en-US" sz="3800" b="1" dirty="0">
                <a:solidFill>
                  <a:schemeClr val="accent2"/>
                </a:solidFill>
              </a:rPr>
              <a:t>98.58%</a:t>
            </a:r>
            <a:endParaRPr lang="en-US" sz="3800" dirty="0"/>
          </a:p>
        </p:txBody>
      </p:sp>
      <p:sp>
        <p:nvSpPr>
          <p:cNvPr id="8" name="s10s2-l"/>
          <p:cNvSpPr txBox="1"/>
          <p:nvPr/>
        </p:nvSpPr>
        <p:spPr>
          <a:xfrm>
            <a:off x="3401568" y="2505456"/>
            <a:ext cx="2651760" cy="457200"/>
          </a:xfrm>
          <a:prstGeom prst="rect">
            <a:avLst/>
          </a:prstGeom>
          <a:noFill/>
          <a:ln/>
        </p:spPr>
        <p:txBody>
          <a:bodyPr wrap="square" lIns="0" tIns="0" rIns="0" bIns="0" rtlCol="0" anchor="t"/>
          <a:lstStyle/>
          <a:p>
            <a:pPr algn="l" indent="0" marL="0">
              <a:buNone/>
            </a:pPr>
            <a:r>
              <a:rPr lang="en-US" sz="1150" dirty="0">
                <a:solidFill>
                  <a:schemeClr val="accent5"/>
                </a:solidFill>
              </a:rPr>
              <a:t>accuracy from never predicting ransomware at all</a:t>
            </a:r>
            <a:endParaRPr lang="en-US" sz="1150" dirty="0"/>
          </a:p>
        </p:txBody>
      </p:sp>
      <p:sp>
        <p:nvSpPr>
          <p:cNvPr id="9" name="s10tbl-h0"/>
          <p:cNvSpPr txBox="1"/>
          <p:nvPr/>
        </p:nvSpPr>
        <p:spPr>
          <a:xfrm>
            <a:off x="6419088" y="1810512"/>
            <a:ext cx="210312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Model</a:t>
            </a:r>
            <a:endParaRPr lang="en-US" sz="1100" dirty="0"/>
          </a:p>
        </p:txBody>
      </p:sp>
      <p:sp>
        <p:nvSpPr>
          <p:cNvPr id="10" name="s10tbl-h1"/>
          <p:cNvSpPr txBox="1"/>
          <p:nvPr/>
        </p:nvSpPr>
        <p:spPr>
          <a:xfrm>
            <a:off x="8522208" y="1810512"/>
            <a:ext cx="100584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Prec.</a:t>
            </a:r>
            <a:endParaRPr lang="en-US" sz="1100" dirty="0"/>
          </a:p>
        </p:txBody>
      </p:sp>
      <p:sp>
        <p:nvSpPr>
          <p:cNvPr id="11" name="s10tbl-h2"/>
          <p:cNvSpPr txBox="1"/>
          <p:nvPr/>
        </p:nvSpPr>
        <p:spPr>
          <a:xfrm>
            <a:off x="9528048" y="1810512"/>
            <a:ext cx="91440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Rec.</a:t>
            </a:r>
            <a:endParaRPr lang="en-US" sz="1100" dirty="0"/>
          </a:p>
        </p:txBody>
      </p:sp>
      <p:sp>
        <p:nvSpPr>
          <p:cNvPr id="12" name="s10tbl-h3"/>
          <p:cNvSpPr txBox="1"/>
          <p:nvPr/>
        </p:nvSpPr>
        <p:spPr>
          <a:xfrm>
            <a:off x="10442448" y="1810512"/>
            <a:ext cx="1152144"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MCC</a:t>
            </a:r>
            <a:endParaRPr lang="en-US" sz="1100" dirty="0"/>
          </a:p>
        </p:txBody>
      </p:sp>
      <p:sp>
        <p:nvSpPr>
          <p:cNvPr id="13" name="s10tbl-band0"/>
          <p:cNvSpPr/>
          <p:nvPr/>
        </p:nvSpPr>
        <p:spPr>
          <a:xfrm>
            <a:off x="6309360" y="2157984"/>
            <a:ext cx="5394960" cy="402336"/>
          </a:xfrm>
          <a:prstGeom prst="roundRect">
            <a:avLst>
              <a:gd name="adj" fmla="val 9091"/>
            </a:avLst>
          </a:prstGeom>
          <a:solidFill>
            <a:schemeClr val="tx2"/>
          </a:solidFill>
          <a:ln/>
        </p:spPr>
      </p:sp>
      <p:sp>
        <p:nvSpPr>
          <p:cNvPr id="14" name="s10tbl-r0c0"/>
          <p:cNvSpPr txBox="1"/>
          <p:nvPr/>
        </p:nvSpPr>
        <p:spPr>
          <a:xfrm>
            <a:off x="6419088" y="2157984"/>
            <a:ext cx="2103120" cy="402336"/>
          </a:xfrm>
          <a:prstGeom prst="rect">
            <a:avLst/>
          </a:prstGeom>
          <a:noFill/>
          <a:ln/>
        </p:spPr>
        <p:txBody>
          <a:bodyPr wrap="square" lIns="0" tIns="0" rIns="0" bIns="0" rtlCol="0" anchor="ctr"/>
          <a:lstStyle/>
          <a:p>
            <a:pPr algn="l" indent="0" marL="0">
              <a:buNone/>
            </a:pPr>
            <a:r>
              <a:rPr lang="en-US" sz="1150" dirty="0">
                <a:solidFill>
                  <a:schemeClr val="bg1"/>
                </a:solidFill>
              </a:rPr>
              <a:t>Random Forest</a:t>
            </a:r>
            <a:endParaRPr lang="en-US" sz="1150" dirty="0"/>
          </a:p>
        </p:txBody>
      </p:sp>
      <p:sp>
        <p:nvSpPr>
          <p:cNvPr id="15" name="s10tbl-r0c1"/>
          <p:cNvSpPr txBox="1"/>
          <p:nvPr/>
        </p:nvSpPr>
        <p:spPr>
          <a:xfrm>
            <a:off x="8522208" y="2157984"/>
            <a:ext cx="1005840" cy="402336"/>
          </a:xfrm>
          <a:prstGeom prst="rect">
            <a:avLst/>
          </a:prstGeom>
          <a:noFill/>
          <a:ln/>
        </p:spPr>
        <p:txBody>
          <a:bodyPr wrap="square" lIns="0" tIns="0" rIns="0" bIns="0" rtlCol="0" anchor="ctr"/>
          <a:lstStyle/>
          <a:p>
            <a:pPr algn="r" indent="0" marL="0">
              <a:buNone/>
            </a:pPr>
            <a:r>
              <a:rPr lang="en-US" sz="1150" dirty="0">
                <a:solidFill>
                  <a:schemeClr val="accent5"/>
                </a:solidFill>
              </a:rPr>
              <a:t>0.744</a:t>
            </a:r>
            <a:endParaRPr lang="en-US" sz="1150" dirty="0"/>
          </a:p>
        </p:txBody>
      </p:sp>
      <p:sp>
        <p:nvSpPr>
          <p:cNvPr id="16" name="s10tbl-r0c2"/>
          <p:cNvSpPr txBox="1"/>
          <p:nvPr/>
        </p:nvSpPr>
        <p:spPr>
          <a:xfrm>
            <a:off x="9528048" y="2157984"/>
            <a:ext cx="914400" cy="402336"/>
          </a:xfrm>
          <a:prstGeom prst="rect">
            <a:avLst/>
          </a:prstGeom>
          <a:noFill/>
          <a:ln/>
        </p:spPr>
        <p:txBody>
          <a:bodyPr wrap="square" lIns="0" tIns="0" rIns="0" bIns="0" rtlCol="0" anchor="ctr"/>
          <a:lstStyle/>
          <a:p>
            <a:pPr algn="r" indent="0" marL="0">
              <a:buNone/>
            </a:pPr>
            <a:r>
              <a:rPr lang="en-US" sz="1150" dirty="0">
                <a:solidFill>
                  <a:schemeClr val="accent5"/>
                </a:solidFill>
              </a:rPr>
              <a:t>0.286</a:t>
            </a:r>
            <a:endParaRPr lang="en-US" sz="1150" dirty="0"/>
          </a:p>
        </p:txBody>
      </p:sp>
      <p:sp>
        <p:nvSpPr>
          <p:cNvPr id="17" name="s10tbl-r0c3"/>
          <p:cNvSpPr txBox="1"/>
          <p:nvPr/>
        </p:nvSpPr>
        <p:spPr>
          <a:xfrm>
            <a:off x="10442448" y="2157984"/>
            <a:ext cx="1152144" cy="402336"/>
          </a:xfrm>
          <a:prstGeom prst="rect">
            <a:avLst/>
          </a:prstGeom>
          <a:noFill/>
          <a:ln/>
        </p:spPr>
        <p:txBody>
          <a:bodyPr wrap="square" lIns="0" tIns="0" rIns="0" bIns="0" rtlCol="0" anchor="ctr"/>
          <a:lstStyle/>
          <a:p>
            <a:pPr algn="r" indent="0" marL="0">
              <a:buNone/>
            </a:pPr>
            <a:r>
              <a:rPr lang="en-US" sz="1150" dirty="0">
                <a:solidFill>
                  <a:schemeClr val="accent5"/>
                </a:solidFill>
              </a:rPr>
              <a:t>0.457</a:t>
            </a:r>
            <a:endParaRPr lang="en-US" sz="1150" dirty="0"/>
          </a:p>
        </p:txBody>
      </p:sp>
      <p:sp>
        <p:nvSpPr>
          <p:cNvPr id="18" name="s10tbl-r1c0"/>
          <p:cNvSpPr txBox="1"/>
          <p:nvPr/>
        </p:nvSpPr>
        <p:spPr>
          <a:xfrm>
            <a:off x="6419088" y="2596896"/>
            <a:ext cx="2103120" cy="402336"/>
          </a:xfrm>
          <a:prstGeom prst="rect">
            <a:avLst/>
          </a:prstGeom>
          <a:noFill/>
          <a:ln/>
        </p:spPr>
        <p:txBody>
          <a:bodyPr wrap="square" lIns="0" tIns="0" rIns="0" bIns="0" rtlCol="0" anchor="ctr"/>
          <a:lstStyle/>
          <a:p>
            <a:pPr algn="l" indent="0" marL="0">
              <a:buNone/>
            </a:pPr>
            <a:r>
              <a:rPr lang="en-US" sz="1150" dirty="0">
                <a:solidFill>
                  <a:schemeClr val="bg1"/>
                </a:solidFill>
              </a:rPr>
              <a:t>Decision Tree</a:t>
            </a:r>
            <a:endParaRPr lang="en-US" sz="1150" dirty="0"/>
          </a:p>
        </p:txBody>
      </p:sp>
      <p:sp>
        <p:nvSpPr>
          <p:cNvPr id="19" name="s10tbl-r1c1"/>
          <p:cNvSpPr txBox="1"/>
          <p:nvPr/>
        </p:nvSpPr>
        <p:spPr>
          <a:xfrm>
            <a:off x="8522208" y="2596896"/>
            <a:ext cx="1005840" cy="402336"/>
          </a:xfrm>
          <a:prstGeom prst="rect">
            <a:avLst/>
          </a:prstGeom>
          <a:noFill/>
          <a:ln/>
        </p:spPr>
        <p:txBody>
          <a:bodyPr wrap="square" lIns="0" tIns="0" rIns="0" bIns="0" rtlCol="0" anchor="ctr"/>
          <a:lstStyle/>
          <a:p>
            <a:pPr algn="r" indent="0" marL="0">
              <a:buNone/>
            </a:pPr>
            <a:r>
              <a:rPr lang="en-US" sz="1150" dirty="0">
                <a:solidFill>
                  <a:schemeClr val="accent5"/>
                </a:solidFill>
              </a:rPr>
              <a:t>0.397</a:t>
            </a:r>
            <a:endParaRPr lang="en-US" sz="1150" dirty="0"/>
          </a:p>
        </p:txBody>
      </p:sp>
      <p:sp>
        <p:nvSpPr>
          <p:cNvPr id="20" name="s10tbl-r1c2"/>
          <p:cNvSpPr txBox="1"/>
          <p:nvPr/>
        </p:nvSpPr>
        <p:spPr>
          <a:xfrm>
            <a:off x="9528048" y="2596896"/>
            <a:ext cx="914400" cy="402336"/>
          </a:xfrm>
          <a:prstGeom prst="rect">
            <a:avLst/>
          </a:prstGeom>
          <a:noFill/>
          <a:ln/>
        </p:spPr>
        <p:txBody>
          <a:bodyPr wrap="square" lIns="0" tIns="0" rIns="0" bIns="0" rtlCol="0" anchor="ctr"/>
          <a:lstStyle/>
          <a:p>
            <a:pPr algn="r" indent="0" marL="0">
              <a:buNone/>
            </a:pPr>
            <a:r>
              <a:rPr lang="en-US" sz="1150" dirty="0">
                <a:solidFill>
                  <a:schemeClr val="accent5"/>
                </a:solidFill>
              </a:rPr>
              <a:t>0.423</a:t>
            </a:r>
            <a:endParaRPr lang="en-US" sz="1150" dirty="0"/>
          </a:p>
        </p:txBody>
      </p:sp>
      <p:sp>
        <p:nvSpPr>
          <p:cNvPr id="21" name="s10tbl-r1c3"/>
          <p:cNvSpPr txBox="1"/>
          <p:nvPr/>
        </p:nvSpPr>
        <p:spPr>
          <a:xfrm>
            <a:off x="10442448" y="2596896"/>
            <a:ext cx="1152144" cy="402336"/>
          </a:xfrm>
          <a:prstGeom prst="rect">
            <a:avLst/>
          </a:prstGeom>
          <a:noFill/>
          <a:ln/>
        </p:spPr>
        <p:txBody>
          <a:bodyPr wrap="square" lIns="0" tIns="0" rIns="0" bIns="0" rtlCol="0" anchor="ctr"/>
          <a:lstStyle/>
          <a:p>
            <a:pPr algn="r" indent="0" marL="0">
              <a:buNone/>
            </a:pPr>
            <a:r>
              <a:rPr lang="en-US" sz="1150" dirty="0">
                <a:solidFill>
                  <a:schemeClr val="accent5"/>
                </a:solidFill>
              </a:rPr>
              <a:t>0.401</a:t>
            </a:r>
            <a:endParaRPr lang="en-US" sz="1150" dirty="0"/>
          </a:p>
        </p:txBody>
      </p:sp>
      <p:sp>
        <p:nvSpPr>
          <p:cNvPr id="22" name="s10tbl-band2"/>
          <p:cNvSpPr/>
          <p:nvPr/>
        </p:nvSpPr>
        <p:spPr>
          <a:xfrm>
            <a:off x="6309360" y="3035808"/>
            <a:ext cx="5394960" cy="402336"/>
          </a:xfrm>
          <a:prstGeom prst="roundRect">
            <a:avLst>
              <a:gd name="adj" fmla="val 9091"/>
            </a:avLst>
          </a:prstGeom>
          <a:solidFill>
            <a:schemeClr val="tx2"/>
          </a:solidFill>
          <a:ln/>
        </p:spPr>
      </p:sp>
      <p:sp>
        <p:nvSpPr>
          <p:cNvPr id="23" name="s10tbl-r2c0"/>
          <p:cNvSpPr txBox="1"/>
          <p:nvPr/>
        </p:nvSpPr>
        <p:spPr>
          <a:xfrm>
            <a:off x="6419088" y="3035808"/>
            <a:ext cx="2103120" cy="402336"/>
          </a:xfrm>
          <a:prstGeom prst="rect">
            <a:avLst/>
          </a:prstGeom>
          <a:noFill/>
          <a:ln/>
        </p:spPr>
        <p:txBody>
          <a:bodyPr wrap="square" lIns="0" tIns="0" rIns="0" bIns="0" rtlCol="0" anchor="ctr"/>
          <a:lstStyle/>
          <a:p>
            <a:pPr algn="l" indent="0" marL="0">
              <a:buNone/>
            </a:pPr>
            <a:r>
              <a:rPr lang="en-US" sz="1150" dirty="0">
                <a:solidFill>
                  <a:schemeClr val="bg1"/>
                </a:solidFill>
              </a:rPr>
              <a:t>k-NN (full scale)</a:t>
            </a:r>
            <a:endParaRPr lang="en-US" sz="1150" dirty="0"/>
          </a:p>
        </p:txBody>
      </p:sp>
      <p:sp>
        <p:nvSpPr>
          <p:cNvPr id="24" name="s10tbl-r2c1"/>
          <p:cNvSpPr txBox="1"/>
          <p:nvPr/>
        </p:nvSpPr>
        <p:spPr>
          <a:xfrm>
            <a:off x="8522208" y="3035808"/>
            <a:ext cx="1005840" cy="402336"/>
          </a:xfrm>
          <a:prstGeom prst="rect">
            <a:avLst/>
          </a:prstGeom>
          <a:noFill/>
          <a:ln/>
        </p:spPr>
        <p:txBody>
          <a:bodyPr wrap="square" lIns="0" tIns="0" rIns="0" bIns="0" rtlCol="0" anchor="ctr"/>
          <a:lstStyle/>
          <a:p>
            <a:pPr algn="r" indent="0" marL="0">
              <a:buNone/>
            </a:pPr>
            <a:r>
              <a:rPr lang="en-US" sz="1150" dirty="0">
                <a:solidFill>
                  <a:schemeClr val="accent5"/>
                </a:solidFill>
              </a:rPr>
              <a:t>0.601</a:t>
            </a:r>
            <a:endParaRPr lang="en-US" sz="1150" dirty="0"/>
          </a:p>
        </p:txBody>
      </p:sp>
      <p:sp>
        <p:nvSpPr>
          <p:cNvPr id="25" name="s10tbl-r2c2"/>
          <p:cNvSpPr txBox="1"/>
          <p:nvPr/>
        </p:nvSpPr>
        <p:spPr>
          <a:xfrm>
            <a:off x="9528048" y="3035808"/>
            <a:ext cx="914400" cy="402336"/>
          </a:xfrm>
          <a:prstGeom prst="rect">
            <a:avLst/>
          </a:prstGeom>
          <a:noFill/>
          <a:ln/>
        </p:spPr>
        <p:txBody>
          <a:bodyPr wrap="square" lIns="0" tIns="0" rIns="0" bIns="0" rtlCol="0" anchor="ctr"/>
          <a:lstStyle/>
          <a:p>
            <a:pPr algn="r" indent="0" marL="0">
              <a:buNone/>
            </a:pPr>
            <a:r>
              <a:rPr lang="en-US" sz="1150" dirty="0">
                <a:solidFill>
                  <a:schemeClr val="accent5"/>
                </a:solidFill>
              </a:rPr>
              <a:t>0.229</a:t>
            </a:r>
            <a:endParaRPr lang="en-US" sz="1150" dirty="0"/>
          </a:p>
        </p:txBody>
      </p:sp>
      <p:sp>
        <p:nvSpPr>
          <p:cNvPr id="26" name="s10tbl-r2c3"/>
          <p:cNvSpPr txBox="1"/>
          <p:nvPr/>
        </p:nvSpPr>
        <p:spPr>
          <a:xfrm>
            <a:off x="10442448" y="3035808"/>
            <a:ext cx="1152144" cy="402336"/>
          </a:xfrm>
          <a:prstGeom prst="rect">
            <a:avLst/>
          </a:prstGeom>
          <a:noFill/>
          <a:ln/>
        </p:spPr>
        <p:txBody>
          <a:bodyPr wrap="square" lIns="0" tIns="0" rIns="0" bIns="0" rtlCol="0" anchor="ctr"/>
          <a:lstStyle/>
          <a:p>
            <a:pPr algn="r" indent="0" marL="0">
              <a:buNone/>
            </a:pPr>
            <a:r>
              <a:rPr lang="en-US" sz="1150" dirty="0">
                <a:solidFill>
                  <a:schemeClr val="accent5"/>
                </a:solidFill>
              </a:rPr>
              <a:t>0.365</a:t>
            </a:r>
            <a:endParaRPr lang="en-US" sz="1150" dirty="0"/>
          </a:p>
        </p:txBody>
      </p:sp>
      <p:sp>
        <p:nvSpPr>
          <p:cNvPr id="27" name="s10tbl-r3c0"/>
          <p:cNvSpPr txBox="1"/>
          <p:nvPr/>
        </p:nvSpPr>
        <p:spPr>
          <a:xfrm>
            <a:off x="6419088" y="3474720"/>
            <a:ext cx="2103120" cy="402336"/>
          </a:xfrm>
          <a:prstGeom prst="rect">
            <a:avLst/>
          </a:prstGeom>
          <a:noFill/>
          <a:ln/>
        </p:spPr>
        <p:txBody>
          <a:bodyPr wrap="square" lIns="0" tIns="0" rIns="0" bIns="0" rtlCol="0" anchor="ctr"/>
          <a:lstStyle/>
          <a:p>
            <a:pPr algn="l" indent="0" marL="0">
              <a:buNone/>
            </a:pPr>
            <a:r>
              <a:rPr lang="en-US" sz="1150" dirty="0">
                <a:solidFill>
                  <a:schemeClr val="bg1"/>
                </a:solidFill>
              </a:rPr>
              <a:t>Logistic Regression</a:t>
            </a:r>
            <a:endParaRPr lang="en-US" sz="1150" dirty="0"/>
          </a:p>
        </p:txBody>
      </p:sp>
      <p:sp>
        <p:nvSpPr>
          <p:cNvPr id="28" name="s10tbl-r3c1"/>
          <p:cNvSpPr txBox="1"/>
          <p:nvPr/>
        </p:nvSpPr>
        <p:spPr>
          <a:xfrm>
            <a:off x="8522208" y="3474720"/>
            <a:ext cx="1005840" cy="402336"/>
          </a:xfrm>
          <a:prstGeom prst="rect">
            <a:avLst/>
          </a:prstGeom>
          <a:noFill/>
          <a:ln/>
        </p:spPr>
        <p:txBody>
          <a:bodyPr wrap="square" lIns="0" tIns="0" rIns="0" bIns="0" rtlCol="0" anchor="ctr"/>
          <a:lstStyle/>
          <a:p>
            <a:pPr algn="r" indent="0" marL="0">
              <a:buNone/>
            </a:pPr>
            <a:r>
              <a:rPr lang="en-US" sz="1150" dirty="0">
                <a:solidFill>
                  <a:schemeClr val="accent5"/>
                </a:solidFill>
              </a:rPr>
              <a:t>0.000</a:t>
            </a:r>
            <a:endParaRPr lang="en-US" sz="1150" dirty="0"/>
          </a:p>
        </p:txBody>
      </p:sp>
      <p:sp>
        <p:nvSpPr>
          <p:cNvPr id="29" name="s10tbl-r3c2"/>
          <p:cNvSpPr txBox="1"/>
          <p:nvPr/>
        </p:nvSpPr>
        <p:spPr>
          <a:xfrm>
            <a:off x="9528048" y="3474720"/>
            <a:ext cx="914400" cy="402336"/>
          </a:xfrm>
          <a:prstGeom prst="rect">
            <a:avLst/>
          </a:prstGeom>
          <a:noFill/>
          <a:ln/>
        </p:spPr>
        <p:txBody>
          <a:bodyPr wrap="square" lIns="0" tIns="0" rIns="0" bIns="0" rtlCol="0" anchor="ctr"/>
          <a:lstStyle/>
          <a:p>
            <a:pPr algn="r" indent="0" marL="0">
              <a:buNone/>
            </a:pPr>
            <a:r>
              <a:rPr lang="en-US" sz="1150" dirty="0">
                <a:solidFill>
                  <a:schemeClr val="accent5"/>
                </a:solidFill>
              </a:rPr>
              <a:t>0.000</a:t>
            </a:r>
            <a:endParaRPr lang="en-US" sz="1150" dirty="0"/>
          </a:p>
        </p:txBody>
      </p:sp>
      <p:sp>
        <p:nvSpPr>
          <p:cNvPr id="30" name="s10tbl-r3c3"/>
          <p:cNvSpPr txBox="1"/>
          <p:nvPr/>
        </p:nvSpPr>
        <p:spPr>
          <a:xfrm>
            <a:off x="10442448" y="3474720"/>
            <a:ext cx="1152144" cy="402336"/>
          </a:xfrm>
          <a:prstGeom prst="rect">
            <a:avLst/>
          </a:prstGeom>
          <a:noFill/>
          <a:ln/>
        </p:spPr>
        <p:txBody>
          <a:bodyPr wrap="square" lIns="0" tIns="0" rIns="0" bIns="0" rtlCol="0" anchor="ctr"/>
          <a:lstStyle/>
          <a:p>
            <a:pPr algn="r" indent="0" marL="0">
              <a:buNone/>
            </a:pPr>
            <a:r>
              <a:rPr lang="en-US" sz="1150" dirty="0">
                <a:solidFill>
                  <a:schemeClr val="accent5"/>
                </a:solidFill>
              </a:rPr>
              <a:t>0.000</a:t>
            </a:r>
            <a:endParaRPr lang="en-US" sz="1150" dirty="0"/>
          </a:p>
        </p:txBody>
      </p:sp>
      <p:sp>
        <p:nvSpPr>
          <p:cNvPr id="31" name="s10c1-panel"/>
          <p:cNvSpPr/>
          <p:nvPr/>
        </p:nvSpPr>
        <p:spPr>
          <a:xfrm>
            <a:off x="566928" y="4041648"/>
            <a:ext cx="5394960" cy="1316736"/>
          </a:xfrm>
          <a:prstGeom prst="roundRect">
            <a:avLst>
              <a:gd name="adj" fmla="val 4167"/>
            </a:avLst>
          </a:prstGeom>
          <a:solidFill>
            <a:schemeClr val="tx2"/>
          </a:solidFill>
          <a:ln/>
        </p:spPr>
      </p:sp>
      <p:sp>
        <p:nvSpPr>
          <p:cNvPr id="32" name="s10c1-heading"/>
          <p:cNvSpPr txBox="1"/>
          <p:nvPr/>
        </p:nvSpPr>
        <p:spPr>
          <a:xfrm>
            <a:off x="786384" y="4206240"/>
            <a:ext cx="4956048" cy="274320"/>
          </a:xfrm>
          <a:prstGeom prst="rect">
            <a:avLst/>
          </a:prstGeom>
          <a:noFill/>
          <a:ln/>
        </p:spPr>
        <p:txBody>
          <a:bodyPr wrap="square" lIns="0" tIns="0" rIns="0" bIns="0" rtlCol="0" anchor="ctr"/>
          <a:lstStyle/>
          <a:p>
            <a:pPr indent="0" marL="0">
              <a:buNone/>
            </a:pPr>
            <a:r>
              <a:rPr lang="en-US" sz="1400" b="1" dirty="0">
                <a:solidFill>
                  <a:schemeClr val="bg1"/>
                </a:solidFill>
              </a:rPr>
              <a:t>What the best model actually does</a:t>
            </a:r>
            <a:endParaRPr lang="en-US" sz="1400" dirty="0"/>
          </a:p>
        </p:txBody>
      </p:sp>
      <p:sp>
        <p:nvSpPr>
          <p:cNvPr id="33" name="s10c1-body"/>
          <p:cNvSpPr txBox="1"/>
          <p:nvPr/>
        </p:nvSpPr>
        <p:spPr>
          <a:xfrm>
            <a:off x="786384" y="4553712"/>
            <a:ext cx="4956048" cy="676656"/>
          </a:xfrm>
          <a:prstGeom prst="rect">
            <a:avLst/>
          </a:prstGeom>
          <a:noFill/>
          <a:ln/>
        </p:spPr>
        <p:txBody>
          <a:bodyPr wrap="square" lIns="0" tIns="0" rIns="0" bIns="0" rtlCol="0" anchor="t"/>
          <a:lstStyle/>
          <a:p>
            <a:pPr indent="0" marL="0">
              <a:buNone/>
            </a:pPr>
            <a:r>
              <a:rPr lang="en-US" sz="1250" dirty="0">
                <a:solidFill>
                  <a:schemeClr val="accent5"/>
                </a:solidFill>
              </a:rPr>
              <a:t>Random forest identifies roughly 29% of ransomware addresses at 74% precision. Useful, but not the near-perfect detector the headline implies.</a:t>
            </a:r>
            <a:endParaRPr lang="en-US" sz="1250" dirty="0"/>
          </a:p>
        </p:txBody>
      </p:sp>
      <p:sp>
        <p:nvSpPr>
          <p:cNvPr id="34" name="s10c2-panel"/>
          <p:cNvSpPr/>
          <p:nvPr/>
        </p:nvSpPr>
        <p:spPr>
          <a:xfrm>
            <a:off x="6199632" y="4041648"/>
            <a:ext cx="5394960" cy="1316736"/>
          </a:xfrm>
          <a:prstGeom prst="roundRect">
            <a:avLst>
              <a:gd name="adj" fmla="val 4167"/>
            </a:avLst>
          </a:prstGeom>
          <a:solidFill>
            <a:schemeClr val="tx2"/>
          </a:solidFill>
          <a:ln/>
        </p:spPr>
      </p:sp>
      <p:sp>
        <p:nvSpPr>
          <p:cNvPr id="35" name="s10c2-heading"/>
          <p:cNvSpPr txBox="1"/>
          <p:nvPr/>
        </p:nvSpPr>
        <p:spPr>
          <a:xfrm>
            <a:off x="6419088" y="4206240"/>
            <a:ext cx="4956048" cy="274320"/>
          </a:xfrm>
          <a:prstGeom prst="rect">
            <a:avLst/>
          </a:prstGeom>
          <a:noFill/>
          <a:ln/>
        </p:spPr>
        <p:txBody>
          <a:bodyPr wrap="square" lIns="0" tIns="0" rIns="0" bIns="0" rtlCol="0" anchor="ctr"/>
          <a:lstStyle/>
          <a:p>
            <a:pPr indent="0" marL="0">
              <a:buNone/>
            </a:pPr>
            <a:r>
              <a:rPr lang="en-US" sz="1400" b="1" dirty="0">
                <a:solidFill>
                  <a:schemeClr val="bg1"/>
                </a:solidFill>
              </a:rPr>
              <a:t>Logistic regression makes the point</a:t>
            </a:r>
            <a:endParaRPr lang="en-US" sz="1400" dirty="0"/>
          </a:p>
        </p:txBody>
      </p:sp>
      <p:sp>
        <p:nvSpPr>
          <p:cNvPr id="36" name="s10c2-body"/>
          <p:cNvSpPr txBox="1"/>
          <p:nvPr/>
        </p:nvSpPr>
        <p:spPr>
          <a:xfrm>
            <a:off x="6419088" y="4553712"/>
            <a:ext cx="4956048" cy="676656"/>
          </a:xfrm>
          <a:prstGeom prst="rect">
            <a:avLst/>
          </a:prstGeom>
          <a:noFill/>
          <a:ln/>
        </p:spPr>
        <p:txBody>
          <a:bodyPr wrap="square" lIns="0" tIns="0" rIns="0" bIns="0" rtlCol="0" anchor="t"/>
          <a:lstStyle/>
          <a:p>
            <a:pPr indent="0" marL="0">
              <a:buNone/>
            </a:pPr>
            <a:r>
              <a:rPr lang="en-US" sz="1250" dirty="0">
                <a:solidFill>
                  <a:schemeClr val="accent5"/>
                </a:solidFill>
              </a:rPr>
              <a:t>On the resample it labels every record positive. At the real balance, same settings, it labels every record negative. Class balance alone drives both.</a:t>
            </a:r>
            <a:endParaRPr lang="en-US" sz="1250" dirty="0"/>
          </a:p>
        </p:txBody>
      </p:sp>
      <p:sp>
        <p:nvSpPr>
          <p:cNvPr id="37" name="o8-panel"/>
          <p:cNvSpPr/>
          <p:nvPr/>
        </p:nvSpPr>
        <p:spPr>
          <a:xfrm>
            <a:off x="566928" y="5522976"/>
            <a:ext cx="11027664" cy="566928"/>
          </a:xfrm>
          <a:prstGeom prst="roundRect">
            <a:avLst>
              <a:gd name="adj" fmla="val 9677"/>
            </a:avLst>
          </a:prstGeom>
          <a:solidFill>
            <a:schemeClr val="accent1"/>
          </a:solidFill>
          <a:ln/>
        </p:spPr>
      </p:sp>
      <p:sp>
        <p:nvSpPr>
          <p:cNvPr id="38" name="o8-text"/>
          <p:cNvSpPr txBox="1"/>
          <p:nvPr/>
        </p:nvSpPr>
        <p:spPr>
          <a:xfrm>
            <a:off x="841248" y="5522976"/>
            <a:ext cx="10479024" cy="566928"/>
          </a:xfrm>
          <a:prstGeom prst="rect">
            <a:avLst/>
          </a:prstGeom>
          <a:noFill/>
          <a:ln/>
        </p:spPr>
        <p:txBody>
          <a:bodyPr wrap="square" lIns="0" tIns="0" rIns="0" bIns="0" rtlCol="0" anchor="ctr"/>
          <a:lstStyle/>
          <a:p>
            <a:pPr indent="0" marL="0">
              <a:buNone/>
            </a:pPr>
            <a:r>
              <a:rPr lang="en-US" sz="1400" b="1" dirty="0">
                <a:solidFill>
                  <a:schemeClr val="bg1"/>
                </a:solidFill>
              </a:rPr>
              <a:t>This is why we run both evaluation modes, and why we report both.</a:t>
            </a:r>
            <a:endParaRPr lang="en-US" sz="140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INVESTIGATION</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Where the apparent accuracy comes from</a:t>
            </a:r>
            <a:endParaRPr lang="en-US" sz="2900" dirty="0"/>
          </a:p>
        </p:txBody>
      </p:sp>
      <p:sp>
        <p:nvSpPr>
          <p:cNvPr id="4" name="s11lede"/>
          <p:cNvSpPr txBox="1"/>
          <p:nvPr/>
        </p:nvSpPr>
        <p:spPr>
          <a:xfrm>
            <a:off x="566928" y="1371600"/>
            <a:ext cx="11027664" cy="310896"/>
          </a:xfrm>
          <a:prstGeom prst="rect">
            <a:avLst/>
          </a:prstGeom>
          <a:noFill/>
          <a:ln/>
        </p:spPr>
        <p:txBody>
          <a:bodyPr wrap="square" lIns="0" tIns="0" rIns="0" bIns="0" rtlCol="0" anchor="t"/>
          <a:lstStyle/>
          <a:p>
            <a:pPr indent="0" marL="0">
              <a:buNone/>
            </a:pPr>
            <a:r>
              <a:rPr lang="en-US" sz="1300" dirty="0">
                <a:solidFill>
                  <a:schemeClr val="accent5"/>
                </a:solidFill>
              </a:rPr>
              <a:t>Thirteen protocol variants at 20 seeds each. No tested configuration reaches the published figure.</a:t>
            </a:r>
            <a:endParaRPr lang="en-US" sz="1300" dirty="0"/>
          </a:p>
        </p:txBody>
      </p:sp>
      <p:sp>
        <p:nvSpPr>
          <p:cNvPr id="5" name="s11e0-panel"/>
          <p:cNvSpPr/>
          <p:nvPr/>
        </p:nvSpPr>
        <p:spPr>
          <a:xfrm>
            <a:off x="566928" y="1883664"/>
            <a:ext cx="2743200" cy="1920240"/>
          </a:xfrm>
          <a:prstGeom prst="roundRect">
            <a:avLst>
              <a:gd name="adj" fmla="val 2857"/>
            </a:avLst>
          </a:prstGeom>
          <a:solidFill>
            <a:schemeClr val="tx2"/>
          </a:solidFill>
          <a:ln/>
        </p:spPr>
      </p:sp>
      <p:sp>
        <p:nvSpPr>
          <p:cNvPr id="6" name="s11e0-chip"/>
          <p:cNvSpPr/>
          <p:nvPr/>
        </p:nvSpPr>
        <p:spPr>
          <a:xfrm>
            <a:off x="786384" y="2066544"/>
            <a:ext cx="402336" cy="274320"/>
          </a:xfrm>
          <a:prstGeom prst="roundRect">
            <a:avLst>
              <a:gd name="adj" fmla="val 16667"/>
            </a:avLst>
          </a:prstGeom>
          <a:solidFill>
            <a:schemeClr val="accent1"/>
          </a:solidFill>
          <a:ln/>
        </p:spPr>
      </p:sp>
      <p:sp>
        <p:nvSpPr>
          <p:cNvPr id="7" name="s11e0-tagtext"/>
          <p:cNvSpPr txBox="1"/>
          <p:nvPr/>
        </p:nvSpPr>
        <p:spPr>
          <a:xfrm>
            <a:off x="786384" y="2066544"/>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s11e0-heading"/>
          <p:cNvSpPr txBox="1"/>
          <p:nvPr/>
        </p:nvSpPr>
        <p:spPr>
          <a:xfrm>
            <a:off x="1316736" y="2048256"/>
            <a:ext cx="1773936" cy="420624"/>
          </a:xfrm>
          <a:prstGeom prst="rect">
            <a:avLst/>
          </a:prstGeom>
          <a:noFill/>
          <a:ln/>
        </p:spPr>
        <p:txBody>
          <a:bodyPr wrap="square" lIns="0" tIns="0" rIns="0" bIns="0" rtlCol="0" anchor="ctr"/>
          <a:lstStyle/>
          <a:p>
            <a:pPr indent="0" marL="0">
              <a:buNone/>
            </a:pPr>
            <a:r>
              <a:rPr lang="en-US" sz="1300" b="1" dirty="0">
                <a:solidFill>
                  <a:schemeClr val="bg1"/>
                </a:solidFill>
              </a:rPr>
              <a:t>Replicated positives</a:t>
            </a:r>
            <a:endParaRPr lang="en-US" sz="1300" dirty="0"/>
          </a:p>
        </p:txBody>
      </p:sp>
      <p:sp>
        <p:nvSpPr>
          <p:cNvPr id="9" name="s11e0-body"/>
          <p:cNvSpPr txBox="1"/>
          <p:nvPr/>
        </p:nvSpPr>
        <p:spPr>
          <a:xfrm>
            <a:off x="786384" y="2542032"/>
            <a:ext cx="2304288" cy="1133856"/>
          </a:xfrm>
          <a:prstGeom prst="rect">
            <a:avLst/>
          </a:prstGeom>
          <a:noFill/>
          <a:ln/>
        </p:spPr>
        <p:txBody>
          <a:bodyPr wrap="square" lIns="0" tIns="0" rIns="0" bIns="0" rtlCol="0" anchor="t"/>
          <a:lstStyle/>
          <a:p>
            <a:pPr indent="0" marL="0">
              <a:buNone/>
            </a:pPr>
            <a:r>
              <a:rPr lang="en-US" sz="1150" dirty="0">
                <a:solidFill>
                  <a:schemeClr val="accent5"/>
                </a:solidFill>
              </a:rPr>
              <a:t>Drawing 180,000 ransomware rows with replacement from 41,413 puts copies of training rows into the test set: 86% exact-twin overlap, against 5% without replication.</a:t>
            </a:r>
            <a:endParaRPr lang="en-US" sz="1150" dirty="0"/>
          </a:p>
        </p:txBody>
      </p:sp>
      <p:sp>
        <p:nvSpPr>
          <p:cNvPr id="10" name="s11e1-panel"/>
          <p:cNvSpPr/>
          <p:nvPr/>
        </p:nvSpPr>
        <p:spPr>
          <a:xfrm>
            <a:off x="3493008" y="1883664"/>
            <a:ext cx="2743200" cy="1920240"/>
          </a:xfrm>
          <a:prstGeom prst="roundRect">
            <a:avLst>
              <a:gd name="adj" fmla="val 2857"/>
            </a:avLst>
          </a:prstGeom>
          <a:solidFill>
            <a:schemeClr val="tx2"/>
          </a:solidFill>
          <a:ln/>
        </p:spPr>
      </p:sp>
      <p:sp>
        <p:nvSpPr>
          <p:cNvPr id="11" name="s11e1-chip"/>
          <p:cNvSpPr/>
          <p:nvPr/>
        </p:nvSpPr>
        <p:spPr>
          <a:xfrm>
            <a:off x="3712464" y="2066544"/>
            <a:ext cx="402336" cy="274320"/>
          </a:xfrm>
          <a:prstGeom prst="roundRect">
            <a:avLst>
              <a:gd name="adj" fmla="val 16667"/>
            </a:avLst>
          </a:prstGeom>
          <a:solidFill>
            <a:schemeClr val="accent3"/>
          </a:solidFill>
          <a:ln/>
        </p:spPr>
      </p:sp>
      <p:sp>
        <p:nvSpPr>
          <p:cNvPr id="12" name="s11e1-tagtext"/>
          <p:cNvSpPr txBox="1"/>
          <p:nvPr/>
        </p:nvSpPr>
        <p:spPr>
          <a:xfrm>
            <a:off x="3712464" y="2066544"/>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s11e1-heading"/>
          <p:cNvSpPr txBox="1"/>
          <p:nvPr/>
        </p:nvSpPr>
        <p:spPr>
          <a:xfrm>
            <a:off x="4242816" y="2048256"/>
            <a:ext cx="1773936" cy="420624"/>
          </a:xfrm>
          <a:prstGeom prst="rect">
            <a:avLst/>
          </a:prstGeom>
          <a:noFill/>
          <a:ln/>
        </p:spPr>
        <p:txBody>
          <a:bodyPr wrap="square" lIns="0" tIns="0" rIns="0" bIns="0" rtlCol="0" anchor="ctr"/>
          <a:lstStyle/>
          <a:p>
            <a:pPr indent="0" marL="0">
              <a:buNone/>
            </a:pPr>
            <a:r>
              <a:rPr lang="en-US" sz="1300" b="1" dirty="0">
                <a:solidFill>
                  <a:schemeClr val="bg1"/>
                </a:solidFill>
              </a:rPr>
              <a:t>Year acts as a proxy</a:t>
            </a:r>
            <a:endParaRPr lang="en-US" sz="1300" dirty="0"/>
          </a:p>
        </p:txBody>
      </p:sp>
      <p:sp>
        <p:nvSpPr>
          <p:cNvPr id="14" name="s11e1-body"/>
          <p:cNvSpPr txBox="1"/>
          <p:nvPr/>
        </p:nvSpPr>
        <p:spPr>
          <a:xfrm>
            <a:off x="3712464" y="2542032"/>
            <a:ext cx="2304288" cy="1133856"/>
          </a:xfrm>
          <a:prstGeom prst="rect">
            <a:avLst/>
          </a:prstGeom>
          <a:noFill/>
          <a:ln/>
        </p:spPr>
        <p:txBody>
          <a:bodyPr wrap="square" lIns="0" tIns="0" rIns="0" bIns="0" rtlCol="0" anchor="t"/>
          <a:lstStyle/>
          <a:p>
            <a:pPr indent="0" marL="0">
              <a:buNone/>
            </a:pPr>
            <a:r>
              <a:rPr lang="en-US" sz="1150" dirty="0">
                <a:solidFill>
                  <a:schemeClr val="accent5"/>
                </a:solidFill>
              </a:rPr>
              <a:t>A tree given only the calendar year scores 91.88%, statistically indistinguishable from the full eight-feature tree at 91.73%.</a:t>
            </a:r>
            <a:endParaRPr lang="en-US" sz="1150" dirty="0"/>
          </a:p>
        </p:txBody>
      </p:sp>
      <p:sp>
        <p:nvSpPr>
          <p:cNvPr id="15" name="s11e2-panel"/>
          <p:cNvSpPr/>
          <p:nvPr/>
        </p:nvSpPr>
        <p:spPr>
          <a:xfrm>
            <a:off x="6419088" y="1883664"/>
            <a:ext cx="2743200" cy="1920240"/>
          </a:xfrm>
          <a:prstGeom prst="roundRect">
            <a:avLst>
              <a:gd name="adj" fmla="val 2857"/>
            </a:avLst>
          </a:prstGeom>
          <a:solidFill>
            <a:schemeClr val="tx2"/>
          </a:solidFill>
          <a:ln/>
        </p:spPr>
      </p:sp>
      <p:sp>
        <p:nvSpPr>
          <p:cNvPr id="16" name="s11e2-chip"/>
          <p:cNvSpPr/>
          <p:nvPr/>
        </p:nvSpPr>
        <p:spPr>
          <a:xfrm>
            <a:off x="6638544" y="2066544"/>
            <a:ext cx="402336" cy="274320"/>
          </a:xfrm>
          <a:prstGeom prst="roundRect">
            <a:avLst>
              <a:gd name="adj" fmla="val 16667"/>
            </a:avLst>
          </a:prstGeom>
          <a:solidFill>
            <a:schemeClr val="accent3"/>
          </a:solidFill>
          <a:ln/>
        </p:spPr>
      </p:sp>
      <p:sp>
        <p:nvSpPr>
          <p:cNvPr id="17" name="s11e2-tagtext"/>
          <p:cNvSpPr txBox="1"/>
          <p:nvPr/>
        </p:nvSpPr>
        <p:spPr>
          <a:xfrm>
            <a:off x="6638544" y="2066544"/>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s11e2-heading"/>
          <p:cNvSpPr txBox="1"/>
          <p:nvPr/>
        </p:nvSpPr>
        <p:spPr>
          <a:xfrm>
            <a:off x="7168896" y="2048256"/>
            <a:ext cx="1773936" cy="420624"/>
          </a:xfrm>
          <a:prstGeom prst="rect">
            <a:avLst/>
          </a:prstGeom>
          <a:noFill/>
          <a:ln/>
        </p:spPr>
        <p:txBody>
          <a:bodyPr wrap="square" lIns="0" tIns="0" rIns="0" bIns="0" rtlCol="0" anchor="ctr"/>
          <a:lstStyle/>
          <a:p>
            <a:pPr indent="0" marL="0">
              <a:buNone/>
            </a:pPr>
            <a:r>
              <a:rPr lang="en-US" sz="1300" b="1" dirty="0">
                <a:solidFill>
                  <a:schemeClr val="bg1"/>
                </a:solidFill>
              </a:rPr>
              <a:t>Time generalisation</a:t>
            </a:r>
            <a:endParaRPr lang="en-US" sz="1300" dirty="0"/>
          </a:p>
        </p:txBody>
      </p:sp>
      <p:sp>
        <p:nvSpPr>
          <p:cNvPr id="19" name="s11e2-body"/>
          <p:cNvSpPr txBox="1"/>
          <p:nvPr/>
        </p:nvSpPr>
        <p:spPr>
          <a:xfrm>
            <a:off x="6638544" y="2542032"/>
            <a:ext cx="2304288" cy="1133856"/>
          </a:xfrm>
          <a:prstGeom prst="rect">
            <a:avLst/>
          </a:prstGeom>
          <a:noFill/>
          <a:ln/>
        </p:spPr>
        <p:txBody>
          <a:bodyPr wrap="square" lIns="0" tIns="0" rIns="0" bIns="0" rtlCol="0" anchor="t"/>
          <a:lstStyle/>
          <a:p>
            <a:pPr indent="0" marL="0">
              <a:buNone/>
            </a:pPr>
            <a:r>
              <a:rPr lang="en-US" sz="1150" dirty="0">
                <a:solidFill>
                  <a:schemeClr val="accent5"/>
                </a:solidFill>
              </a:rPr>
              <a:t>Training on 2015 and earlier and testing from 2016 drops balanced accuracy to 52.4% — close to chance.</a:t>
            </a:r>
            <a:endParaRPr lang="en-US" sz="1150" dirty="0"/>
          </a:p>
        </p:txBody>
      </p:sp>
      <p:sp>
        <p:nvSpPr>
          <p:cNvPr id="20" name="s11gap-panel"/>
          <p:cNvSpPr/>
          <p:nvPr/>
        </p:nvSpPr>
        <p:spPr>
          <a:xfrm>
            <a:off x="9400032" y="1883664"/>
            <a:ext cx="2194560" cy="1920240"/>
          </a:xfrm>
          <a:prstGeom prst="roundRect">
            <a:avLst>
              <a:gd name="adj" fmla="val 2857"/>
            </a:avLst>
          </a:prstGeom>
          <a:solidFill>
            <a:schemeClr val="accent3"/>
          </a:solidFill>
          <a:ln/>
        </p:spPr>
      </p:sp>
      <p:sp>
        <p:nvSpPr>
          <p:cNvPr id="21" name="s11gap-heading"/>
          <p:cNvSpPr txBox="1"/>
          <p:nvPr/>
        </p:nvSpPr>
        <p:spPr>
          <a:xfrm>
            <a:off x="9619488" y="2048256"/>
            <a:ext cx="1755648" cy="274320"/>
          </a:xfrm>
          <a:prstGeom prst="rect">
            <a:avLst/>
          </a:prstGeom>
          <a:noFill/>
          <a:ln/>
        </p:spPr>
        <p:txBody>
          <a:bodyPr wrap="square" lIns="0" tIns="0" rIns="0" bIns="0" rtlCol="0" anchor="ctr"/>
          <a:lstStyle/>
          <a:p>
            <a:pPr indent="0" marL="0">
              <a:buNone/>
            </a:pPr>
            <a:r>
              <a:rPr lang="en-US" sz="1300" b="1" dirty="0">
                <a:solidFill>
                  <a:schemeClr val="bg1"/>
                </a:solidFill>
              </a:rPr>
              <a:t>Range tested</a:t>
            </a:r>
            <a:endParaRPr lang="en-US" sz="1300" dirty="0"/>
          </a:p>
        </p:txBody>
      </p:sp>
      <p:sp>
        <p:nvSpPr>
          <p:cNvPr id="22" name="s11gap-body"/>
          <p:cNvSpPr txBox="1"/>
          <p:nvPr/>
        </p:nvSpPr>
        <p:spPr>
          <a:xfrm>
            <a:off x="9619488" y="2395728"/>
            <a:ext cx="1755648" cy="1280160"/>
          </a:xfrm>
          <a:prstGeom prst="rect">
            <a:avLst/>
          </a:prstGeom>
          <a:noFill/>
          <a:ln/>
        </p:spPr>
        <p:txBody>
          <a:bodyPr wrap="square" lIns="0" tIns="0" rIns="0" bIns="0" rtlCol="0" anchor="t"/>
          <a:lstStyle/>
          <a:p>
            <a:pPr indent="0" marL="0">
              <a:buNone/>
            </a:pPr>
            <a:r>
              <a:rPr lang="en-US" sz="1300" dirty="0">
                <a:solidFill>
                  <a:schemeClr val="bg1"/>
                </a:solidFill>
              </a:rPr>
              <a:t>87.1% – 97.5%</a:t>
            </a:r>
            <a:endParaRPr lang="en-US" sz="1300" dirty="0"/>
          </a:p>
          <a:p>
            <a:pPr indent="0" marL="0">
              <a:buNone/>
            </a:pPr>
            <a:endParaRPr lang="en-US" sz="1300" dirty="0"/>
          </a:p>
          <a:p>
            <a:pPr indent="0" marL="0">
              <a:buNone/>
            </a:pPr>
            <a:r>
              <a:rPr lang="en-US" sz="1300" dirty="0">
                <a:solidFill>
                  <a:schemeClr val="bg1"/>
                </a:solidFill>
              </a:rPr>
              <a:t>across every protocol variant</a:t>
            </a:r>
            <a:endParaRPr lang="en-US" sz="1300" dirty="0"/>
          </a:p>
        </p:txBody>
      </p:sp>
      <p:sp>
        <p:nvSpPr>
          <p:cNvPr id="23" name="s11close"/>
          <p:cNvSpPr txBox="1"/>
          <p:nvPr/>
        </p:nvSpPr>
        <p:spPr>
          <a:xfrm>
            <a:off x="566928" y="4078224"/>
            <a:ext cx="11027664" cy="822960"/>
          </a:xfrm>
          <a:prstGeom prst="rect">
            <a:avLst/>
          </a:prstGeom>
          <a:noFill/>
          <a:ln/>
        </p:spPr>
        <p:txBody>
          <a:bodyPr wrap="square" lIns="0" tIns="0" rIns="0" bIns="0" rtlCol="0" anchor="t"/>
          <a:lstStyle/>
          <a:p>
            <a:pPr indent="0" marL="0">
              <a:buNone/>
            </a:pPr>
            <a:r>
              <a:rPr lang="en-US" sz="1350" dirty="0">
                <a:solidFill>
                  <a:schemeClr val="bg1"/>
                </a:solidFill>
              </a:rPr>
              <a:t>The closest figure we reached anywhere was 97.67%, from a single seed in a configuration with heavy exact-twin overlap. Its 20-seed mean is 97.50%, still short of the published value.</a:t>
            </a:r>
            <a:endParaRPr lang="en-US" sz="1350" dirty="0"/>
          </a:p>
        </p:txBody>
      </p:sp>
      <p:sp>
        <p:nvSpPr>
          <p:cNvPr id="24" name="o9-panel"/>
          <p:cNvSpPr/>
          <p:nvPr/>
        </p:nvSpPr>
        <p:spPr>
          <a:xfrm>
            <a:off x="566928" y="5029200"/>
            <a:ext cx="11027664" cy="786384"/>
          </a:xfrm>
          <a:prstGeom prst="roundRect">
            <a:avLst>
              <a:gd name="adj" fmla="val 6977"/>
            </a:avLst>
          </a:prstGeom>
          <a:solidFill>
            <a:schemeClr val="accent1"/>
          </a:solidFill>
          <a:ln/>
        </p:spPr>
      </p:sp>
      <p:sp>
        <p:nvSpPr>
          <p:cNvPr id="25" name="o9-text"/>
          <p:cNvSpPr txBox="1"/>
          <p:nvPr/>
        </p:nvSpPr>
        <p:spPr>
          <a:xfrm>
            <a:off x="841248" y="5029200"/>
            <a:ext cx="10479024" cy="786384"/>
          </a:xfrm>
          <a:prstGeom prst="rect">
            <a:avLst/>
          </a:prstGeom>
          <a:noFill/>
          <a:ln/>
        </p:spPr>
        <p:txBody>
          <a:bodyPr wrap="square" lIns="0" tIns="0" rIns="0" bIns="0" rtlCol="0" anchor="ctr"/>
          <a:lstStyle/>
          <a:p>
            <a:pPr indent="0" marL="0">
              <a:buNone/>
            </a:pPr>
            <a:r>
              <a:rPr lang="en-US" sz="1400" b="1" dirty="0">
                <a:solidFill>
                  <a:schemeClr val="bg1"/>
                </a:solidFill>
              </a:rPr>
              <a:t>The spread between plausible protocols is roughly ten points — far larger than seed noise. Without the paper’s protocol, that uncertainty cannot be resolved.</a:t>
            </a:r>
            <a:endParaRPr lang="en-US" sz="1400" dirty="0"/>
          </a:p>
        </p:txBody>
      </p:sp>
      <p:sp>
        <p:nvSpPr>
          <p:cNvPr id="26" name="s11cite"/>
          <p:cNvSpPr txBox="1"/>
          <p:nvPr/>
        </p:nvSpPr>
        <p:spPr>
          <a:xfrm>
            <a:off x="566928" y="5925312"/>
            <a:ext cx="11027664" cy="274320"/>
          </a:xfrm>
          <a:prstGeom prst="rect">
            <a:avLst/>
          </a:prstGeom>
          <a:noFill/>
          <a:ln/>
        </p:spPr>
        <p:txBody>
          <a:bodyPr wrap="square" lIns="0" tIns="0" rIns="0" bIns="0" rtlCol="0" anchor="t"/>
          <a:lstStyle/>
          <a:p>
            <a:pPr indent="0" marL="0">
              <a:buNone/>
            </a:pPr>
            <a:r>
              <a:rPr lang="en-US" sz="1050" i="1" dirty="0">
                <a:solidFill>
                  <a:schemeClr val="accent5"/>
                </a:solidFill>
              </a:rPr>
              <a:t>13 protocol variants × 20 seeds · exact-twin overlap measured directly</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BLOCKCHAIN PERFORMANCE</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Chain benchmarks</a:t>
            </a:r>
            <a:endParaRPr lang="en-US" sz="2900" dirty="0"/>
          </a:p>
        </p:txBody>
      </p:sp>
      <p:sp>
        <p:nvSpPr>
          <p:cNvPr id="4" name="s12h1"/>
          <p:cNvSpPr txBox="1"/>
          <p:nvPr/>
        </p:nvSpPr>
        <p:spPr>
          <a:xfrm>
            <a:off x="566928" y="1371600"/>
            <a:ext cx="5394960" cy="274320"/>
          </a:xfrm>
          <a:prstGeom prst="rect">
            <a:avLst/>
          </a:prstGeom>
          <a:noFill/>
          <a:ln/>
        </p:spPr>
        <p:txBody>
          <a:bodyPr wrap="square" lIns="0" tIns="0" rIns="0" bIns="0" rtlCol="0" anchor="t"/>
          <a:lstStyle/>
          <a:p>
            <a:pPr indent="0" marL="0">
              <a:buNone/>
            </a:pPr>
            <a:r>
              <a:rPr lang="en-US" sz="1150" b="1" dirty="0">
                <a:solidFill>
                  <a:schemeClr val="accent5"/>
                </a:solidFill>
              </a:rPr>
              <a:t>PAPER — Java, Windows, i5</a:t>
            </a:r>
            <a:endParaRPr lang="en-US" sz="1150" dirty="0"/>
          </a:p>
        </p:txBody>
      </p:sp>
      <p:sp>
        <p:nvSpPr>
          <p:cNvPr id="5" name="s12t1-h0"/>
          <p:cNvSpPr txBox="1"/>
          <p:nvPr/>
        </p:nvSpPr>
        <p:spPr>
          <a:xfrm>
            <a:off x="566928" y="1700784"/>
            <a:ext cx="210312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Case</a:t>
            </a:r>
            <a:endParaRPr lang="en-US" sz="1100" dirty="0"/>
          </a:p>
        </p:txBody>
      </p:sp>
      <p:sp>
        <p:nvSpPr>
          <p:cNvPr id="6" name="s12t1-h1"/>
          <p:cNvSpPr txBox="1"/>
          <p:nvPr/>
        </p:nvSpPr>
        <p:spPr>
          <a:xfrm>
            <a:off x="2670048" y="1700784"/>
            <a:ext cx="164592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BC_DTBU</a:t>
            </a:r>
            <a:endParaRPr lang="en-US" sz="1100" dirty="0"/>
          </a:p>
        </p:txBody>
      </p:sp>
      <p:sp>
        <p:nvSpPr>
          <p:cNvPr id="7" name="s12t1-h2"/>
          <p:cNvSpPr txBox="1"/>
          <p:nvPr/>
        </p:nvSpPr>
        <p:spPr>
          <a:xfrm>
            <a:off x="4315968" y="1700784"/>
            <a:ext cx="164592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BC_SigRW</a:t>
            </a:r>
            <a:endParaRPr lang="en-US" sz="1100" dirty="0"/>
          </a:p>
        </p:txBody>
      </p:sp>
      <p:sp>
        <p:nvSpPr>
          <p:cNvPr id="8" name="s12t1-band0"/>
          <p:cNvSpPr/>
          <p:nvPr/>
        </p:nvSpPr>
        <p:spPr>
          <a:xfrm>
            <a:off x="457200" y="2048256"/>
            <a:ext cx="5614416" cy="384048"/>
          </a:xfrm>
          <a:prstGeom prst="roundRect">
            <a:avLst>
              <a:gd name="adj" fmla="val 9524"/>
            </a:avLst>
          </a:prstGeom>
          <a:solidFill>
            <a:schemeClr val="tx2"/>
          </a:solidFill>
          <a:ln/>
        </p:spPr>
      </p:sp>
      <p:sp>
        <p:nvSpPr>
          <p:cNvPr id="9" name="s12t1-r0c0"/>
          <p:cNvSpPr txBox="1"/>
          <p:nvPr/>
        </p:nvSpPr>
        <p:spPr>
          <a:xfrm>
            <a:off x="566928" y="2048256"/>
            <a:ext cx="2103120" cy="384048"/>
          </a:xfrm>
          <a:prstGeom prst="rect">
            <a:avLst/>
          </a:prstGeom>
          <a:noFill/>
          <a:ln/>
        </p:spPr>
        <p:txBody>
          <a:bodyPr wrap="square" lIns="0" tIns="0" rIns="0" bIns="0" rtlCol="0" anchor="ctr"/>
          <a:lstStyle/>
          <a:p>
            <a:pPr algn="l" indent="0" marL="0">
              <a:buNone/>
            </a:pPr>
            <a:r>
              <a:rPr lang="en-US" sz="1200" dirty="0">
                <a:solidFill>
                  <a:schemeClr val="bg1"/>
                </a:solidFill>
              </a:rPr>
              <a:t>5 blocks</a:t>
            </a:r>
            <a:endParaRPr lang="en-US" sz="1200" dirty="0"/>
          </a:p>
        </p:txBody>
      </p:sp>
      <p:sp>
        <p:nvSpPr>
          <p:cNvPr id="10" name="s12t1-r0c1"/>
          <p:cNvSpPr txBox="1"/>
          <p:nvPr/>
        </p:nvSpPr>
        <p:spPr>
          <a:xfrm>
            <a:off x="2670048" y="2048256"/>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3.10 s</a:t>
            </a:r>
            <a:endParaRPr lang="en-US" sz="1200" dirty="0"/>
          </a:p>
        </p:txBody>
      </p:sp>
      <p:sp>
        <p:nvSpPr>
          <p:cNvPr id="11" name="s12t1-r0c2"/>
          <p:cNvSpPr txBox="1"/>
          <p:nvPr/>
        </p:nvSpPr>
        <p:spPr>
          <a:xfrm>
            <a:off x="4315968" y="2048256"/>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4.36 s</a:t>
            </a:r>
            <a:endParaRPr lang="en-US" sz="1200" dirty="0"/>
          </a:p>
        </p:txBody>
      </p:sp>
      <p:sp>
        <p:nvSpPr>
          <p:cNvPr id="12" name="s12t1-r1c0"/>
          <p:cNvSpPr txBox="1"/>
          <p:nvPr/>
        </p:nvSpPr>
        <p:spPr>
          <a:xfrm>
            <a:off x="566928" y="2468880"/>
            <a:ext cx="2103120" cy="384048"/>
          </a:xfrm>
          <a:prstGeom prst="rect">
            <a:avLst/>
          </a:prstGeom>
          <a:noFill/>
          <a:ln/>
        </p:spPr>
        <p:txBody>
          <a:bodyPr wrap="square" lIns="0" tIns="0" rIns="0" bIns="0" rtlCol="0" anchor="ctr"/>
          <a:lstStyle/>
          <a:p>
            <a:pPr algn="l" indent="0" marL="0">
              <a:buNone/>
            </a:pPr>
            <a:r>
              <a:rPr lang="en-US" sz="1200" dirty="0">
                <a:solidFill>
                  <a:schemeClr val="bg1"/>
                </a:solidFill>
              </a:rPr>
              <a:t>10 blocks</a:t>
            </a:r>
            <a:endParaRPr lang="en-US" sz="1200" dirty="0"/>
          </a:p>
        </p:txBody>
      </p:sp>
      <p:sp>
        <p:nvSpPr>
          <p:cNvPr id="13" name="s12t1-r1c1"/>
          <p:cNvSpPr txBox="1"/>
          <p:nvPr/>
        </p:nvSpPr>
        <p:spPr>
          <a:xfrm>
            <a:off x="2670048" y="2468880"/>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4.17 s</a:t>
            </a:r>
            <a:endParaRPr lang="en-US" sz="1200" dirty="0"/>
          </a:p>
        </p:txBody>
      </p:sp>
      <p:sp>
        <p:nvSpPr>
          <p:cNvPr id="14" name="s12t1-r1c2"/>
          <p:cNvSpPr txBox="1"/>
          <p:nvPr/>
        </p:nvSpPr>
        <p:spPr>
          <a:xfrm>
            <a:off x="4315968" y="2468880"/>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5.54 s</a:t>
            </a:r>
            <a:endParaRPr lang="en-US" sz="1200" dirty="0"/>
          </a:p>
        </p:txBody>
      </p:sp>
      <p:sp>
        <p:nvSpPr>
          <p:cNvPr id="15" name="s12t1-band2"/>
          <p:cNvSpPr/>
          <p:nvPr/>
        </p:nvSpPr>
        <p:spPr>
          <a:xfrm>
            <a:off x="457200" y="2889504"/>
            <a:ext cx="5614416" cy="384048"/>
          </a:xfrm>
          <a:prstGeom prst="roundRect">
            <a:avLst>
              <a:gd name="adj" fmla="val 9524"/>
            </a:avLst>
          </a:prstGeom>
          <a:solidFill>
            <a:schemeClr val="tx2"/>
          </a:solidFill>
          <a:ln/>
        </p:spPr>
      </p:sp>
      <p:sp>
        <p:nvSpPr>
          <p:cNvPr id="16" name="s12t1-r2c0"/>
          <p:cNvSpPr txBox="1"/>
          <p:nvPr/>
        </p:nvSpPr>
        <p:spPr>
          <a:xfrm>
            <a:off x="566928" y="2889504"/>
            <a:ext cx="2103120" cy="384048"/>
          </a:xfrm>
          <a:prstGeom prst="rect">
            <a:avLst/>
          </a:prstGeom>
          <a:noFill/>
          <a:ln/>
        </p:spPr>
        <p:txBody>
          <a:bodyPr wrap="square" lIns="0" tIns="0" rIns="0" bIns="0" rtlCol="0" anchor="ctr"/>
          <a:lstStyle/>
          <a:p>
            <a:pPr algn="l" indent="0" marL="0">
              <a:buNone/>
            </a:pPr>
            <a:r>
              <a:rPr lang="en-US" sz="1200" dirty="0">
                <a:solidFill>
                  <a:schemeClr val="bg1"/>
                </a:solidFill>
              </a:rPr>
              <a:t>15 blocks</a:t>
            </a:r>
            <a:endParaRPr lang="en-US" sz="1200" dirty="0"/>
          </a:p>
        </p:txBody>
      </p:sp>
      <p:sp>
        <p:nvSpPr>
          <p:cNvPr id="17" name="s12t1-r2c1"/>
          <p:cNvSpPr txBox="1"/>
          <p:nvPr/>
        </p:nvSpPr>
        <p:spPr>
          <a:xfrm>
            <a:off x="2670048" y="2889504"/>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5.71 s</a:t>
            </a:r>
            <a:endParaRPr lang="en-US" sz="1200" dirty="0"/>
          </a:p>
        </p:txBody>
      </p:sp>
      <p:sp>
        <p:nvSpPr>
          <p:cNvPr id="18" name="s12t1-r2c2"/>
          <p:cNvSpPr txBox="1"/>
          <p:nvPr/>
        </p:nvSpPr>
        <p:spPr>
          <a:xfrm>
            <a:off x="4315968" y="2889504"/>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6.76 s</a:t>
            </a:r>
            <a:endParaRPr lang="en-US" sz="1200" dirty="0"/>
          </a:p>
        </p:txBody>
      </p:sp>
      <p:sp>
        <p:nvSpPr>
          <p:cNvPr id="19" name="s12h2"/>
          <p:cNvSpPr txBox="1"/>
          <p:nvPr/>
        </p:nvSpPr>
        <p:spPr>
          <a:xfrm>
            <a:off x="6199632" y="1371600"/>
            <a:ext cx="5394960" cy="274320"/>
          </a:xfrm>
          <a:prstGeom prst="rect">
            <a:avLst/>
          </a:prstGeom>
          <a:noFill/>
          <a:ln/>
        </p:spPr>
        <p:txBody>
          <a:bodyPr wrap="square" lIns="0" tIns="0" rIns="0" bIns="0" rtlCol="0" anchor="t"/>
          <a:lstStyle/>
          <a:p>
            <a:pPr indent="0" marL="0">
              <a:buNone/>
            </a:pPr>
            <a:r>
              <a:rPr lang="en-US" sz="1150" b="1" dirty="0">
                <a:solidFill>
                  <a:schemeClr val="accent5"/>
                </a:solidFill>
              </a:rPr>
              <a:t>OURS — Python, Linux</a:t>
            </a:r>
            <a:endParaRPr lang="en-US" sz="1150" dirty="0"/>
          </a:p>
        </p:txBody>
      </p:sp>
      <p:sp>
        <p:nvSpPr>
          <p:cNvPr id="20" name="s12t2-h0"/>
          <p:cNvSpPr txBox="1"/>
          <p:nvPr/>
        </p:nvSpPr>
        <p:spPr>
          <a:xfrm>
            <a:off x="6199632" y="1700784"/>
            <a:ext cx="210312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Case</a:t>
            </a:r>
            <a:endParaRPr lang="en-US" sz="1100" dirty="0"/>
          </a:p>
        </p:txBody>
      </p:sp>
      <p:sp>
        <p:nvSpPr>
          <p:cNvPr id="21" name="s12t2-h1"/>
          <p:cNvSpPr txBox="1"/>
          <p:nvPr/>
        </p:nvSpPr>
        <p:spPr>
          <a:xfrm>
            <a:off x="8302752" y="1700784"/>
            <a:ext cx="164592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BC_DTBU</a:t>
            </a:r>
            <a:endParaRPr lang="en-US" sz="1100" dirty="0"/>
          </a:p>
        </p:txBody>
      </p:sp>
      <p:sp>
        <p:nvSpPr>
          <p:cNvPr id="22" name="s12t2-h2"/>
          <p:cNvSpPr txBox="1"/>
          <p:nvPr/>
        </p:nvSpPr>
        <p:spPr>
          <a:xfrm>
            <a:off x="9948672" y="1700784"/>
            <a:ext cx="1645920" cy="274320"/>
          </a:xfrm>
          <a:prstGeom prst="rect">
            <a:avLst/>
          </a:prstGeom>
          <a:noFill/>
          <a:ln/>
        </p:spPr>
        <p:txBody>
          <a:bodyPr wrap="square" lIns="0" tIns="0" rIns="0" bIns="0" rtlCol="0" anchor="ctr"/>
          <a:lstStyle/>
          <a:p>
            <a:pPr algn="r" indent="0" marL="0">
              <a:buNone/>
            </a:pPr>
            <a:r>
              <a:rPr lang="en-US" sz="1100" b="1" spc="80" kern="0" dirty="0">
                <a:solidFill>
                  <a:schemeClr val="accent5"/>
                </a:solidFill>
              </a:rPr>
              <a:t>BC_SigRW</a:t>
            </a:r>
            <a:endParaRPr lang="en-US" sz="1100" dirty="0"/>
          </a:p>
        </p:txBody>
      </p:sp>
      <p:sp>
        <p:nvSpPr>
          <p:cNvPr id="23" name="s12t2-band0"/>
          <p:cNvSpPr/>
          <p:nvPr/>
        </p:nvSpPr>
        <p:spPr>
          <a:xfrm>
            <a:off x="6089904" y="2048256"/>
            <a:ext cx="5614416" cy="384048"/>
          </a:xfrm>
          <a:prstGeom prst="roundRect">
            <a:avLst>
              <a:gd name="adj" fmla="val 9524"/>
            </a:avLst>
          </a:prstGeom>
          <a:solidFill>
            <a:schemeClr val="tx2"/>
          </a:solidFill>
          <a:ln/>
        </p:spPr>
      </p:sp>
      <p:sp>
        <p:nvSpPr>
          <p:cNvPr id="24" name="s12t2-r0c0"/>
          <p:cNvSpPr txBox="1"/>
          <p:nvPr/>
        </p:nvSpPr>
        <p:spPr>
          <a:xfrm>
            <a:off x="6199632" y="2048256"/>
            <a:ext cx="2103120" cy="384048"/>
          </a:xfrm>
          <a:prstGeom prst="rect">
            <a:avLst/>
          </a:prstGeom>
          <a:noFill/>
          <a:ln/>
        </p:spPr>
        <p:txBody>
          <a:bodyPr wrap="square" lIns="0" tIns="0" rIns="0" bIns="0" rtlCol="0" anchor="ctr"/>
          <a:lstStyle/>
          <a:p>
            <a:pPr algn="l" indent="0" marL="0">
              <a:buNone/>
            </a:pPr>
            <a:r>
              <a:rPr lang="en-US" sz="1200" dirty="0">
                <a:solidFill>
                  <a:schemeClr val="bg1"/>
                </a:solidFill>
              </a:rPr>
              <a:t>5 blocks</a:t>
            </a:r>
            <a:endParaRPr lang="en-US" sz="1200" dirty="0"/>
          </a:p>
        </p:txBody>
      </p:sp>
      <p:sp>
        <p:nvSpPr>
          <p:cNvPr id="25" name="s12t2-r0c1"/>
          <p:cNvSpPr txBox="1"/>
          <p:nvPr/>
        </p:nvSpPr>
        <p:spPr>
          <a:xfrm>
            <a:off x="8302752" y="2048256"/>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0.168 s</a:t>
            </a:r>
            <a:endParaRPr lang="en-US" sz="1200" dirty="0"/>
          </a:p>
        </p:txBody>
      </p:sp>
      <p:sp>
        <p:nvSpPr>
          <p:cNvPr id="26" name="s12t2-r0c2"/>
          <p:cNvSpPr txBox="1"/>
          <p:nvPr/>
        </p:nvSpPr>
        <p:spPr>
          <a:xfrm>
            <a:off x="9948672" y="2048256"/>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0.228 s</a:t>
            </a:r>
            <a:endParaRPr lang="en-US" sz="1200" dirty="0"/>
          </a:p>
        </p:txBody>
      </p:sp>
      <p:sp>
        <p:nvSpPr>
          <p:cNvPr id="27" name="s12t2-r1c0"/>
          <p:cNvSpPr txBox="1"/>
          <p:nvPr/>
        </p:nvSpPr>
        <p:spPr>
          <a:xfrm>
            <a:off x="6199632" y="2468880"/>
            <a:ext cx="2103120" cy="384048"/>
          </a:xfrm>
          <a:prstGeom prst="rect">
            <a:avLst/>
          </a:prstGeom>
          <a:noFill/>
          <a:ln/>
        </p:spPr>
        <p:txBody>
          <a:bodyPr wrap="square" lIns="0" tIns="0" rIns="0" bIns="0" rtlCol="0" anchor="ctr"/>
          <a:lstStyle/>
          <a:p>
            <a:pPr algn="l" indent="0" marL="0">
              <a:buNone/>
            </a:pPr>
            <a:r>
              <a:rPr lang="en-US" sz="1200" dirty="0">
                <a:solidFill>
                  <a:schemeClr val="bg1"/>
                </a:solidFill>
              </a:rPr>
              <a:t>10 blocks</a:t>
            </a:r>
            <a:endParaRPr lang="en-US" sz="1200" dirty="0"/>
          </a:p>
        </p:txBody>
      </p:sp>
      <p:sp>
        <p:nvSpPr>
          <p:cNvPr id="28" name="s12t2-r1c1"/>
          <p:cNvSpPr txBox="1"/>
          <p:nvPr/>
        </p:nvSpPr>
        <p:spPr>
          <a:xfrm>
            <a:off x="8302752" y="2468880"/>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0.341 s</a:t>
            </a:r>
            <a:endParaRPr lang="en-US" sz="1200" dirty="0"/>
          </a:p>
        </p:txBody>
      </p:sp>
      <p:sp>
        <p:nvSpPr>
          <p:cNvPr id="29" name="s12t2-r1c2"/>
          <p:cNvSpPr txBox="1"/>
          <p:nvPr/>
        </p:nvSpPr>
        <p:spPr>
          <a:xfrm>
            <a:off x="9948672" y="2468880"/>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0.459 s</a:t>
            </a:r>
            <a:endParaRPr lang="en-US" sz="1200" dirty="0"/>
          </a:p>
        </p:txBody>
      </p:sp>
      <p:sp>
        <p:nvSpPr>
          <p:cNvPr id="30" name="s12t2-band2"/>
          <p:cNvSpPr/>
          <p:nvPr/>
        </p:nvSpPr>
        <p:spPr>
          <a:xfrm>
            <a:off x="6089904" y="2889504"/>
            <a:ext cx="5614416" cy="384048"/>
          </a:xfrm>
          <a:prstGeom prst="roundRect">
            <a:avLst>
              <a:gd name="adj" fmla="val 9524"/>
            </a:avLst>
          </a:prstGeom>
          <a:solidFill>
            <a:schemeClr val="tx2"/>
          </a:solidFill>
          <a:ln/>
        </p:spPr>
      </p:sp>
      <p:sp>
        <p:nvSpPr>
          <p:cNvPr id="31" name="s12t2-r2c0"/>
          <p:cNvSpPr txBox="1"/>
          <p:nvPr/>
        </p:nvSpPr>
        <p:spPr>
          <a:xfrm>
            <a:off x="6199632" y="2889504"/>
            <a:ext cx="2103120" cy="384048"/>
          </a:xfrm>
          <a:prstGeom prst="rect">
            <a:avLst/>
          </a:prstGeom>
          <a:noFill/>
          <a:ln/>
        </p:spPr>
        <p:txBody>
          <a:bodyPr wrap="square" lIns="0" tIns="0" rIns="0" bIns="0" rtlCol="0" anchor="ctr"/>
          <a:lstStyle/>
          <a:p>
            <a:pPr algn="l" indent="0" marL="0">
              <a:buNone/>
            </a:pPr>
            <a:r>
              <a:rPr lang="en-US" sz="1200" dirty="0">
                <a:solidFill>
                  <a:schemeClr val="bg1"/>
                </a:solidFill>
              </a:rPr>
              <a:t>15 blocks</a:t>
            </a:r>
            <a:endParaRPr lang="en-US" sz="1200" dirty="0"/>
          </a:p>
        </p:txBody>
      </p:sp>
      <p:sp>
        <p:nvSpPr>
          <p:cNvPr id="32" name="s12t2-r2c1"/>
          <p:cNvSpPr txBox="1"/>
          <p:nvPr/>
        </p:nvSpPr>
        <p:spPr>
          <a:xfrm>
            <a:off x="8302752" y="2889504"/>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0.479 s</a:t>
            </a:r>
            <a:endParaRPr lang="en-US" sz="1200" dirty="0"/>
          </a:p>
        </p:txBody>
      </p:sp>
      <p:sp>
        <p:nvSpPr>
          <p:cNvPr id="33" name="s12t2-r2c2"/>
          <p:cNvSpPr txBox="1"/>
          <p:nvPr/>
        </p:nvSpPr>
        <p:spPr>
          <a:xfrm>
            <a:off x="9948672" y="2889504"/>
            <a:ext cx="1645920" cy="384048"/>
          </a:xfrm>
          <a:prstGeom prst="rect">
            <a:avLst/>
          </a:prstGeom>
          <a:noFill/>
          <a:ln/>
        </p:spPr>
        <p:txBody>
          <a:bodyPr wrap="square" lIns="0" tIns="0" rIns="0" bIns="0" rtlCol="0" anchor="ctr"/>
          <a:lstStyle/>
          <a:p>
            <a:pPr algn="r" indent="0" marL="0">
              <a:buNone/>
            </a:pPr>
            <a:r>
              <a:rPr lang="en-US" sz="1200" dirty="0">
                <a:solidFill>
                  <a:schemeClr val="accent5"/>
                </a:solidFill>
              </a:rPr>
              <a:t>0.691 s</a:t>
            </a:r>
            <a:endParaRPr lang="en-US" sz="1200" dirty="0"/>
          </a:p>
        </p:txBody>
      </p:sp>
      <p:sp>
        <p:nvSpPr>
          <p:cNvPr id="34" name="s12f0-panel"/>
          <p:cNvSpPr/>
          <p:nvPr/>
        </p:nvSpPr>
        <p:spPr>
          <a:xfrm>
            <a:off x="566928" y="3621024"/>
            <a:ext cx="3547872" cy="1792224"/>
          </a:xfrm>
          <a:prstGeom prst="roundRect">
            <a:avLst>
              <a:gd name="adj" fmla="val 3061"/>
            </a:avLst>
          </a:prstGeom>
          <a:solidFill>
            <a:schemeClr val="tx2"/>
          </a:solidFill>
          <a:ln/>
        </p:spPr>
      </p:sp>
      <p:sp>
        <p:nvSpPr>
          <p:cNvPr id="35" name="s12f0-heading"/>
          <p:cNvSpPr txBox="1"/>
          <p:nvPr/>
        </p:nvSpPr>
        <p:spPr>
          <a:xfrm>
            <a:off x="786384" y="3785616"/>
            <a:ext cx="3108960" cy="274320"/>
          </a:xfrm>
          <a:prstGeom prst="rect">
            <a:avLst/>
          </a:prstGeom>
          <a:noFill/>
          <a:ln/>
        </p:spPr>
        <p:txBody>
          <a:bodyPr wrap="square" lIns="0" tIns="0" rIns="0" bIns="0" rtlCol="0" anchor="ctr"/>
          <a:lstStyle/>
          <a:p>
            <a:pPr indent="0" marL="0">
              <a:buNone/>
            </a:pPr>
            <a:r>
              <a:rPr lang="en-US" sz="1350" b="1" dirty="0">
                <a:solidFill>
                  <a:schemeClr val="bg1"/>
                </a:solidFill>
              </a:rPr>
              <a:t>Reproduced</a:t>
            </a:r>
            <a:endParaRPr lang="en-US" sz="1350" dirty="0"/>
          </a:p>
        </p:txBody>
      </p:sp>
      <p:sp>
        <p:nvSpPr>
          <p:cNvPr id="36" name="s12f0-body"/>
          <p:cNvSpPr txBox="1"/>
          <p:nvPr/>
        </p:nvSpPr>
        <p:spPr>
          <a:xfrm>
            <a:off x="786384" y="4133088"/>
            <a:ext cx="3108960" cy="1152144"/>
          </a:xfrm>
          <a:prstGeom prst="rect">
            <a:avLst/>
          </a:prstGeom>
          <a:noFill/>
          <a:ln/>
        </p:spPr>
        <p:txBody>
          <a:bodyPr wrap="square" lIns="0" tIns="0" rIns="0" bIns="0" rtlCol="0" anchor="t"/>
          <a:lstStyle/>
          <a:p>
            <a:pPr indent="0" marL="0">
              <a:buNone/>
            </a:pPr>
            <a:r>
              <a:rPr lang="en-US" sz="1150" dirty="0">
                <a:solidFill>
                  <a:schemeClr val="accent5"/>
                </a:solidFill>
              </a:rPr>
              <a:t>The signature chain is consistently slower than the backup chain, by 35 to 44% against 18 to 41% reported.</a:t>
            </a:r>
            <a:endParaRPr lang="en-US" sz="1150" dirty="0"/>
          </a:p>
        </p:txBody>
      </p:sp>
      <p:sp>
        <p:nvSpPr>
          <p:cNvPr id="37" name="s12f1-panel"/>
          <p:cNvSpPr/>
          <p:nvPr/>
        </p:nvSpPr>
        <p:spPr>
          <a:xfrm>
            <a:off x="4297680" y="3621024"/>
            <a:ext cx="3547872" cy="1792224"/>
          </a:xfrm>
          <a:prstGeom prst="roundRect">
            <a:avLst>
              <a:gd name="adj" fmla="val 3061"/>
            </a:avLst>
          </a:prstGeom>
          <a:solidFill>
            <a:schemeClr val="tx2"/>
          </a:solidFill>
          <a:ln/>
        </p:spPr>
      </p:sp>
      <p:sp>
        <p:nvSpPr>
          <p:cNvPr id="38" name="s12f1-heading"/>
          <p:cNvSpPr txBox="1"/>
          <p:nvPr/>
        </p:nvSpPr>
        <p:spPr>
          <a:xfrm>
            <a:off x="4517136" y="3785616"/>
            <a:ext cx="3108960" cy="274320"/>
          </a:xfrm>
          <a:prstGeom prst="rect">
            <a:avLst/>
          </a:prstGeom>
          <a:noFill/>
          <a:ln/>
        </p:spPr>
        <p:txBody>
          <a:bodyPr wrap="square" lIns="0" tIns="0" rIns="0" bIns="0" rtlCol="0" anchor="ctr"/>
          <a:lstStyle/>
          <a:p>
            <a:pPr indent="0" marL="0">
              <a:buNone/>
            </a:pPr>
            <a:r>
              <a:rPr lang="en-US" sz="1350" b="1" dirty="0">
                <a:solidFill>
                  <a:schemeClr val="accent2"/>
                </a:solidFill>
              </a:rPr>
              <a:t>Not reproduced</a:t>
            </a:r>
            <a:endParaRPr lang="en-US" sz="1350" dirty="0"/>
          </a:p>
        </p:txBody>
      </p:sp>
      <p:sp>
        <p:nvSpPr>
          <p:cNvPr id="39" name="s12f1-body"/>
          <p:cNvSpPr txBox="1"/>
          <p:nvPr/>
        </p:nvSpPr>
        <p:spPr>
          <a:xfrm>
            <a:off x="4517136" y="4133088"/>
            <a:ext cx="3108960" cy="1152144"/>
          </a:xfrm>
          <a:prstGeom prst="rect">
            <a:avLst/>
          </a:prstGeom>
          <a:noFill/>
          <a:ln/>
        </p:spPr>
        <p:txBody>
          <a:bodyPr wrap="square" lIns="0" tIns="0" rIns="0" bIns="0" rtlCol="0" anchor="t"/>
          <a:lstStyle/>
          <a:p>
            <a:pPr indent="0" marL="0">
              <a:buNone/>
            </a:pPr>
            <a:r>
              <a:rPr lang="en-US" sz="1150" dirty="0">
                <a:solidFill>
                  <a:schemeClr val="accent5"/>
                </a:solidFill>
              </a:rPr>
              <a:t>The paper’s sublinear, concave growth does not appear. Our time grows near-linearly with block count.</a:t>
            </a:r>
            <a:endParaRPr lang="en-US" sz="1150" dirty="0"/>
          </a:p>
        </p:txBody>
      </p:sp>
      <p:sp>
        <p:nvSpPr>
          <p:cNvPr id="40" name="s12f2-panel"/>
          <p:cNvSpPr/>
          <p:nvPr/>
        </p:nvSpPr>
        <p:spPr>
          <a:xfrm>
            <a:off x="8028432" y="3621024"/>
            <a:ext cx="3547872" cy="1792224"/>
          </a:xfrm>
          <a:prstGeom prst="roundRect">
            <a:avLst>
              <a:gd name="adj" fmla="val 3061"/>
            </a:avLst>
          </a:prstGeom>
          <a:solidFill>
            <a:schemeClr val="tx2"/>
          </a:solidFill>
          <a:ln/>
        </p:spPr>
      </p:sp>
      <p:sp>
        <p:nvSpPr>
          <p:cNvPr id="41" name="s12f2-heading"/>
          <p:cNvSpPr txBox="1"/>
          <p:nvPr/>
        </p:nvSpPr>
        <p:spPr>
          <a:xfrm>
            <a:off x="8247888" y="3785616"/>
            <a:ext cx="3108960" cy="274320"/>
          </a:xfrm>
          <a:prstGeom prst="rect">
            <a:avLst/>
          </a:prstGeom>
          <a:noFill/>
          <a:ln/>
        </p:spPr>
        <p:txBody>
          <a:bodyPr wrap="square" lIns="0" tIns="0" rIns="0" bIns="0" rtlCol="0" anchor="ctr"/>
          <a:lstStyle/>
          <a:p>
            <a:pPr indent="0" marL="0">
              <a:buNone/>
            </a:pPr>
            <a:r>
              <a:rPr lang="en-US" sz="1350" b="1" dirty="0">
                <a:solidFill>
                  <a:schemeClr val="accent2"/>
                </a:solidFill>
              </a:rPr>
              <a:t>Our finding</a:t>
            </a:r>
            <a:endParaRPr lang="en-US" sz="1350" dirty="0"/>
          </a:p>
        </p:txBody>
      </p:sp>
      <p:sp>
        <p:nvSpPr>
          <p:cNvPr id="42" name="s12f2-body"/>
          <p:cNvSpPr txBox="1"/>
          <p:nvPr/>
        </p:nvSpPr>
        <p:spPr>
          <a:xfrm>
            <a:off x="8247888" y="4133088"/>
            <a:ext cx="3108960" cy="1152144"/>
          </a:xfrm>
          <a:prstGeom prst="rect">
            <a:avLst/>
          </a:prstGeom>
          <a:noFill/>
          <a:ln/>
        </p:spPr>
        <p:txBody>
          <a:bodyPr wrap="square" lIns="0" tIns="0" rIns="0" bIns="0" rtlCol="0" anchor="t"/>
          <a:lstStyle/>
          <a:p>
            <a:pPr indent="0" marL="0">
              <a:buNone/>
            </a:pPr>
            <a:r>
              <a:rPr lang="en-US" sz="1150" dirty="0">
                <a:solidFill>
                  <a:schemeClr val="accent5"/>
                </a:solidFill>
              </a:rPr>
              <a:t>Marginal cost per block is flat at roughly 33 ms and 45 ms. The published rising throughput is fixed setup cost being amortised.</a:t>
            </a:r>
            <a:endParaRPr lang="en-US" sz="1150" dirty="0"/>
          </a:p>
        </p:txBody>
      </p:sp>
      <p:sp>
        <p:nvSpPr>
          <p:cNvPr id="43" name="s12close"/>
          <p:cNvSpPr txBox="1"/>
          <p:nvPr/>
        </p:nvSpPr>
        <p:spPr>
          <a:xfrm>
            <a:off x="566928" y="5577840"/>
            <a:ext cx="11027664" cy="493776"/>
          </a:xfrm>
          <a:prstGeom prst="rect">
            <a:avLst/>
          </a:prstGeom>
          <a:noFill/>
          <a:ln/>
        </p:spPr>
        <p:txBody>
          <a:bodyPr wrap="square" lIns="0" tIns="0" rIns="0" bIns="0" rtlCol="0" anchor="t"/>
          <a:lstStyle/>
          <a:p>
            <a:pPr indent="0" marL="0">
              <a:buNone/>
            </a:pPr>
            <a:r>
              <a:rPr lang="en-US" sz="1200" dirty="0">
                <a:solidFill>
                  <a:schemeClr val="accent5"/>
                </a:solidFill>
              </a:rPr>
              <a:t>Absolute timings differ by two to three orders of magnitude — different language and hardware. The comparison we draw is of trend and ratio.</a:t>
            </a:r>
            <a:endParaRPr lang="en-US" sz="1200" dirty="0"/>
          </a:p>
        </p:txBody>
      </p:sp>
      <p:sp>
        <p:nvSpPr>
          <p:cNvPr id="44" name="s12cite"/>
          <p:cNvSpPr txBox="1"/>
          <p:nvPr/>
        </p:nvSpPr>
        <p:spPr>
          <a:xfrm>
            <a:off x="566928" y="6035040"/>
            <a:ext cx="11027664" cy="256032"/>
          </a:xfrm>
          <a:prstGeom prst="rect">
            <a:avLst/>
          </a:prstGeom>
          <a:noFill/>
          <a:ln/>
        </p:spPr>
        <p:txBody>
          <a:bodyPr wrap="square" lIns="0" tIns="0" rIns="0" bIns="0" rtlCol="0" anchor="t"/>
          <a:lstStyle/>
          <a:p>
            <a:pPr indent="0" marL="0">
              <a:buNone/>
            </a:pPr>
            <a:r>
              <a:rPr lang="en-US" sz="1050" i="1" dirty="0">
                <a:solidFill>
                  <a:schemeClr val="accent5"/>
                </a:solidFill>
              </a:rPr>
              <a:t>DEV-08 · median of 5 repeats, warm-up discarded</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FORMAL VERIFICATION I</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Scyther: the session protocol</a:t>
            </a:r>
            <a:endParaRPr lang="en-US" sz="2900" dirty="0"/>
          </a:p>
        </p:txBody>
      </p:sp>
      <p:sp>
        <p:nvSpPr>
          <p:cNvPr id="4" name="s13lede"/>
          <p:cNvSpPr txBox="1"/>
          <p:nvPr/>
        </p:nvSpPr>
        <p:spPr>
          <a:xfrm>
            <a:off x="566928" y="1371600"/>
            <a:ext cx="11027664" cy="310896"/>
          </a:xfrm>
          <a:prstGeom prst="rect">
            <a:avLst/>
          </a:prstGeom>
          <a:noFill/>
          <a:ln/>
        </p:spPr>
        <p:txBody>
          <a:bodyPr wrap="square" lIns="0" tIns="0" rIns="0" bIns="0" rtlCol="0" anchor="t"/>
          <a:lstStyle/>
          <a:p>
            <a:pPr indent="0" marL="0">
              <a:buNone/>
            </a:pPr>
            <a:r>
              <a:rPr lang="en-US" sz="1300" dirty="0">
                <a:solidFill>
                  <a:schemeClr val="accent5"/>
                </a:solidFill>
              </a:rPr>
              <a:t>Dolev-Yao adversary model, unbounded sessions and unbounded agents.</a:t>
            </a:r>
            <a:endParaRPr lang="en-US" sz="1300" dirty="0"/>
          </a:p>
        </p:txBody>
      </p:sp>
      <p:sp>
        <p:nvSpPr>
          <p:cNvPr id="5" name="s13tbl-h0"/>
          <p:cNvSpPr txBox="1"/>
          <p:nvPr/>
        </p:nvSpPr>
        <p:spPr>
          <a:xfrm>
            <a:off x="566928" y="1810512"/>
            <a:ext cx="329184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Claim checked</a:t>
            </a:r>
            <a:endParaRPr lang="en-US" sz="1100" dirty="0"/>
          </a:p>
        </p:txBody>
      </p:sp>
      <p:sp>
        <p:nvSpPr>
          <p:cNvPr id="6" name="s13tbl-h1"/>
          <p:cNvSpPr txBox="1"/>
          <p:nvPr/>
        </p:nvSpPr>
        <p:spPr>
          <a:xfrm>
            <a:off x="3858768" y="1810512"/>
            <a:ext cx="201168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Property</a:t>
            </a:r>
            <a:endParaRPr lang="en-US" sz="1100" dirty="0"/>
          </a:p>
        </p:txBody>
      </p:sp>
      <p:sp>
        <p:nvSpPr>
          <p:cNvPr id="7" name="s13tbl-h2"/>
          <p:cNvSpPr txBox="1"/>
          <p:nvPr/>
        </p:nvSpPr>
        <p:spPr>
          <a:xfrm>
            <a:off x="5870448" y="1810512"/>
            <a:ext cx="146304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Result</a:t>
            </a:r>
            <a:endParaRPr lang="en-US" sz="1100" dirty="0"/>
          </a:p>
        </p:txBody>
      </p:sp>
      <p:sp>
        <p:nvSpPr>
          <p:cNvPr id="8" name="s13tbl-band0"/>
          <p:cNvSpPr/>
          <p:nvPr/>
        </p:nvSpPr>
        <p:spPr>
          <a:xfrm>
            <a:off x="457200" y="2157984"/>
            <a:ext cx="6986016" cy="402336"/>
          </a:xfrm>
          <a:prstGeom prst="roundRect">
            <a:avLst>
              <a:gd name="adj" fmla="val 9091"/>
            </a:avLst>
          </a:prstGeom>
          <a:solidFill>
            <a:schemeClr val="tx2"/>
          </a:solidFill>
          <a:ln/>
        </p:spPr>
      </p:sp>
      <p:sp>
        <p:nvSpPr>
          <p:cNvPr id="9" name="s13tbl-r0c0"/>
          <p:cNvSpPr txBox="1"/>
          <p:nvPr/>
        </p:nvSpPr>
        <p:spPr>
          <a:xfrm>
            <a:off x="566928" y="2157984"/>
            <a:ext cx="3291840" cy="402336"/>
          </a:xfrm>
          <a:prstGeom prst="rect">
            <a:avLst/>
          </a:prstGeom>
          <a:noFill/>
          <a:ln/>
        </p:spPr>
        <p:txBody>
          <a:bodyPr wrap="square" lIns="0" tIns="0" rIns="0" bIns="0" rtlCol="0" anchor="ctr"/>
          <a:lstStyle/>
          <a:p>
            <a:pPr algn="l" indent="0" marL="0">
              <a:buNone/>
            </a:pPr>
            <a:r>
              <a:rPr lang="en-US" sz="1150" dirty="0">
                <a:solidFill>
                  <a:schemeClr val="bg1"/>
                </a:solidFill>
              </a:rPr>
              <a:t>Secrecy of the session key</a:t>
            </a:r>
            <a:endParaRPr lang="en-US" sz="1150" dirty="0"/>
          </a:p>
        </p:txBody>
      </p:sp>
      <p:sp>
        <p:nvSpPr>
          <p:cNvPr id="10" name="s13tbl-r0c1"/>
          <p:cNvSpPr txBox="1"/>
          <p:nvPr/>
        </p:nvSpPr>
        <p:spPr>
          <a:xfrm>
            <a:off x="3858768" y="2157984"/>
            <a:ext cx="2011680" cy="402336"/>
          </a:xfrm>
          <a:prstGeom prst="rect">
            <a:avLst/>
          </a:prstGeom>
          <a:noFill/>
          <a:ln/>
        </p:spPr>
        <p:txBody>
          <a:bodyPr wrap="square" lIns="0" tIns="0" rIns="0" bIns="0" rtlCol="0" anchor="ctr"/>
          <a:lstStyle/>
          <a:p>
            <a:pPr algn="l" indent="0" marL="0">
              <a:buNone/>
            </a:pPr>
            <a:r>
              <a:rPr lang="en-US" sz="1150" dirty="0">
                <a:solidFill>
                  <a:schemeClr val="accent5"/>
                </a:solidFill>
              </a:rPr>
              <a:t>Secret</a:t>
            </a:r>
            <a:endParaRPr lang="en-US" sz="1150" dirty="0"/>
          </a:p>
        </p:txBody>
      </p:sp>
      <p:sp>
        <p:nvSpPr>
          <p:cNvPr id="11" name="s13tbl-r0c2"/>
          <p:cNvSpPr txBox="1"/>
          <p:nvPr/>
        </p:nvSpPr>
        <p:spPr>
          <a:xfrm>
            <a:off x="5870448" y="2157984"/>
            <a:ext cx="1463040" cy="402336"/>
          </a:xfrm>
          <a:prstGeom prst="rect">
            <a:avLst/>
          </a:prstGeom>
          <a:noFill/>
          <a:ln/>
        </p:spPr>
        <p:txBody>
          <a:bodyPr wrap="square" lIns="0" tIns="0" rIns="0" bIns="0" rtlCol="0" anchor="ctr"/>
          <a:lstStyle/>
          <a:p>
            <a:pPr algn="l" indent="0" marL="0">
              <a:buNone/>
            </a:pPr>
            <a:r>
              <a:rPr lang="en-US" sz="1150" dirty="0">
                <a:solidFill>
                  <a:schemeClr val="accent5"/>
                </a:solidFill>
              </a:rPr>
              <a:t>Verified</a:t>
            </a:r>
            <a:endParaRPr lang="en-US" sz="1150" dirty="0"/>
          </a:p>
        </p:txBody>
      </p:sp>
      <p:sp>
        <p:nvSpPr>
          <p:cNvPr id="12" name="s13tbl-r1c0"/>
          <p:cNvSpPr txBox="1"/>
          <p:nvPr/>
        </p:nvSpPr>
        <p:spPr>
          <a:xfrm>
            <a:off x="566928" y="2596896"/>
            <a:ext cx="3291840" cy="402336"/>
          </a:xfrm>
          <a:prstGeom prst="rect">
            <a:avLst/>
          </a:prstGeom>
          <a:noFill/>
          <a:ln/>
        </p:spPr>
        <p:txBody>
          <a:bodyPr wrap="square" lIns="0" tIns="0" rIns="0" bIns="0" rtlCol="0" anchor="ctr"/>
          <a:lstStyle/>
          <a:p>
            <a:pPr algn="l" indent="0" marL="0">
              <a:buNone/>
            </a:pPr>
            <a:r>
              <a:rPr lang="en-US" sz="1150" dirty="0">
                <a:solidFill>
                  <a:schemeClr val="bg1"/>
                </a:solidFill>
              </a:rPr>
              <a:t>Mutual authentication, A → B</a:t>
            </a:r>
            <a:endParaRPr lang="en-US" sz="1150" dirty="0"/>
          </a:p>
        </p:txBody>
      </p:sp>
      <p:sp>
        <p:nvSpPr>
          <p:cNvPr id="13" name="s13tbl-r1c1"/>
          <p:cNvSpPr txBox="1"/>
          <p:nvPr/>
        </p:nvSpPr>
        <p:spPr>
          <a:xfrm>
            <a:off x="3858768" y="2596896"/>
            <a:ext cx="2011680" cy="402336"/>
          </a:xfrm>
          <a:prstGeom prst="rect">
            <a:avLst/>
          </a:prstGeom>
          <a:noFill/>
          <a:ln/>
        </p:spPr>
        <p:txBody>
          <a:bodyPr wrap="square" lIns="0" tIns="0" rIns="0" bIns="0" rtlCol="0" anchor="ctr"/>
          <a:lstStyle/>
          <a:p>
            <a:pPr algn="l" indent="0" marL="0">
              <a:buNone/>
            </a:pPr>
            <a:r>
              <a:rPr lang="en-US" sz="1150" dirty="0">
                <a:solidFill>
                  <a:schemeClr val="accent5"/>
                </a:solidFill>
              </a:rPr>
              <a:t>Niagree</a:t>
            </a:r>
            <a:endParaRPr lang="en-US" sz="1150" dirty="0"/>
          </a:p>
        </p:txBody>
      </p:sp>
      <p:sp>
        <p:nvSpPr>
          <p:cNvPr id="14" name="s13tbl-r1c2"/>
          <p:cNvSpPr txBox="1"/>
          <p:nvPr/>
        </p:nvSpPr>
        <p:spPr>
          <a:xfrm>
            <a:off x="5870448" y="2596896"/>
            <a:ext cx="1463040" cy="402336"/>
          </a:xfrm>
          <a:prstGeom prst="rect">
            <a:avLst/>
          </a:prstGeom>
          <a:noFill/>
          <a:ln/>
        </p:spPr>
        <p:txBody>
          <a:bodyPr wrap="square" lIns="0" tIns="0" rIns="0" bIns="0" rtlCol="0" anchor="ctr"/>
          <a:lstStyle/>
          <a:p>
            <a:pPr algn="l" indent="0" marL="0">
              <a:buNone/>
            </a:pPr>
            <a:r>
              <a:rPr lang="en-US" sz="1150" dirty="0">
                <a:solidFill>
                  <a:schemeClr val="accent5"/>
                </a:solidFill>
              </a:rPr>
              <a:t>Verified</a:t>
            </a:r>
            <a:endParaRPr lang="en-US" sz="1150" dirty="0"/>
          </a:p>
        </p:txBody>
      </p:sp>
      <p:sp>
        <p:nvSpPr>
          <p:cNvPr id="15" name="s13tbl-band2"/>
          <p:cNvSpPr/>
          <p:nvPr/>
        </p:nvSpPr>
        <p:spPr>
          <a:xfrm>
            <a:off x="457200" y="3035808"/>
            <a:ext cx="6986016" cy="402336"/>
          </a:xfrm>
          <a:prstGeom prst="roundRect">
            <a:avLst>
              <a:gd name="adj" fmla="val 9091"/>
            </a:avLst>
          </a:prstGeom>
          <a:solidFill>
            <a:schemeClr val="tx2"/>
          </a:solidFill>
          <a:ln/>
        </p:spPr>
      </p:sp>
      <p:sp>
        <p:nvSpPr>
          <p:cNvPr id="16" name="s13tbl-r2c0"/>
          <p:cNvSpPr txBox="1"/>
          <p:nvPr/>
        </p:nvSpPr>
        <p:spPr>
          <a:xfrm>
            <a:off x="566928" y="3035808"/>
            <a:ext cx="3291840" cy="402336"/>
          </a:xfrm>
          <a:prstGeom prst="rect">
            <a:avLst/>
          </a:prstGeom>
          <a:noFill/>
          <a:ln/>
        </p:spPr>
        <p:txBody>
          <a:bodyPr wrap="square" lIns="0" tIns="0" rIns="0" bIns="0" rtlCol="0" anchor="ctr"/>
          <a:lstStyle/>
          <a:p>
            <a:pPr algn="l" indent="0" marL="0">
              <a:buNone/>
            </a:pPr>
            <a:r>
              <a:rPr lang="en-US" sz="1150" dirty="0">
                <a:solidFill>
                  <a:schemeClr val="bg1"/>
                </a:solidFill>
              </a:rPr>
              <a:t>Mutual authentication, B → A</a:t>
            </a:r>
            <a:endParaRPr lang="en-US" sz="1150" dirty="0"/>
          </a:p>
        </p:txBody>
      </p:sp>
      <p:sp>
        <p:nvSpPr>
          <p:cNvPr id="17" name="s13tbl-r2c1"/>
          <p:cNvSpPr txBox="1"/>
          <p:nvPr/>
        </p:nvSpPr>
        <p:spPr>
          <a:xfrm>
            <a:off x="3858768" y="3035808"/>
            <a:ext cx="2011680" cy="402336"/>
          </a:xfrm>
          <a:prstGeom prst="rect">
            <a:avLst/>
          </a:prstGeom>
          <a:noFill/>
          <a:ln/>
        </p:spPr>
        <p:txBody>
          <a:bodyPr wrap="square" lIns="0" tIns="0" rIns="0" bIns="0" rtlCol="0" anchor="ctr"/>
          <a:lstStyle/>
          <a:p>
            <a:pPr algn="l" indent="0" marL="0">
              <a:buNone/>
            </a:pPr>
            <a:r>
              <a:rPr lang="en-US" sz="1150" dirty="0">
                <a:solidFill>
                  <a:schemeClr val="accent5"/>
                </a:solidFill>
              </a:rPr>
              <a:t>Nisynch</a:t>
            </a:r>
            <a:endParaRPr lang="en-US" sz="1150" dirty="0"/>
          </a:p>
        </p:txBody>
      </p:sp>
      <p:sp>
        <p:nvSpPr>
          <p:cNvPr id="18" name="s13tbl-r2c2"/>
          <p:cNvSpPr txBox="1"/>
          <p:nvPr/>
        </p:nvSpPr>
        <p:spPr>
          <a:xfrm>
            <a:off x="5870448" y="3035808"/>
            <a:ext cx="1463040" cy="402336"/>
          </a:xfrm>
          <a:prstGeom prst="rect">
            <a:avLst/>
          </a:prstGeom>
          <a:noFill/>
          <a:ln/>
        </p:spPr>
        <p:txBody>
          <a:bodyPr wrap="square" lIns="0" tIns="0" rIns="0" bIns="0" rtlCol="0" anchor="ctr"/>
          <a:lstStyle/>
          <a:p>
            <a:pPr algn="l" indent="0" marL="0">
              <a:buNone/>
            </a:pPr>
            <a:r>
              <a:rPr lang="en-US" sz="1150" dirty="0">
                <a:solidFill>
                  <a:schemeClr val="accent5"/>
                </a:solidFill>
              </a:rPr>
              <a:t>Verified</a:t>
            </a:r>
            <a:endParaRPr lang="en-US" sz="1150" dirty="0"/>
          </a:p>
        </p:txBody>
      </p:sp>
      <p:sp>
        <p:nvSpPr>
          <p:cNvPr id="19" name="s13tbl-r3c0"/>
          <p:cNvSpPr txBox="1"/>
          <p:nvPr/>
        </p:nvSpPr>
        <p:spPr>
          <a:xfrm>
            <a:off x="566928" y="3474720"/>
            <a:ext cx="3291840" cy="402336"/>
          </a:xfrm>
          <a:prstGeom prst="rect">
            <a:avLst/>
          </a:prstGeom>
          <a:noFill/>
          <a:ln/>
        </p:spPr>
        <p:txBody>
          <a:bodyPr wrap="square" lIns="0" tIns="0" rIns="0" bIns="0" rtlCol="0" anchor="ctr"/>
          <a:lstStyle/>
          <a:p>
            <a:pPr algn="l" indent="0" marL="0">
              <a:buNone/>
            </a:pPr>
            <a:r>
              <a:rPr lang="en-US" sz="1150" dirty="0">
                <a:solidFill>
                  <a:schemeClr val="bg1"/>
                </a:solidFill>
              </a:rPr>
              <a:t>Impersonation resistance</a:t>
            </a:r>
            <a:endParaRPr lang="en-US" sz="1150" dirty="0"/>
          </a:p>
        </p:txBody>
      </p:sp>
      <p:sp>
        <p:nvSpPr>
          <p:cNvPr id="20" name="s13tbl-r3c1"/>
          <p:cNvSpPr txBox="1"/>
          <p:nvPr/>
        </p:nvSpPr>
        <p:spPr>
          <a:xfrm>
            <a:off x="3858768" y="3474720"/>
            <a:ext cx="2011680" cy="402336"/>
          </a:xfrm>
          <a:prstGeom prst="rect">
            <a:avLst/>
          </a:prstGeom>
          <a:noFill/>
          <a:ln/>
        </p:spPr>
        <p:txBody>
          <a:bodyPr wrap="square" lIns="0" tIns="0" rIns="0" bIns="0" rtlCol="0" anchor="ctr"/>
          <a:lstStyle/>
          <a:p>
            <a:pPr algn="l" indent="0" marL="0">
              <a:buNone/>
            </a:pPr>
            <a:r>
              <a:rPr lang="en-US" sz="1150" dirty="0">
                <a:solidFill>
                  <a:schemeClr val="accent5"/>
                </a:solidFill>
              </a:rPr>
              <a:t>Weakagree</a:t>
            </a:r>
            <a:endParaRPr lang="en-US" sz="1150" dirty="0"/>
          </a:p>
        </p:txBody>
      </p:sp>
      <p:sp>
        <p:nvSpPr>
          <p:cNvPr id="21" name="s13tbl-r3c2"/>
          <p:cNvSpPr txBox="1"/>
          <p:nvPr/>
        </p:nvSpPr>
        <p:spPr>
          <a:xfrm>
            <a:off x="5870448" y="3474720"/>
            <a:ext cx="1463040" cy="402336"/>
          </a:xfrm>
          <a:prstGeom prst="rect">
            <a:avLst/>
          </a:prstGeom>
          <a:noFill/>
          <a:ln/>
        </p:spPr>
        <p:txBody>
          <a:bodyPr wrap="square" lIns="0" tIns="0" rIns="0" bIns="0" rtlCol="0" anchor="ctr"/>
          <a:lstStyle/>
          <a:p>
            <a:pPr algn="l" indent="0" marL="0">
              <a:buNone/>
            </a:pPr>
            <a:r>
              <a:rPr lang="en-US" sz="1150" dirty="0">
                <a:solidFill>
                  <a:schemeClr val="accent5"/>
                </a:solidFill>
              </a:rPr>
              <a:t>Verified</a:t>
            </a:r>
            <a:endParaRPr lang="en-US" sz="1150" dirty="0"/>
          </a:p>
        </p:txBody>
      </p:sp>
      <p:sp>
        <p:nvSpPr>
          <p:cNvPr id="22" name="s13tbl-band4"/>
          <p:cNvSpPr/>
          <p:nvPr/>
        </p:nvSpPr>
        <p:spPr>
          <a:xfrm>
            <a:off x="457200" y="3913632"/>
            <a:ext cx="6986016" cy="402336"/>
          </a:xfrm>
          <a:prstGeom prst="roundRect">
            <a:avLst>
              <a:gd name="adj" fmla="val 9091"/>
            </a:avLst>
          </a:prstGeom>
          <a:solidFill>
            <a:schemeClr val="tx2"/>
          </a:solidFill>
          <a:ln/>
        </p:spPr>
      </p:sp>
      <p:sp>
        <p:nvSpPr>
          <p:cNvPr id="23" name="s13tbl-r4c0"/>
          <p:cNvSpPr txBox="1"/>
          <p:nvPr/>
        </p:nvSpPr>
        <p:spPr>
          <a:xfrm>
            <a:off x="566928" y="3913632"/>
            <a:ext cx="3291840" cy="402336"/>
          </a:xfrm>
          <a:prstGeom prst="rect">
            <a:avLst/>
          </a:prstGeom>
          <a:noFill/>
          <a:ln/>
        </p:spPr>
        <p:txBody>
          <a:bodyPr wrap="square" lIns="0" tIns="0" rIns="0" bIns="0" rtlCol="0" anchor="ctr"/>
          <a:lstStyle/>
          <a:p>
            <a:pPr algn="l" indent="0" marL="0">
              <a:buNone/>
            </a:pPr>
            <a:r>
              <a:rPr lang="en-US" sz="1150" dirty="0">
                <a:solidFill>
                  <a:schemeClr val="bg1"/>
                </a:solidFill>
              </a:rPr>
              <a:t>Cross-identity replay, fixed</a:t>
            </a:r>
            <a:endParaRPr lang="en-US" sz="1150" dirty="0"/>
          </a:p>
        </p:txBody>
      </p:sp>
      <p:sp>
        <p:nvSpPr>
          <p:cNvPr id="24" name="s13tbl-r4c1"/>
          <p:cNvSpPr txBox="1"/>
          <p:nvPr/>
        </p:nvSpPr>
        <p:spPr>
          <a:xfrm>
            <a:off x="3858768" y="3913632"/>
            <a:ext cx="2011680" cy="402336"/>
          </a:xfrm>
          <a:prstGeom prst="rect">
            <a:avLst/>
          </a:prstGeom>
          <a:noFill/>
          <a:ln/>
        </p:spPr>
        <p:txBody>
          <a:bodyPr wrap="square" lIns="0" tIns="0" rIns="0" bIns="0" rtlCol="0" anchor="ctr"/>
          <a:lstStyle/>
          <a:p>
            <a:pPr algn="l" indent="0" marL="0">
              <a:buNone/>
            </a:pPr>
            <a:r>
              <a:rPr lang="en-US" sz="1150" dirty="0">
                <a:solidFill>
                  <a:schemeClr val="accent5"/>
                </a:solidFill>
              </a:rPr>
              <a:t>Niagree</a:t>
            </a:r>
            <a:endParaRPr lang="en-US" sz="1150" dirty="0"/>
          </a:p>
        </p:txBody>
      </p:sp>
      <p:sp>
        <p:nvSpPr>
          <p:cNvPr id="25" name="s13tbl-r4c2"/>
          <p:cNvSpPr txBox="1"/>
          <p:nvPr/>
        </p:nvSpPr>
        <p:spPr>
          <a:xfrm>
            <a:off x="5870448" y="3913632"/>
            <a:ext cx="1463040" cy="402336"/>
          </a:xfrm>
          <a:prstGeom prst="rect">
            <a:avLst/>
          </a:prstGeom>
          <a:noFill/>
          <a:ln/>
        </p:spPr>
        <p:txBody>
          <a:bodyPr wrap="square" lIns="0" tIns="0" rIns="0" bIns="0" rtlCol="0" anchor="ctr"/>
          <a:lstStyle/>
          <a:p>
            <a:pPr algn="l" indent="0" marL="0">
              <a:buNone/>
            </a:pPr>
            <a:r>
              <a:rPr lang="en-US" sz="1150" dirty="0">
                <a:solidFill>
                  <a:schemeClr val="accent5"/>
                </a:solidFill>
              </a:rPr>
              <a:t>Verified</a:t>
            </a:r>
            <a:endParaRPr lang="en-US" sz="1150" dirty="0"/>
          </a:p>
        </p:txBody>
      </p:sp>
      <p:sp>
        <p:nvSpPr>
          <p:cNvPr id="26" name="s13tbl-band5"/>
          <p:cNvSpPr/>
          <p:nvPr/>
        </p:nvSpPr>
        <p:spPr>
          <a:xfrm>
            <a:off x="457200" y="4352544"/>
            <a:ext cx="6986016" cy="402336"/>
          </a:xfrm>
          <a:prstGeom prst="roundRect">
            <a:avLst>
              <a:gd name="adj" fmla="val 9091"/>
            </a:avLst>
          </a:prstGeom>
          <a:solidFill>
            <a:schemeClr val="accent3"/>
          </a:solidFill>
          <a:ln/>
        </p:spPr>
      </p:sp>
      <p:sp>
        <p:nvSpPr>
          <p:cNvPr id="27" name="s13tbl-r5c0"/>
          <p:cNvSpPr txBox="1"/>
          <p:nvPr/>
        </p:nvSpPr>
        <p:spPr>
          <a:xfrm>
            <a:off x="566928" y="4352544"/>
            <a:ext cx="3291840" cy="402336"/>
          </a:xfrm>
          <a:prstGeom prst="rect">
            <a:avLst/>
          </a:prstGeom>
          <a:noFill/>
          <a:ln/>
        </p:spPr>
        <p:txBody>
          <a:bodyPr wrap="square" lIns="0" tIns="0" rIns="0" bIns="0" rtlCol="0" anchor="ctr"/>
          <a:lstStyle/>
          <a:p>
            <a:pPr algn="l" indent="0" marL="0">
              <a:buNone/>
            </a:pPr>
            <a:r>
              <a:rPr lang="en-US" sz="1150" b="1" dirty="0">
                <a:solidFill>
                  <a:schemeClr val="bg1"/>
                </a:solidFill>
              </a:rPr>
              <a:t>Cross-identity replay, pre-M1</a:t>
            </a:r>
            <a:endParaRPr lang="en-US" sz="1150" dirty="0"/>
          </a:p>
        </p:txBody>
      </p:sp>
      <p:sp>
        <p:nvSpPr>
          <p:cNvPr id="28" name="s13tbl-r5c1"/>
          <p:cNvSpPr txBox="1"/>
          <p:nvPr/>
        </p:nvSpPr>
        <p:spPr>
          <a:xfrm>
            <a:off x="3858768" y="4352544"/>
            <a:ext cx="2011680" cy="402336"/>
          </a:xfrm>
          <a:prstGeom prst="rect">
            <a:avLst/>
          </a:prstGeom>
          <a:noFill/>
          <a:ln/>
        </p:spPr>
        <p:txBody>
          <a:bodyPr wrap="square" lIns="0" tIns="0" rIns="0" bIns="0" rtlCol="0" anchor="ctr"/>
          <a:lstStyle/>
          <a:p>
            <a:pPr algn="l" indent="0" marL="0">
              <a:buNone/>
            </a:pPr>
            <a:r>
              <a:rPr lang="en-US" sz="1150" b="1" dirty="0">
                <a:solidFill>
                  <a:schemeClr val="bg1"/>
                </a:solidFill>
              </a:rPr>
              <a:t>Niagree</a:t>
            </a:r>
            <a:endParaRPr lang="en-US" sz="1150" dirty="0"/>
          </a:p>
        </p:txBody>
      </p:sp>
      <p:sp>
        <p:nvSpPr>
          <p:cNvPr id="29" name="s13tbl-r5c2"/>
          <p:cNvSpPr txBox="1"/>
          <p:nvPr/>
        </p:nvSpPr>
        <p:spPr>
          <a:xfrm>
            <a:off x="5870448" y="4352544"/>
            <a:ext cx="1463040" cy="402336"/>
          </a:xfrm>
          <a:prstGeom prst="rect">
            <a:avLst/>
          </a:prstGeom>
          <a:noFill/>
          <a:ln/>
        </p:spPr>
        <p:txBody>
          <a:bodyPr wrap="square" lIns="0" tIns="0" rIns="0" bIns="0" rtlCol="0" anchor="ctr"/>
          <a:lstStyle/>
          <a:p>
            <a:pPr algn="l" indent="0" marL="0">
              <a:buNone/>
            </a:pPr>
            <a:r>
              <a:rPr lang="en-US" sz="1150" b="1" dirty="0">
                <a:solidFill>
                  <a:schemeClr val="bg1"/>
                </a:solidFill>
              </a:rPr>
              <a:t>Attack found</a:t>
            </a:r>
            <a:endParaRPr lang="en-US" sz="1150" dirty="0"/>
          </a:p>
        </p:txBody>
      </p:sp>
      <p:sp>
        <p:nvSpPr>
          <p:cNvPr id="30" name="s13c1-panel"/>
          <p:cNvSpPr/>
          <p:nvPr/>
        </p:nvSpPr>
        <p:spPr>
          <a:xfrm>
            <a:off x="7589520" y="1810512"/>
            <a:ext cx="4005072" cy="1371600"/>
          </a:xfrm>
          <a:prstGeom prst="roundRect">
            <a:avLst>
              <a:gd name="adj" fmla="val 4000"/>
            </a:avLst>
          </a:prstGeom>
          <a:solidFill>
            <a:schemeClr val="tx2"/>
          </a:solidFill>
          <a:ln/>
        </p:spPr>
      </p:sp>
      <p:sp>
        <p:nvSpPr>
          <p:cNvPr id="31" name="s13c1-heading"/>
          <p:cNvSpPr txBox="1"/>
          <p:nvPr/>
        </p:nvSpPr>
        <p:spPr>
          <a:xfrm>
            <a:off x="7808976" y="1975104"/>
            <a:ext cx="3566160" cy="274320"/>
          </a:xfrm>
          <a:prstGeom prst="rect">
            <a:avLst/>
          </a:prstGeom>
          <a:noFill/>
          <a:ln/>
        </p:spPr>
        <p:txBody>
          <a:bodyPr wrap="square" lIns="0" tIns="0" rIns="0" bIns="0" rtlCol="0" anchor="ctr"/>
          <a:lstStyle/>
          <a:p>
            <a:pPr indent="0" marL="0">
              <a:buNone/>
            </a:pPr>
            <a:r>
              <a:rPr lang="en-US" sz="1400" b="1" dirty="0">
                <a:solidFill>
                  <a:schemeClr val="bg1"/>
                </a:solidFill>
              </a:rPr>
              <a:t>The negative control</a:t>
            </a:r>
            <a:endParaRPr lang="en-US" sz="1400" dirty="0"/>
          </a:p>
        </p:txBody>
      </p:sp>
      <p:sp>
        <p:nvSpPr>
          <p:cNvPr id="32" name="s13c1-body"/>
          <p:cNvSpPr txBox="1"/>
          <p:nvPr/>
        </p:nvSpPr>
        <p:spPr>
          <a:xfrm>
            <a:off x="7808976" y="2322576"/>
            <a:ext cx="3566160" cy="731520"/>
          </a:xfrm>
          <a:prstGeom prst="rect">
            <a:avLst/>
          </a:prstGeom>
          <a:noFill/>
          <a:ln/>
        </p:spPr>
        <p:txBody>
          <a:bodyPr wrap="square" lIns="0" tIns="0" rIns="0" bIns="0" rtlCol="0" anchor="t"/>
          <a:lstStyle/>
          <a:p>
            <a:pPr indent="0" marL="0">
              <a:buNone/>
            </a:pPr>
            <a:r>
              <a:rPr lang="en-US" sz="1200" dirty="0">
                <a:solidFill>
                  <a:schemeClr val="accent5"/>
                </a:solidFill>
              </a:rPr>
              <a:t>The pre-M1 draft omitted the responder’s identity from the initiator’s signature, which permits impersonation.</a:t>
            </a:r>
            <a:endParaRPr lang="en-US" sz="1200" dirty="0"/>
          </a:p>
        </p:txBody>
      </p:sp>
      <p:sp>
        <p:nvSpPr>
          <p:cNvPr id="33" name="s13c2-panel"/>
          <p:cNvSpPr/>
          <p:nvPr/>
        </p:nvSpPr>
        <p:spPr>
          <a:xfrm>
            <a:off x="7589520" y="3291840"/>
            <a:ext cx="4005072" cy="1389888"/>
          </a:xfrm>
          <a:prstGeom prst="roundRect">
            <a:avLst>
              <a:gd name="adj" fmla="val 3947"/>
            </a:avLst>
          </a:prstGeom>
          <a:solidFill>
            <a:schemeClr val="tx2"/>
          </a:solidFill>
          <a:ln/>
        </p:spPr>
      </p:sp>
      <p:sp>
        <p:nvSpPr>
          <p:cNvPr id="34" name="s13c2-heading"/>
          <p:cNvSpPr txBox="1"/>
          <p:nvPr/>
        </p:nvSpPr>
        <p:spPr>
          <a:xfrm>
            <a:off x="7808976" y="3456432"/>
            <a:ext cx="3566160" cy="274320"/>
          </a:xfrm>
          <a:prstGeom prst="rect">
            <a:avLst/>
          </a:prstGeom>
          <a:noFill/>
          <a:ln/>
        </p:spPr>
        <p:txBody>
          <a:bodyPr wrap="square" lIns="0" tIns="0" rIns="0" bIns="0" rtlCol="0" anchor="ctr"/>
          <a:lstStyle/>
          <a:p>
            <a:pPr indent="0" marL="0">
              <a:buNone/>
            </a:pPr>
            <a:r>
              <a:rPr lang="en-US" sz="1400" b="1" dirty="0">
                <a:solidFill>
                  <a:schemeClr val="bg1"/>
                </a:solidFill>
              </a:rPr>
              <a:t>Why it matters</a:t>
            </a:r>
            <a:endParaRPr lang="en-US" sz="1400" dirty="0"/>
          </a:p>
        </p:txBody>
      </p:sp>
      <p:sp>
        <p:nvSpPr>
          <p:cNvPr id="35" name="s13c2-body"/>
          <p:cNvSpPr txBox="1"/>
          <p:nvPr/>
        </p:nvSpPr>
        <p:spPr>
          <a:xfrm>
            <a:off x="7808976" y="3803904"/>
            <a:ext cx="3566160" cy="749808"/>
          </a:xfrm>
          <a:prstGeom prst="rect">
            <a:avLst/>
          </a:prstGeom>
          <a:noFill/>
          <a:ln/>
        </p:spPr>
        <p:txBody>
          <a:bodyPr wrap="square" lIns="0" tIns="0" rIns="0" bIns="0" rtlCol="0" anchor="t"/>
          <a:lstStyle/>
          <a:p>
            <a:pPr indent="0" marL="0">
              <a:buNone/>
            </a:pPr>
            <a:r>
              <a:rPr lang="en-US" sz="1200" dirty="0">
                <a:solidFill>
                  <a:schemeClr val="accent5"/>
                </a:solidFill>
              </a:rPr>
              <a:t>The tool breaks the broken version and passes the fixed one. A clean run alone would prove far less.</a:t>
            </a:r>
            <a:endParaRPr lang="en-US" sz="1200" dirty="0"/>
          </a:p>
        </p:txBody>
      </p:sp>
      <p:sp>
        <p:nvSpPr>
          <p:cNvPr id="36" name="o10-panel"/>
          <p:cNvSpPr/>
          <p:nvPr/>
        </p:nvSpPr>
        <p:spPr>
          <a:xfrm>
            <a:off x="566928" y="5029200"/>
            <a:ext cx="11027664" cy="768096"/>
          </a:xfrm>
          <a:prstGeom prst="roundRect">
            <a:avLst>
              <a:gd name="adj" fmla="val 7143"/>
            </a:avLst>
          </a:prstGeom>
          <a:solidFill>
            <a:schemeClr val="accent1"/>
          </a:solidFill>
          <a:ln/>
        </p:spPr>
      </p:sp>
      <p:sp>
        <p:nvSpPr>
          <p:cNvPr id="37" name="o10-text"/>
          <p:cNvSpPr txBox="1"/>
          <p:nvPr/>
        </p:nvSpPr>
        <p:spPr>
          <a:xfrm>
            <a:off x="841248" y="5029200"/>
            <a:ext cx="10479024" cy="768096"/>
          </a:xfrm>
          <a:prstGeom prst="rect">
            <a:avLst/>
          </a:prstGeom>
          <a:noFill/>
          <a:ln/>
        </p:spPr>
        <p:txBody>
          <a:bodyPr wrap="square" lIns="0" tIns="0" rIns="0" bIns="0" rtlCol="0" anchor="ctr"/>
          <a:lstStyle/>
          <a:p>
            <a:pPr indent="0" marL="0">
              <a:buNone/>
            </a:pPr>
            <a:r>
              <a:rPr lang="en-US" sz="1400" b="1" dirty="0">
                <a:solidFill>
                  <a:schemeClr val="bg1"/>
                </a:solidFill>
              </a:rPr>
              <a:t>The attack on the pre-M1 sketch is intentional. If Scyther could not break a broken protocol, the clean results would mean nothing.</a:t>
            </a:r>
            <a:endParaRPr lang="en-US" sz="1400" dirty="0"/>
          </a:p>
        </p:txBody>
      </p:sp>
      <p:sp>
        <p:nvSpPr>
          <p:cNvPr id="38" name="s13cite"/>
          <p:cNvSpPr txBox="1"/>
          <p:nvPr/>
        </p:nvSpPr>
        <p:spPr>
          <a:xfrm>
            <a:off x="566928" y="5925312"/>
            <a:ext cx="11027664" cy="274320"/>
          </a:xfrm>
          <a:prstGeom prst="rect">
            <a:avLst/>
          </a:prstGeom>
          <a:noFill/>
          <a:ln/>
        </p:spPr>
        <p:txBody>
          <a:bodyPr wrap="square" lIns="0" tIns="0" rIns="0" bIns="0" rtlCol="0" anchor="t"/>
          <a:lstStyle/>
          <a:p>
            <a:pPr indent="0" marL="0">
              <a:buNone/>
            </a:pPr>
            <a:r>
              <a:rPr lang="en-US" sz="1050" i="1" dirty="0">
                <a:solidFill>
                  <a:schemeClr val="accent5"/>
                </a:solidFill>
              </a:rPr>
              <a:t>DEV-02 · Scyther 1.1.3 · Dolev-Yao model · bounded and unbounded search</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FORMAL VERIFICATION II</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TLA+: when consensus breaks</a:t>
            </a:r>
            <a:endParaRPr lang="en-US" sz="2900" dirty="0"/>
          </a:p>
        </p:txBody>
      </p:sp>
      <p:sp>
        <p:nvSpPr>
          <p:cNvPr id="4" name="s14tbl-h0"/>
          <p:cNvSpPr txBox="1"/>
          <p:nvPr/>
        </p:nvSpPr>
        <p:spPr>
          <a:xfrm>
            <a:off x="566928" y="1371600"/>
            <a:ext cx="237744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Run</a:t>
            </a:r>
            <a:endParaRPr lang="en-US" sz="1100" dirty="0"/>
          </a:p>
        </p:txBody>
      </p:sp>
      <p:sp>
        <p:nvSpPr>
          <p:cNvPr id="5" name="s14tbl-h1"/>
          <p:cNvSpPr txBox="1"/>
          <p:nvPr/>
        </p:nvSpPr>
        <p:spPr>
          <a:xfrm>
            <a:off x="2944368" y="1371600"/>
            <a:ext cx="137160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States</a:t>
            </a:r>
            <a:endParaRPr lang="en-US" sz="1100" dirty="0"/>
          </a:p>
        </p:txBody>
      </p:sp>
      <p:sp>
        <p:nvSpPr>
          <p:cNvPr id="6" name="s14tbl-h2"/>
          <p:cNvSpPr txBox="1"/>
          <p:nvPr/>
        </p:nvSpPr>
        <p:spPr>
          <a:xfrm>
            <a:off x="4315968" y="1371600"/>
            <a:ext cx="137160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Time</a:t>
            </a:r>
            <a:endParaRPr lang="en-US" sz="1100" dirty="0"/>
          </a:p>
        </p:txBody>
      </p:sp>
      <p:sp>
        <p:nvSpPr>
          <p:cNvPr id="7" name="s14tbl-h3"/>
          <p:cNvSpPr txBox="1"/>
          <p:nvPr/>
        </p:nvSpPr>
        <p:spPr>
          <a:xfrm>
            <a:off x="5687568" y="1371600"/>
            <a:ext cx="1645920" cy="274320"/>
          </a:xfrm>
          <a:prstGeom prst="rect">
            <a:avLst/>
          </a:prstGeom>
          <a:noFill/>
          <a:ln/>
        </p:spPr>
        <p:txBody>
          <a:bodyPr wrap="square" lIns="0" tIns="0" rIns="0" bIns="0" rtlCol="0" anchor="ctr"/>
          <a:lstStyle/>
          <a:p>
            <a:pPr algn="l" indent="0" marL="0">
              <a:buNone/>
            </a:pPr>
            <a:r>
              <a:rPr lang="en-US" sz="1100" b="1" spc="80" kern="0" dirty="0">
                <a:solidFill>
                  <a:schemeClr val="accent5"/>
                </a:solidFill>
              </a:rPr>
              <a:t>Result</a:t>
            </a:r>
            <a:endParaRPr lang="en-US" sz="1100" dirty="0"/>
          </a:p>
        </p:txBody>
      </p:sp>
      <p:sp>
        <p:nvSpPr>
          <p:cNvPr id="8" name="s14tbl-band0"/>
          <p:cNvSpPr/>
          <p:nvPr/>
        </p:nvSpPr>
        <p:spPr>
          <a:xfrm>
            <a:off x="457200" y="1719072"/>
            <a:ext cx="6986016" cy="420624"/>
          </a:xfrm>
          <a:prstGeom prst="roundRect">
            <a:avLst>
              <a:gd name="adj" fmla="val 8696"/>
            </a:avLst>
          </a:prstGeom>
          <a:solidFill>
            <a:schemeClr val="tx2"/>
          </a:solidFill>
          <a:ln/>
        </p:spPr>
      </p:sp>
      <p:sp>
        <p:nvSpPr>
          <p:cNvPr id="9" name="s14tbl-r0c0"/>
          <p:cNvSpPr txBox="1"/>
          <p:nvPr/>
        </p:nvSpPr>
        <p:spPr>
          <a:xfrm>
            <a:off x="566928" y="1719072"/>
            <a:ext cx="2377440" cy="420624"/>
          </a:xfrm>
          <a:prstGeom prst="rect">
            <a:avLst/>
          </a:prstGeom>
          <a:noFill/>
          <a:ln/>
        </p:spPr>
        <p:txBody>
          <a:bodyPr wrap="square" lIns="0" tIns="0" rIns="0" bIns="0" rtlCol="0" anchor="ctr"/>
          <a:lstStyle/>
          <a:p>
            <a:pPr algn="l" indent="0" marL="0">
              <a:buNone/>
            </a:pPr>
            <a:r>
              <a:rPr lang="en-US" sz="1200" dirty="0">
                <a:solidFill>
                  <a:schemeClr val="bg1"/>
                </a:solidFill>
              </a:rPr>
              <a:t>Safety, n=4 f=1</a:t>
            </a:r>
            <a:endParaRPr lang="en-US" sz="1200" dirty="0"/>
          </a:p>
        </p:txBody>
      </p:sp>
      <p:sp>
        <p:nvSpPr>
          <p:cNvPr id="10" name="s14tbl-r0c1"/>
          <p:cNvSpPr txBox="1"/>
          <p:nvPr/>
        </p:nvSpPr>
        <p:spPr>
          <a:xfrm>
            <a:off x="2944368" y="1719072"/>
            <a:ext cx="1371600" cy="420624"/>
          </a:xfrm>
          <a:prstGeom prst="rect">
            <a:avLst/>
          </a:prstGeom>
          <a:noFill/>
          <a:ln/>
        </p:spPr>
        <p:txBody>
          <a:bodyPr wrap="square" lIns="0" tIns="0" rIns="0" bIns="0" rtlCol="0" anchor="ctr"/>
          <a:lstStyle/>
          <a:p>
            <a:pPr algn="l" indent="0" marL="0">
              <a:buNone/>
            </a:pPr>
            <a:r>
              <a:rPr lang="en-US" sz="1200" dirty="0">
                <a:solidFill>
                  <a:schemeClr val="accent5"/>
                </a:solidFill>
              </a:rPr>
              <a:t>74.9M</a:t>
            </a:r>
            <a:endParaRPr lang="en-US" sz="1200" dirty="0"/>
          </a:p>
        </p:txBody>
      </p:sp>
      <p:sp>
        <p:nvSpPr>
          <p:cNvPr id="11" name="s14tbl-r0c2"/>
          <p:cNvSpPr txBox="1"/>
          <p:nvPr/>
        </p:nvSpPr>
        <p:spPr>
          <a:xfrm>
            <a:off x="4315968" y="1719072"/>
            <a:ext cx="1371600" cy="420624"/>
          </a:xfrm>
          <a:prstGeom prst="rect">
            <a:avLst/>
          </a:prstGeom>
          <a:noFill/>
          <a:ln/>
        </p:spPr>
        <p:txBody>
          <a:bodyPr wrap="square" lIns="0" tIns="0" rIns="0" bIns="0" rtlCol="0" anchor="ctr"/>
          <a:lstStyle/>
          <a:p>
            <a:pPr algn="l" indent="0" marL="0">
              <a:buNone/>
            </a:pPr>
            <a:r>
              <a:rPr lang="en-US" sz="1200" dirty="0">
                <a:solidFill>
                  <a:schemeClr val="accent5"/>
                </a:solidFill>
              </a:rPr>
              <a:t>68 min</a:t>
            </a:r>
            <a:endParaRPr lang="en-US" sz="1200" dirty="0"/>
          </a:p>
        </p:txBody>
      </p:sp>
      <p:sp>
        <p:nvSpPr>
          <p:cNvPr id="12" name="s14tbl-r0c3"/>
          <p:cNvSpPr txBox="1"/>
          <p:nvPr/>
        </p:nvSpPr>
        <p:spPr>
          <a:xfrm>
            <a:off x="5687568" y="1719072"/>
            <a:ext cx="1645920" cy="420624"/>
          </a:xfrm>
          <a:prstGeom prst="rect">
            <a:avLst/>
          </a:prstGeom>
          <a:noFill/>
          <a:ln/>
        </p:spPr>
        <p:txBody>
          <a:bodyPr wrap="square" lIns="0" tIns="0" rIns="0" bIns="0" rtlCol="0" anchor="ctr"/>
          <a:lstStyle/>
          <a:p>
            <a:pPr algn="l" indent="0" marL="0">
              <a:buNone/>
            </a:pPr>
            <a:r>
              <a:rPr lang="en-US" sz="1200" dirty="0">
                <a:solidFill>
                  <a:schemeClr val="accent5"/>
                </a:solidFill>
              </a:rPr>
              <a:t>Verified</a:t>
            </a:r>
            <a:endParaRPr lang="en-US" sz="1200" dirty="0"/>
          </a:p>
        </p:txBody>
      </p:sp>
      <p:sp>
        <p:nvSpPr>
          <p:cNvPr id="13" name="s14tbl-band1"/>
          <p:cNvSpPr/>
          <p:nvPr/>
        </p:nvSpPr>
        <p:spPr>
          <a:xfrm>
            <a:off x="457200" y="2176272"/>
            <a:ext cx="6986016" cy="420624"/>
          </a:xfrm>
          <a:prstGeom prst="roundRect">
            <a:avLst>
              <a:gd name="adj" fmla="val 8696"/>
            </a:avLst>
          </a:prstGeom>
          <a:solidFill>
            <a:schemeClr val="accent3"/>
          </a:solidFill>
          <a:ln/>
        </p:spPr>
      </p:sp>
      <p:sp>
        <p:nvSpPr>
          <p:cNvPr id="14" name="s14tbl-r1c0"/>
          <p:cNvSpPr txBox="1"/>
          <p:nvPr/>
        </p:nvSpPr>
        <p:spPr>
          <a:xfrm>
            <a:off x="566928" y="2176272"/>
            <a:ext cx="2377440" cy="420624"/>
          </a:xfrm>
          <a:prstGeom prst="rect">
            <a:avLst/>
          </a:prstGeom>
          <a:noFill/>
          <a:ln/>
        </p:spPr>
        <p:txBody>
          <a:bodyPr wrap="square" lIns="0" tIns="0" rIns="0" bIns="0" rtlCol="0" anchor="ctr"/>
          <a:lstStyle/>
          <a:p>
            <a:pPr algn="l" indent="0" marL="0">
              <a:buNone/>
            </a:pPr>
            <a:r>
              <a:rPr lang="en-US" sz="1200" b="1" dirty="0">
                <a:solidFill>
                  <a:schemeClr val="bg1"/>
                </a:solidFill>
              </a:rPr>
              <a:t>FLAW-5, n=4 f=2</a:t>
            </a:r>
            <a:endParaRPr lang="en-US" sz="1200" dirty="0"/>
          </a:p>
        </p:txBody>
      </p:sp>
      <p:sp>
        <p:nvSpPr>
          <p:cNvPr id="15" name="s14tbl-r1c1"/>
          <p:cNvSpPr txBox="1"/>
          <p:nvPr/>
        </p:nvSpPr>
        <p:spPr>
          <a:xfrm>
            <a:off x="2944368" y="2176272"/>
            <a:ext cx="1371600" cy="420624"/>
          </a:xfrm>
          <a:prstGeom prst="rect">
            <a:avLst/>
          </a:prstGeom>
          <a:noFill/>
          <a:ln/>
        </p:spPr>
        <p:txBody>
          <a:bodyPr wrap="square" lIns="0" tIns="0" rIns="0" bIns="0" rtlCol="0" anchor="ctr"/>
          <a:lstStyle/>
          <a:p>
            <a:pPr algn="l" indent="0" marL="0">
              <a:buNone/>
            </a:pPr>
            <a:r>
              <a:rPr lang="en-US" sz="1200" b="1" dirty="0">
                <a:solidFill>
                  <a:schemeClr val="bg1"/>
                </a:solidFill>
              </a:rPr>
              <a:t>1.5B</a:t>
            </a:r>
            <a:endParaRPr lang="en-US" sz="1200" dirty="0"/>
          </a:p>
        </p:txBody>
      </p:sp>
      <p:sp>
        <p:nvSpPr>
          <p:cNvPr id="16" name="s14tbl-r1c2"/>
          <p:cNvSpPr txBox="1"/>
          <p:nvPr/>
        </p:nvSpPr>
        <p:spPr>
          <a:xfrm>
            <a:off x="4315968" y="2176272"/>
            <a:ext cx="1371600" cy="420624"/>
          </a:xfrm>
          <a:prstGeom prst="rect">
            <a:avLst/>
          </a:prstGeom>
          <a:noFill/>
          <a:ln/>
        </p:spPr>
        <p:txBody>
          <a:bodyPr wrap="square" lIns="0" tIns="0" rIns="0" bIns="0" rtlCol="0" anchor="ctr"/>
          <a:lstStyle/>
          <a:p>
            <a:pPr algn="l" indent="0" marL="0">
              <a:buNone/>
            </a:pPr>
            <a:r>
              <a:rPr lang="en-US" sz="1200" b="1" dirty="0">
                <a:solidFill>
                  <a:schemeClr val="bg1"/>
                </a:solidFill>
              </a:rPr>
              <a:t>15h 56m</a:t>
            </a:r>
            <a:endParaRPr lang="en-US" sz="1200" dirty="0"/>
          </a:p>
        </p:txBody>
      </p:sp>
      <p:sp>
        <p:nvSpPr>
          <p:cNvPr id="17" name="s14tbl-r1c3"/>
          <p:cNvSpPr txBox="1"/>
          <p:nvPr/>
        </p:nvSpPr>
        <p:spPr>
          <a:xfrm>
            <a:off x="5687568" y="2176272"/>
            <a:ext cx="1645920" cy="420624"/>
          </a:xfrm>
          <a:prstGeom prst="rect">
            <a:avLst/>
          </a:prstGeom>
          <a:noFill/>
          <a:ln/>
        </p:spPr>
        <p:txBody>
          <a:bodyPr wrap="square" lIns="0" tIns="0" rIns="0" bIns="0" rtlCol="0" anchor="ctr"/>
          <a:lstStyle/>
          <a:p>
            <a:pPr algn="l" indent="0" marL="0">
              <a:buNone/>
            </a:pPr>
            <a:r>
              <a:rPr lang="en-US" sz="1200" b="1" dirty="0">
                <a:solidFill>
                  <a:schemeClr val="bg1"/>
                </a:solidFill>
              </a:rPr>
              <a:t>Violated</a:t>
            </a:r>
            <a:endParaRPr lang="en-US" sz="1200" dirty="0"/>
          </a:p>
        </p:txBody>
      </p:sp>
      <p:sp>
        <p:nvSpPr>
          <p:cNvPr id="18" name="s14tbl-band2"/>
          <p:cNvSpPr/>
          <p:nvPr/>
        </p:nvSpPr>
        <p:spPr>
          <a:xfrm>
            <a:off x="457200" y="2633472"/>
            <a:ext cx="6986016" cy="420624"/>
          </a:xfrm>
          <a:prstGeom prst="roundRect">
            <a:avLst>
              <a:gd name="adj" fmla="val 8696"/>
            </a:avLst>
          </a:prstGeom>
          <a:solidFill>
            <a:schemeClr val="tx2"/>
          </a:solidFill>
          <a:ln/>
        </p:spPr>
      </p:sp>
      <p:sp>
        <p:nvSpPr>
          <p:cNvPr id="19" name="s14tbl-r2c0"/>
          <p:cNvSpPr txBox="1"/>
          <p:nvPr/>
        </p:nvSpPr>
        <p:spPr>
          <a:xfrm>
            <a:off x="566928" y="2633472"/>
            <a:ext cx="2377440" cy="420624"/>
          </a:xfrm>
          <a:prstGeom prst="rect">
            <a:avLst/>
          </a:prstGeom>
          <a:noFill/>
          <a:ln/>
        </p:spPr>
        <p:txBody>
          <a:bodyPr wrap="square" lIns="0" tIns="0" rIns="0" bIns="0" rtlCol="0" anchor="ctr"/>
          <a:lstStyle/>
          <a:p>
            <a:pPr algn="l" indent="0" marL="0">
              <a:buNone/>
            </a:pPr>
            <a:r>
              <a:rPr lang="en-US" sz="1200" dirty="0">
                <a:solidFill>
                  <a:schemeClr val="bg1"/>
                </a:solidFill>
              </a:rPr>
              <a:t>Liveness, f=0</a:t>
            </a:r>
            <a:endParaRPr lang="en-US" sz="1200" dirty="0"/>
          </a:p>
        </p:txBody>
      </p:sp>
      <p:sp>
        <p:nvSpPr>
          <p:cNvPr id="20" name="s14tbl-r2c1"/>
          <p:cNvSpPr txBox="1"/>
          <p:nvPr/>
        </p:nvSpPr>
        <p:spPr>
          <a:xfrm>
            <a:off x="2944368" y="2633472"/>
            <a:ext cx="1371600" cy="420624"/>
          </a:xfrm>
          <a:prstGeom prst="rect">
            <a:avLst/>
          </a:prstGeom>
          <a:noFill/>
          <a:ln/>
        </p:spPr>
        <p:txBody>
          <a:bodyPr wrap="square" lIns="0" tIns="0" rIns="0" bIns="0" rtlCol="0" anchor="ctr"/>
          <a:lstStyle/>
          <a:p>
            <a:pPr algn="l" indent="0" marL="0">
              <a:buNone/>
            </a:pPr>
            <a:r>
              <a:rPr lang="en-US" sz="1200" dirty="0">
                <a:solidFill>
                  <a:schemeClr val="accent5"/>
                </a:solidFill>
              </a:rPr>
              <a:t>1.2M</a:t>
            </a:r>
            <a:endParaRPr lang="en-US" sz="1200" dirty="0"/>
          </a:p>
        </p:txBody>
      </p:sp>
      <p:sp>
        <p:nvSpPr>
          <p:cNvPr id="21" name="s14tbl-r2c2"/>
          <p:cNvSpPr txBox="1"/>
          <p:nvPr/>
        </p:nvSpPr>
        <p:spPr>
          <a:xfrm>
            <a:off x="4315968" y="2633472"/>
            <a:ext cx="1371600" cy="420624"/>
          </a:xfrm>
          <a:prstGeom prst="rect">
            <a:avLst/>
          </a:prstGeom>
          <a:noFill/>
          <a:ln/>
        </p:spPr>
        <p:txBody>
          <a:bodyPr wrap="square" lIns="0" tIns="0" rIns="0" bIns="0" rtlCol="0" anchor="ctr"/>
          <a:lstStyle/>
          <a:p>
            <a:pPr algn="l" indent="0" marL="0">
              <a:buNone/>
            </a:pPr>
            <a:r>
              <a:rPr lang="en-US" sz="1200" dirty="0">
                <a:solidFill>
                  <a:schemeClr val="accent5"/>
                </a:solidFill>
              </a:rPr>
              <a:t>3 min</a:t>
            </a:r>
            <a:endParaRPr lang="en-US" sz="1200" dirty="0"/>
          </a:p>
        </p:txBody>
      </p:sp>
      <p:sp>
        <p:nvSpPr>
          <p:cNvPr id="22" name="s14tbl-r2c3"/>
          <p:cNvSpPr txBox="1"/>
          <p:nvPr/>
        </p:nvSpPr>
        <p:spPr>
          <a:xfrm>
            <a:off x="5687568" y="2633472"/>
            <a:ext cx="1645920" cy="420624"/>
          </a:xfrm>
          <a:prstGeom prst="rect">
            <a:avLst/>
          </a:prstGeom>
          <a:noFill/>
          <a:ln/>
        </p:spPr>
        <p:txBody>
          <a:bodyPr wrap="square" lIns="0" tIns="0" rIns="0" bIns="0" rtlCol="0" anchor="ctr"/>
          <a:lstStyle/>
          <a:p>
            <a:pPr algn="l" indent="0" marL="0">
              <a:buNone/>
            </a:pPr>
            <a:r>
              <a:rPr lang="en-US" sz="1200" dirty="0">
                <a:solidFill>
                  <a:schemeClr val="accent5"/>
                </a:solidFill>
              </a:rPr>
              <a:t>Verified</a:t>
            </a:r>
            <a:endParaRPr lang="en-US" sz="1200" dirty="0"/>
          </a:p>
        </p:txBody>
      </p:sp>
      <p:sp>
        <p:nvSpPr>
          <p:cNvPr id="23" name="s14tbl-r3c0"/>
          <p:cNvSpPr txBox="1"/>
          <p:nvPr/>
        </p:nvSpPr>
        <p:spPr>
          <a:xfrm>
            <a:off x="566928" y="3090672"/>
            <a:ext cx="2377440" cy="420624"/>
          </a:xfrm>
          <a:prstGeom prst="rect">
            <a:avLst/>
          </a:prstGeom>
          <a:noFill/>
          <a:ln/>
        </p:spPr>
        <p:txBody>
          <a:bodyPr wrap="square" lIns="0" tIns="0" rIns="0" bIns="0" rtlCol="0" anchor="ctr"/>
          <a:lstStyle/>
          <a:p>
            <a:pPr algn="l" indent="0" marL="0">
              <a:buNone/>
            </a:pPr>
            <a:r>
              <a:rPr lang="en-US" sz="1200" dirty="0">
                <a:solidFill>
                  <a:schemeClr val="bg1"/>
                </a:solidFill>
              </a:rPr>
              <a:t>Liveness, f=1</a:t>
            </a:r>
            <a:endParaRPr lang="en-US" sz="1200" dirty="0"/>
          </a:p>
        </p:txBody>
      </p:sp>
      <p:sp>
        <p:nvSpPr>
          <p:cNvPr id="24" name="s14tbl-r3c1"/>
          <p:cNvSpPr txBox="1"/>
          <p:nvPr/>
        </p:nvSpPr>
        <p:spPr>
          <a:xfrm>
            <a:off x="2944368" y="3090672"/>
            <a:ext cx="1371600" cy="420624"/>
          </a:xfrm>
          <a:prstGeom prst="rect">
            <a:avLst/>
          </a:prstGeom>
          <a:noFill/>
          <a:ln/>
        </p:spPr>
        <p:txBody>
          <a:bodyPr wrap="square" lIns="0" tIns="0" rIns="0" bIns="0" rtlCol="0" anchor="ctr"/>
          <a:lstStyle/>
          <a:p>
            <a:pPr algn="l" indent="0" marL="0">
              <a:buNone/>
            </a:pPr>
            <a:r>
              <a:rPr lang="en-US" sz="1200" dirty="0">
                <a:solidFill>
                  <a:schemeClr val="accent5"/>
                </a:solidFill>
              </a:rPr>
              <a:t>149.9M</a:t>
            </a:r>
            <a:endParaRPr lang="en-US" sz="1200" dirty="0"/>
          </a:p>
        </p:txBody>
      </p:sp>
      <p:sp>
        <p:nvSpPr>
          <p:cNvPr id="25" name="s14tbl-r3c2"/>
          <p:cNvSpPr txBox="1"/>
          <p:nvPr/>
        </p:nvSpPr>
        <p:spPr>
          <a:xfrm>
            <a:off x="4315968" y="3090672"/>
            <a:ext cx="1371600" cy="420624"/>
          </a:xfrm>
          <a:prstGeom prst="rect">
            <a:avLst/>
          </a:prstGeom>
          <a:noFill/>
          <a:ln/>
        </p:spPr>
        <p:txBody>
          <a:bodyPr wrap="square" lIns="0" tIns="0" rIns="0" bIns="0" rtlCol="0" anchor="ctr"/>
          <a:lstStyle/>
          <a:p>
            <a:pPr algn="l" indent="0" marL="0">
              <a:buNone/>
            </a:pPr>
            <a:r>
              <a:rPr lang="en-US" sz="1200" dirty="0">
                <a:solidFill>
                  <a:schemeClr val="accent5"/>
                </a:solidFill>
              </a:rPr>
              <a:t>16h 49m</a:t>
            </a:r>
            <a:endParaRPr lang="en-US" sz="1200" dirty="0"/>
          </a:p>
        </p:txBody>
      </p:sp>
      <p:sp>
        <p:nvSpPr>
          <p:cNvPr id="26" name="s14tbl-r3c3"/>
          <p:cNvSpPr txBox="1"/>
          <p:nvPr/>
        </p:nvSpPr>
        <p:spPr>
          <a:xfrm>
            <a:off x="5687568" y="3090672"/>
            <a:ext cx="1645920" cy="420624"/>
          </a:xfrm>
          <a:prstGeom prst="rect">
            <a:avLst/>
          </a:prstGeom>
          <a:noFill/>
          <a:ln/>
        </p:spPr>
        <p:txBody>
          <a:bodyPr wrap="square" lIns="0" tIns="0" rIns="0" bIns="0" rtlCol="0" anchor="ctr"/>
          <a:lstStyle/>
          <a:p>
            <a:pPr algn="l" indent="0" marL="0">
              <a:buNone/>
            </a:pPr>
            <a:r>
              <a:rPr lang="en-US" sz="1200" dirty="0">
                <a:solidFill>
                  <a:schemeClr val="accent5"/>
                </a:solidFill>
              </a:rPr>
              <a:t>Verified</a:t>
            </a:r>
            <a:endParaRPr lang="en-US" sz="1200" dirty="0"/>
          </a:p>
        </p:txBody>
      </p:sp>
      <p:sp>
        <p:nvSpPr>
          <p:cNvPr id="27" name="s14s1-panel"/>
          <p:cNvSpPr/>
          <p:nvPr/>
        </p:nvSpPr>
        <p:spPr>
          <a:xfrm>
            <a:off x="566928" y="3657600"/>
            <a:ext cx="3200400" cy="1316736"/>
          </a:xfrm>
          <a:prstGeom prst="roundRect">
            <a:avLst>
              <a:gd name="adj" fmla="val 4167"/>
            </a:avLst>
          </a:prstGeom>
          <a:solidFill>
            <a:schemeClr val="accent3"/>
          </a:solidFill>
          <a:ln/>
        </p:spPr>
      </p:sp>
      <p:sp>
        <p:nvSpPr>
          <p:cNvPr id="28" name="s14s1-heading"/>
          <p:cNvSpPr txBox="1"/>
          <p:nvPr/>
        </p:nvSpPr>
        <p:spPr>
          <a:xfrm>
            <a:off x="786384" y="3822192"/>
            <a:ext cx="2761488" cy="457200"/>
          </a:xfrm>
          <a:prstGeom prst="rect">
            <a:avLst/>
          </a:prstGeom>
          <a:noFill/>
          <a:ln/>
        </p:spPr>
        <p:txBody>
          <a:bodyPr wrap="square" lIns="0" tIns="0" rIns="0" bIns="0" rtlCol="0" anchor="ctr"/>
          <a:lstStyle/>
          <a:p>
            <a:pPr indent="0" marL="0">
              <a:buNone/>
            </a:pPr>
            <a:r>
              <a:rPr lang="en-US" sz="2600" b="1" dirty="0">
                <a:solidFill>
                  <a:schemeClr val="bg1"/>
                </a:solidFill>
              </a:rPr>
              <a:t>50%</a:t>
            </a:r>
            <a:endParaRPr lang="en-US" sz="2600" dirty="0"/>
          </a:p>
        </p:txBody>
      </p:sp>
      <p:sp>
        <p:nvSpPr>
          <p:cNvPr id="29" name="s14s1-body"/>
          <p:cNvSpPr txBox="1"/>
          <p:nvPr/>
        </p:nvSpPr>
        <p:spPr>
          <a:xfrm>
            <a:off x="786384" y="4352544"/>
            <a:ext cx="2761488" cy="493776"/>
          </a:xfrm>
          <a:prstGeom prst="rect">
            <a:avLst/>
          </a:prstGeom>
          <a:noFill/>
          <a:ln/>
        </p:spPr>
        <p:txBody>
          <a:bodyPr wrap="square" lIns="0" tIns="0" rIns="0" bIns="0" rtlCol="0" anchor="t"/>
          <a:lstStyle/>
          <a:p>
            <a:pPr indent="0" marL="0">
              <a:buNone/>
            </a:pPr>
            <a:r>
              <a:rPr lang="en-US" sz="1200" dirty="0">
                <a:solidFill>
                  <a:schemeClr val="bg1"/>
                </a:solidFill>
              </a:rPr>
              <a:t>not 51% — two of four nodes suffice</a:t>
            </a:r>
            <a:endParaRPr lang="en-US" sz="1200" dirty="0"/>
          </a:p>
        </p:txBody>
      </p:sp>
      <p:sp>
        <p:nvSpPr>
          <p:cNvPr id="30" name="s14s2-panel"/>
          <p:cNvSpPr/>
          <p:nvPr/>
        </p:nvSpPr>
        <p:spPr>
          <a:xfrm>
            <a:off x="3986784" y="3657600"/>
            <a:ext cx="3200400" cy="1316736"/>
          </a:xfrm>
          <a:prstGeom prst="roundRect">
            <a:avLst>
              <a:gd name="adj" fmla="val 4167"/>
            </a:avLst>
          </a:prstGeom>
          <a:solidFill>
            <a:schemeClr val="tx2"/>
          </a:solidFill>
          <a:ln/>
        </p:spPr>
      </p:sp>
      <p:sp>
        <p:nvSpPr>
          <p:cNvPr id="31" name="s14s2-heading"/>
          <p:cNvSpPr txBox="1"/>
          <p:nvPr/>
        </p:nvSpPr>
        <p:spPr>
          <a:xfrm>
            <a:off x="4206240" y="3822192"/>
            <a:ext cx="2761488" cy="457200"/>
          </a:xfrm>
          <a:prstGeom prst="rect">
            <a:avLst/>
          </a:prstGeom>
          <a:noFill/>
          <a:ln/>
        </p:spPr>
        <p:txBody>
          <a:bodyPr wrap="square" lIns="0" tIns="0" rIns="0" bIns="0" rtlCol="0" anchor="ctr"/>
          <a:lstStyle/>
          <a:p>
            <a:pPr indent="0" marL="0">
              <a:buNone/>
            </a:pPr>
            <a:r>
              <a:rPr lang="en-US" sz="2600" b="1" dirty="0">
                <a:solidFill>
                  <a:schemeClr val="accent1"/>
                </a:solidFill>
              </a:rPr>
              <a:t>1 s</a:t>
            </a:r>
            <a:endParaRPr lang="en-US" sz="2600" dirty="0"/>
          </a:p>
        </p:txBody>
      </p:sp>
      <p:sp>
        <p:nvSpPr>
          <p:cNvPr id="32" name="s14s2-body"/>
          <p:cNvSpPr txBox="1"/>
          <p:nvPr/>
        </p:nvSpPr>
        <p:spPr>
          <a:xfrm>
            <a:off x="4206240" y="4352544"/>
            <a:ext cx="2761488" cy="493776"/>
          </a:xfrm>
          <a:prstGeom prst="rect">
            <a:avLst/>
          </a:prstGeom>
          <a:noFill/>
          <a:ln/>
        </p:spPr>
        <p:txBody>
          <a:bodyPr wrap="square" lIns="0" tIns="0" rIns="0" bIns="0" rtlCol="0" anchor="t"/>
          <a:lstStyle/>
          <a:p>
            <a:pPr indent="0" marL="0">
              <a:buNone/>
            </a:pPr>
            <a:r>
              <a:rPr lang="en-US" sz="1200" dirty="0">
                <a:solidFill>
                  <a:schemeClr val="accent5"/>
                </a:solidFill>
              </a:rPr>
              <a:t>to find the counterexample by simulation</a:t>
            </a:r>
            <a:endParaRPr lang="en-US" sz="1200" dirty="0"/>
          </a:p>
        </p:txBody>
      </p:sp>
      <p:sp>
        <p:nvSpPr>
          <p:cNvPr id="33" name="s14c1-panel"/>
          <p:cNvSpPr/>
          <p:nvPr/>
        </p:nvSpPr>
        <p:spPr>
          <a:xfrm>
            <a:off x="7589520" y="1371600"/>
            <a:ext cx="4005072" cy="1828800"/>
          </a:xfrm>
          <a:prstGeom prst="roundRect">
            <a:avLst>
              <a:gd name="adj" fmla="val 3000"/>
            </a:avLst>
          </a:prstGeom>
          <a:solidFill>
            <a:schemeClr val="tx2"/>
          </a:solidFill>
          <a:ln/>
        </p:spPr>
      </p:sp>
      <p:sp>
        <p:nvSpPr>
          <p:cNvPr id="34" name="s14c1-heading"/>
          <p:cNvSpPr txBox="1"/>
          <p:nvPr/>
        </p:nvSpPr>
        <p:spPr>
          <a:xfrm>
            <a:off x="7808976" y="1536192"/>
            <a:ext cx="3566160" cy="292608"/>
          </a:xfrm>
          <a:prstGeom prst="rect">
            <a:avLst/>
          </a:prstGeom>
          <a:noFill/>
          <a:ln/>
        </p:spPr>
        <p:txBody>
          <a:bodyPr wrap="square" lIns="0" tIns="0" rIns="0" bIns="0" rtlCol="0" anchor="ctr"/>
          <a:lstStyle/>
          <a:p>
            <a:pPr indent="0" marL="0">
              <a:buNone/>
            </a:pPr>
            <a:r>
              <a:rPr lang="en-US" sz="1500" b="1" dirty="0">
                <a:solidFill>
                  <a:schemeClr val="accent2"/>
                </a:solidFill>
              </a:rPr>
              <a:t>Agreement violated</a:t>
            </a:r>
            <a:endParaRPr lang="en-US" sz="1500" dirty="0"/>
          </a:p>
        </p:txBody>
      </p:sp>
      <p:sp>
        <p:nvSpPr>
          <p:cNvPr id="35" name="s14c1-body"/>
          <p:cNvSpPr txBox="1"/>
          <p:nvPr/>
        </p:nvSpPr>
        <p:spPr>
          <a:xfrm>
            <a:off x="7808976" y="1901952"/>
            <a:ext cx="3566160" cy="1170432"/>
          </a:xfrm>
          <a:prstGeom prst="rect">
            <a:avLst/>
          </a:prstGeom>
          <a:noFill/>
          <a:ln/>
        </p:spPr>
        <p:txBody>
          <a:bodyPr wrap="square" lIns="0" tIns="0" rIns="0" bIns="0" rtlCol="0" anchor="t"/>
          <a:lstStyle/>
          <a:p>
            <a:pPr indent="0" marL="0">
              <a:buNone/>
            </a:pPr>
            <a:r>
              <a:rPr lang="en-US" sz="1200" dirty="0">
                <a:solidFill>
                  <a:schemeClr val="accent5"/>
                </a:solidFill>
              </a:rPr>
              <a:t>At f = 2 on a four-node cluster, two honest replicas commit different blocks at the same height. The exhaustive run on Ada confirms it is structural, not a fluke.</a:t>
            </a:r>
            <a:endParaRPr lang="en-US" sz="1200" dirty="0"/>
          </a:p>
        </p:txBody>
      </p:sp>
      <p:sp>
        <p:nvSpPr>
          <p:cNvPr id="36" name="s14c2-panel"/>
          <p:cNvSpPr/>
          <p:nvPr/>
        </p:nvSpPr>
        <p:spPr>
          <a:xfrm>
            <a:off x="7589520" y="3310128"/>
            <a:ext cx="4005072" cy="1664208"/>
          </a:xfrm>
          <a:prstGeom prst="roundRect">
            <a:avLst>
              <a:gd name="adj" fmla="val 3297"/>
            </a:avLst>
          </a:prstGeom>
          <a:solidFill>
            <a:schemeClr val="tx2"/>
          </a:solidFill>
          <a:ln/>
        </p:spPr>
      </p:sp>
      <p:sp>
        <p:nvSpPr>
          <p:cNvPr id="37" name="s14c2-heading"/>
          <p:cNvSpPr txBox="1"/>
          <p:nvPr/>
        </p:nvSpPr>
        <p:spPr>
          <a:xfrm>
            <a:off x="7808976" y="3474720"/>
            <a:ext cx="3566160" cy="274320"/>
          </a:xfrm>
          <a:prstGeom prst="rect">
            <a:avLst/>
          </a:prstGeom>
          <a:noFill/>
          <a:ln/>
        </p:spPr>
        <p:txBody>
          <a:bodyPr wrap="square" lIns="0" tIns="0" rIns="0" bIns="0" rtlCol="0" anchor="ctr"/>
          <a:lstStyle/>
          <a:p>
            <a:pPr indent="0" marL="0">
              <a:buNone/>
            </a:pPr>
            <a:r>
              <a:rPr lang="en-US" sz="1400" b="1" dirty="0">
                <a:solidFill>
                  <a:schemeClr val="bg1"/>
                </a:solidFill>
              </a:rPr>
              <a:t>What the paper omits</a:t>
            </a:r>
            <a:endParaRPr lang="en-US" sz="1400" dirty="0"/>
          </a:p>
        </p:txBody>
      </p:sp>
      <p:sp>
        <p:nvSpPr>
          <p:cNvPr id="38" name="s14c2-body"/>
          <p:cNvSpPr txBox="1"/>
          <p:nvPr/>
        </p:nvSpPr>
        <p:spPr>
          <a:xfrm>
            <a:off x="7808976" y="3822192"/>
            <a:ext cx="3566160" cy="1024128"/>
          </a:xfrm>
          <a:prstGeom prst="rect">
            <a:avLst/>
          </a:prstGeom>
          <a:noFill/>
          <a:ln/>
        </p:spPr>
        <p:txBody>
          <a:bodyPr wrap="square" lIns="0" tIns="0" rIns="0" bIns="0" rtlCol="0" anchor="t"/>
          <a:lstStyle/>
          <a:p>
            <a:pPr indent="0" marL="0">
              <a:buNone/>
            </a:pPr>
            <a:r>
              <a:rPr lang="en-US" sz="1200" dirty="0">
                <a:solidFill>
                  <a:schemeClr val="accent5"/>
                </a:solidFill>
              </a:rPr>
              <a:t>pBFT is safe while fewer than n/3 replicas are faulty. The paper states no fault assumption at all, while concluding safety against other potential attacks.</a:t>
            </a:r>
            <a:endParaRPr lang="en-US" sz="1200" dirty="0"/>
          </a:p>
        </p:txBody>
      </p:sp>
      <p:sp>
        <p:nvSpPr>
          <p:cNvPr id="39" name="o11-panel"/>
          <p:cNvSpPr/>
          <p:nvPr/>
        </p:nvSpPr>
        <p:spPr>
          <a:xfrm>
            <a:off x="566928" y="5120640"/>
            <a:ext cx="11027664" cy="713232"/>
          </a:xfrm>
          <a:prstGeom prst="roundRect">
            <a:avLst>
              <a:gd name="adj" fmla="val 7692"/>
            </a:avLst>
          </a:prstGeom>
          <a:solidFill>
            <a:schemeClr val="accent1"/>
          </a:solidFill>
          <a:ln/>
        </p:spPr>
      </p:sp>
      <p:sp>
        <p:nvSpPr>
          <p:cNvPr id="40" name="o11-text"/>
          <p:cNvSpPr txBox="1"/>
          <p:nvPr/>
        </p:nvSpPr>
        <p:spPr>
          <a:xfrm>
            <a:off x="841248" y="5120640"/>
            <a:ext cx="10479024" cy="713232"/>
          </a:xfrm>
          <a:prstGeom prst="rect">
            <a:avLst/>
          </a:prstGeom>
          <a:noFill/>
          <a:ln/>
        </p:spPr>
        <p:txBody>
          <a:bodyPr wrap="square" lIns="0" tIns="0" rIns="0" bIns="0" rtlCol="0" anchor="ctr"/>
          <a:lstStyle/>
          <a:p>
            <a:pPr indent="0" marL="0">
              <a:buNone/>
            </a:pPr>
            <a:r>
              <a:rPr lang="en-US" sz="1400" b="1" dirty="0">
                <a:solidFill>
                  <a:schemeClr val="bg1"/>
                </a:solidFill>
              </a:rPr>
              <a:t>The model behaves exactly at the standard fault boundary. The finding is the omission: no fault assumption is stated.</a:t>
            </a:r>
            <a:endParaRPr lang="en-US" sz="1400" dirty="0"/>
          </a:p>
        </p:txBody>
      </p:sp>
      <p:sp>
        <p:nvSpPr>
          <p:cNvPr id="41" name="s14cite"/>
          <p:cNvSpPr txBox="1"/>
          <p:nvPr/>
        </p:nvSpPr>
        <p:spPr>
          <a:xfrm>
            <a:off x="566928" y="5943600"/>
            <a:ext cx="11027664" cy="274320"/>
          </a:xfrm>
          <a:prstGeom prst="rect">
            <a:avLst/>
          </a:prstGeom>
          <a:noFill/>
          <a:ln/>
        </p:spPr>
        <p:txBody>
          <a:bodyPr wrap="square" lIns="0" tIns="0" rIns="0" bIns="0" rtlCol="0" anchor="t"/>
          <a:lstStyle/>
          <a:p>
            <a:pPr indent="0" marL="0">
              <a:buNone/>
            </a:pPr>
            <a:r>
              <a:rPr lang="en-US" sz="1050" i="1" dirty="0">
                <a:solidFill>
                  <a:schemeClr val="accent5"/>
                </a:solidFill>
              </a:rPr>
              <a:t>TLC model checker · Ada HPC cluster · bound MaxView=1, MaxSeq=1</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SECURITY ANALYSIS</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Adversarial robustness</a:t>
            </a:r>
            <a:endParaRPr lang="en-US" sz="2900" dirty="0"/>
          </a:p>
        </p:txBody>
      </p:sp>
      <p:sp>
        <p:nvSpPr>
          <p:cNvPr id="4" name="s15h0-panel"/>
          <p:cNvSpPr/>
          <p:nvPr/>
        </p:nvSpPr>
        <p:spPr>
          <a:xfrm>
            <a:off x="566928" y="1371600"/>
            <a:ext cx="3547872" cy="2871216"/>
          </a:xfrm>
          <a:prstGeom prst="roundRect">
            <a:avLst>
              <a:gd name="adj" fmla="val 1911"/>
            </a:avLst>
          </a:prstGeom>
          <a:solidFill>
            <a:schemeClr val="tx2"/>
          </a:solidFill>
          <a:ln/>
        </p:spPr>
      </p:sp>
      <p:sp>
        <p:nvSpPr>
          <p:cNvPr id="5" name="s15h0-heading"/>
          <p:cNvSpPr txBox="1"/>
          <p:nvPr/>
        </p:nvSpPr>
        <p:spPr>
          <a:xfrm>
            <a:off x="786384" y="1536192"/>
            <a:ext cx="3108960" cy="329184"/>
          </a:xfrm>
          <a:prstGeom prst="rect">
            <a:avLst/>
          </a:prstGeom>
          <a:noFill/>
          <a:ln/>
        </p:spPr>
        <p:txBody>
          <a:bodyPr wrap="square" lIns="0" tIns="0" rIns="0" bIns="0" rtlCol="0" anchor="ctr"/>
          <a:lstStyle/>
          <a:p>
            <a:pPr indent="0" marL="0">
              <a:buNone/>
            </a:pPr>
            <a:r>
              <a:rPr lang="en-US" sz="1700" b="1" dirty="0">
                <a:solidFill>
                  <a:schemeClr val="accent2"/>
                </a:solidFill>
              </a:rPr>
              <a:t>Evasion</a:t>
            </a:r>
            <a:endParaRPr lang="en-US" sz="1700" dirty="0"/>
          </a:p>
        </p:txBody>
      </p:sp>
      <p:sp>
        <p:nvSpPr>
          <p:cNvPr id="6" name="s15h0-body"/>
          <p:cNvSpPr txBox="1"/>
          <p:nvPr/>
        </p:nvSpPr>
        <p:spPr>
          <a:xfrm>
            <a:off x="786384" y="1938528"/>
            <a:ext cx="3108960" cy="2176272"/>
          </a:xfrm>
          <a:prstGeom prst="rect">
            <a:avLst/>
          </a:prstGeom>
          <a:noFill/>
          <a:ln/>
        </p:spPr>
        <p:txBody>
          <a:bodyPr wrap="square" lIns="0" tIns="0" rIns="0" bIns="0" rtlCol="0" anchor="t"/>
          <a:lstStyle/>
          <a:p>
            <a:pPr indent="0" marL="0">
              <a:buNone/>
            </a:pPr>
            <a:r>
              <a:rPr lang="en-US" sz="1200" dirty="0">
                <a:solidFill>
                  <a:schemeClr val="accent5"/>
                </a:solidFill>
              </a:rPr>
              <a:t>Can ransomware dodge the detector?</a:t>
            </a:r>
            <a:endParaRPr lang="en-US" sz="1200" dirty="0"/>
          </a:p>
        </p:txBody>
      </p:sp>
      <p:sp>
        <p:nvSpPr>
          <p:cNvPr id="7" name="s15l0"/>
          <p:cNvSpPr txBox="1"/>
          <p:nvPr/>
        </p:nvSpPr>
        <p:spPr>
          <a:xfrm>
            <a:off x="786384" y="2432304"/>
            <a:ext cx="3108960" cy="1682496"/>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chemeClr val="accent5"/>
                </a:solidFill>
              </a:rPr>
              <a:t>Top-5 features perturbed: 0.841 → 0.570</a:t>
            </a:r>
            <a:endParaRPr lang="en-US" sz="1150" dirty="0"/>
          </a:p>
          <a:p>
            <a:pPr marL="342900" indent="-342900">
              <a:spcAft>
                <a:spcPts val="700"/>
              </a:spcAft>
              <a:buSzPct val="100000"/>
              <a:buChar char="•"/>
            </a:pPr>
            <a:r>
              <a:rPr lang="en-US" sz="1150" dirty="0">
                <a:solidFill>
                  <a:schemeClr val="accent5"/>
                </a:solidFill>
              </a:rPr>
              <a:t>Adaptive evasion: median effort 32% of range</a:t>
            </a:r>
            <a:endParaRPr lang="en-US" sz="1150" dirty="0"/>
          </a:p>
          <a:p>
            <a:pPr marL="342900" indent="-342900">
              <a:spcAft>
                <a:spcPts val="700"/>
              </a:spcAft>
              <a:buSzPct val="100000"/>
              <a:buChar char="•"/>
            </a:pPr>
            <a:r>
              <a:rPr lang="en-US" sz="1150" dirty="0">
                <a:solidFill>
                  <a:schemeClr val="accent5"/>
                </a:solidFill>
              </a:rPr>
              <a:t>17.3% already misclassified at zero perturbation</a:t>
            </a:r>
            <a:endParaRPr lang="en-US" sz="1150" dirty="0"/>
          </a:p>
        </p:txBody>
      </p:sp>
      <p:sp>
        <p:nvSpPr>
          <p:cNvPr id="8" name="s15h1-panel"/>
          <p:cNvSpPr/>
          <p:nvPr/>
        </p:nvSpPr>
        <p:spPr>
          <a:xfrm>
            <a:off x="4297680" y="1371600"/>
            <a:ext cx="3547872" cy="2871216"/>
          </a:xfrm>
          <a:prstGeom prst="roundRect">
            <a:avLst>
              <a:gd name="adj" fmla="val 1911"/>
            </a:avLst>
          </a:prstGeom>
          <a:solidFill>
            <a:schemeClr val="tx2"/>
          </a:solidFill>
          <a:ln/>
        </p:spPr>
      </p:sp>
      <p:sp>
        <p:nvSpPr>
          <p:cNvPr id="9" name="s15h1-heading"/>
          <p:cNvSpPr txBox="1"/>
          <p:nvPr/>
        </p:nvSpPr>
        <p:spPr>
          <a:xfrm>
            <a:off x="4517136" y="1536192"/>
            <a:ext cx="3108960" cy="329184"/>
          </a:xfrm>
          <a:prstGeom prst="rect">
            <a:avLst/>
          </a:prstGeom>
          <a:noFill/>
          <a:ln/>
        </p:spPr>
        <p:txBody>
          <a:bodyPr wrap="square" lIns="0" tIns="0" rIns="0" bIns="0" rtlCol="0" anchor="ctr"/>
          <a:lstStyle/>
          <a:p>
            <a:pPr indent="0" marL="0">
              <a:buNone/>
            </a:pPr>
            <a:r>
              <a:rPr lang="en-US" sz="1700" b="1" dirty="0">
                <a:solidFill>
                  <a:schemeClr val="accent2"/>
                </a:solidFill>
              </a:rPr>
              <a:t>Poisoning</a:t>
            </a:r>
            <a:endParaRPr lang="en-US" sz="1700" dirty="0"/>
          </a:p>
        </p:txBody>
      </p:sp>
      <p:sp>
        <p:nvSpPr>
          <p:cNvPr id="10" name="s15h1-body"/>
          <p:cNvSpPr txBox="1"/>
          <p:nvPr/>
        </p:nvSpPr>
        <p:spPr>
          <a:xfrm>
            <a:off x="4517136" y="1938528"/>
            <a:ext cx="3108960" cy="2176272"/>
          </a:xfrm>
          <a:prstGeom prst="rect">
            <a:avLst/>
          </a:prstGeom>
          <a:noFill/>
          <a:ln/>
        </p:spPr>
        <p:txBody>
          <a:bodyPr wrap="square" lIns="0" tIns="0" rIns="0" bIns="0" rtlCol="0" anchor="t"/>
          <a:lstStyle/>
          <a:p>
            <a:pPr indent="0" marL="0">
              <a:buNone/>
            </a:pPr>
            <a:r>
              <a:rPr lang="en-US" sz="1200" dirty="0">
                <a:solidFill>
                  <a:schemeClr val="accent5"/>
                </a:solidFill>
              </a:rPr>
              <a:t>Can an attacker corrupt training data?</a:t>
            </a:r>
            <a:endParaRPr lang="en-US" sz="1200" dirty="0"/>
          </a:p>
        </p:txBody>
      </p:sp>
      <p:sp>
        <p:nvSpPr>
          <p:cNvPr id="11" name="s15l1"/>
          <p:cNvSpPr txBox="1"/>
          <p:nvPr/>
        </p:nvSpPr>
        <p:spPr>
          <a:xfrm>
            <a:off x="4517136" y="2432304"/>
            <a:ext cx="3108960" cy="1682496"/>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chemeClr val="accent5"/>
                </a:solidFill>
              </a:rPr>
              <a:t>Label flip at 20% budget: −5 pt</a:t>
            </a:r>
            <a:endParaRPr lang="en-US" sz="1150" dirty="0"/>
          </a:p>
          <a:p>
            <a:pPr marL="342900" indent="-342900">
              <a:spcAft>
                <a:spcPts val="700"/>
              </a:spcAft>
              <a:buSzPct val="100000"/>
              <a:buChar char="•"/>
            </a:pPr>
            <a:r>
              <a:rPr lang="en-US" sz="1150" dirty="0">
                <a:solidFill>
                  <a:schemeClr val="accent5"/>
                </a:solidFill>
              </a:rPr>
              <a:t>Feature poisoning: mild, −0.3 to −1.5 pt</a:t>
            </a:r>
            <a:endParaRPr lang="en-US" sz="1150" dirty="0"/>
          </a:p>
          <a:p>
            <a:pPr marL="342900" indent="-342900">
              <a:spcAft>
                <a:spcPts val="700"/>
              </a:spcAft>
              <a:buSzPct val="100000"/>
              <a:buChar char="•"/>
            </a:pPr>
            <a:r>
              <a:rPr lang="en-US" sz="1150" dirty="0">
                <a:solidFill>
                  <a:schemeClr val="accent5"/>
                </a:solidFill>
              </a:rPr>
              <a:t>Blockchain makes the poisoning permanent</a:t>
            </a:r>
            <a:endParaRPr lang="en-US" sz="1150" dirty="0"/>
          </a:p>
        </p:txBody>
      </p:sp>
      <p:sp>
        <p:nvSpPr>
          <p:cNvPr id="12" name="s15h2-panel"/>
          <p:cNvSpPr/>
          <p:nvPr/>
        </p:nvSpPr>
        <p:spPr>
          <a:xfrm>
            <a:off x="8028432" y="1371600"/>
            <a:ext cx="3547872" cy="2871216"/>
          </a:xfrm>
          <a:prstGeom prst="roundRect">
            <a:avLst>
              <a:gd name="adj" fmla="val 1911"/>
            </a:avLst>
          </a:prstGeom>
          <a:solidFill>
            <a:schemeClr val="tx2"/>
          </a:solidFill>
          <a:ln/>
        </p:spPr>
      </p:sp>
      <p:sp>
        <p:nvSpPr>
          <p:cNvPr id="13" name="s15h2-heading"/>
          <p:cNvSpPr txBox="1"/>
          <p:nvPr/>
        </p:nvSpPr>
        <p:spPr>
          <a:xfrm>
            <a:off x="8247888" y="1536192"/>
            <a:ext cx="3108960" cy="329184"/>
          </a:xfrm>
          <a:prstGeom prst="rect">
            <a:avLst/>
          </a:prstGeom>
          <a:noFill/>
          <a:ln/>
        </p:spPr>
        <p:txBody>
          <a:bodyPr wrap="square" lIns="0" tIns="0" rIns="0" bIns="0" rtlCol="0" anchor="ctr"/>
          <a:lstStyle/>
          <a:p>
            <a:pPr indent="0" marL="0">
              <a:buNone/>
            </a:pPr>
            <a:r>
              <a:rPr lang="en-US" sz="1700" b="1" dirty="0">
                <a:solidFill>
                  <a:schemeClr val="accent2"/>
                </a:solidFill>
              </a:rPr>
              <a:t>Retraining</a:t>
            </a:r>
            <a:endParaRPr lang="en-US" sz="1700" dirty="0"/>
          </a:p>
        </p:txBody>
      </p:sp>
      <p:sp>
        <p:nvSpPr>
          <p:cNvPr id="14" name="s15h2-body"/>
          <p:cNvSpPr txBox="1"/>
          <p:nvPr/>
        </p:nvSpPr>
        <p:spPr>
          <a:xfrm>
            <a:off x="8247888" y="1938528"/>
            <a:ext cx="3108960" cy="2176272"/>
          </a:xfrm>
          <a:prstGeom prst="rect">
            <a:avLst/>
          </a:prstGeom>
          <a:noFill/>
          <a:ln/>
        </p:spPr>
        <p:txBody>
          <a:bodyPr wrap="square" lIns="0" tIns="0" rIns="0" bIns="0" rtlCol="0" anchor="t"/>
          <a:lstStyle/>
          <a:p>
            <a:pPr indent="0" marL="0">
              <a:buNone/>
            </a:pPr>
            <a:r>
              <a:rPr lang="en-US" sz="1200" dirty="0">
                <a:solidFill>
                  <a:schemeClr val="accent5"/>
                </a:solidFill>
              </a:rPr>
              <a:t>Does adversarial hardening work?</a:t>
            </a:r>
            <a:endParaRPr lang="en-US" sz="1200" dirty="0"/>
          </a:p>
        </p:txBody>
      </p:sp>
      <p:sp>
        <p:nvSpPr>
          <p:cNvPr id="15" name="s15l2"/>
          <p:cNvSpPr txBox="1"/>
          <p:nvPr/>
        </p:nvSpPr>
        <p:spPr>
          <a:xfrm>
            <a:off x="8247888" y="2432304"/>
            <a:ext cx="3108960" cy="1682496"/>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chemeClr val="accent5"/>
                </a:solidFill>
              </a:rPr>
              <a:t>Evasion effort rises: 0.32 → 0.88</a:t>
            </a:r>
            <a:endParaRPr lang="en-US" sz="1150" dirty="0"/>
          </a:p>
          <a:p>
            <a:pPr marL="342900" indent="-342900">
              <a:spcAft>
                <a:spcPts val="700"/>
              </a:spcAft>
              <a:buSzPct val="100000"/>
              <a:buChar char="•"/>
            </a:pPr>
            <a:r>
              <a:rPr lang="en-US" sz="1150" dirty="0">
                <a:solidFill>
                  <a:schemeClr val="accent5"/>
                </a:solidFill>
              </a:rPr>
              <a:t>Clean accuracy cost: −7.92 pt</a:t>
            </a:r>
            <a:endParaRPr lang="en-US" sz="1150" dirty="0"/>
          </a:p>
          <a:p>
            <a:pPr marL="342900" indent="-342900">
              <a:spcAft>
                <a:spcPts val="700"/>
              </a:spcAft>
              <a:buSzPct val="100000"/>
              <a:buChar char="•"/>
            </a:pPr>
            <a:r>
              <a:rPr lang="en-US" sz="1150" dirty="0">
                <a:solidFill>
                  <a:schemeClr val="accent5"/>
                </a:solidFill>
              </a:rPr>
              <a:t>50% budget is the Pareto sweet spot</a:t>
            </a:r>
            <a:endParaRPr lang="en-US" sz="1150" dirty="0"/>
          </a:p>
        </p:txBody>
      </p:sp>
      <p:sp>
        <p:nvSpPr>
          <p:cNvPr id="16" name="o12-panel"/>
          <p:cNvSpPr/>
          <p:nvPr/>
        </p:nvSpPr>
        <p:spPr>
          <a:xfrm>
            <a:off x="566928" y="4553712"/>
            <a:ext cx="11027664" cy="1024128"/>
          </a:xfrm>
          <a:prstGeom prst="roundRect">
            <a:avLst>
              <a:gd name="adj" fmla="val 5357"/>
            </a:avLst>
          </a:prstGeom>
          <a:solidFill>
            <a:schemeClr val="accent1"/>
          </a:solidFill>
          <a:ln/>
        </p:spPr>
      </p:sp>
      <p:sp>
        <p:nvSpPr>
          <p:cNvPr id="17" name="o12-text"/>
          <p:cNvSpPr txBox="1"/>
          <p:nvPr/>
        </p:nvSpPr>
        <p:spPr>
          <a:xfrm>
            <a:off x="841248" y="4553712"/>
            <a:ext cx="10479024" cy="1024128"/>
          </a:xfrm>
          <a:prstGeom prst="rect">
            <a:avLst/>
          </a:prstGeom>
          <a:noFill/>
          <a:ln/>
        </p:spPr>
        <p:txBody>
          <a:bodyPr wrap="square" lIns="0" tIns="0" rIns="0" bIns="0" rtlCol="0" anchor="ctr"/>
          <a:lstStyle/>
          <a:p>
            <a:pPr indent="0" marL="0">
              <a:buNone/>
            </a:pPr>
            <a:r>
              <a:rPr lang="en-US" sz="1450" b="1" dirty="0">
                <a:solidFill>
                  <a:schemeClr val="bg1"/>
                </a:solidFill>
              </a:rPr>
              <a:t>Security is a trade-off curve, not a checkbox. Blockchain immutability protects backups, but it also makes poisoned training data permanent once committed.</a:t>
            </a:r>
            <a:endParaRPr lang="en-US" sz="1450" dirty="0"/>
          </a:p>
        </p:txBody>
      </p:sp>
      <p:sp>
        <p:nvSpPr>
          <p:cNvPr id="18" name="s15cite"/>
          <p:cNvSpPr txBox="1"/>
          <p:nvPr/>
        </p:nvSpPr>
        <p:spPr>
          <a:xfrm>
            <a:off x="566928" y="5724144"/>
            <a:ext cx="11027664" cy="420624"/>
          </a:xfrm>
          <a:prstGeom prst="rect">
            <a:avLst/>
          </a:prstGeom>
          <a:noFill/>
          <a:ln/>
        </p:spPr>
        <p:txBody>
          <a:bodyPr wrap="square" lIns="0" tIns="0" rIns="0" bIns="0" rtlCol="0" anchor="t"/>
          <a:lstStyle/>
          <a:p>
            <a:pPr indent="0" marL="0">
              <a:buNone/>
            </a:pPr>
            <a:r>
              <a:rPr lang="en-US" sz="1050" i="1" dirty="0">
                <a:solidFill>
                  <a:schemeClr val="accent5"/>
                </a:solidFill>
              </a:rPr>
              <a:t>M7-3, M7-8, M7-9, M7-11 · honeypot corpus, declared Bayes ceiling 0.85</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EXTENSIONS</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Beyond the paper</a:t>
            </a:r>
            <a:endParaRPr lang="en-US" sz="2900" dirty="0"/>
          </a:p>
        </p:txBody>
      </p:sp>
      <p:sp>
        <p:nvSpPr>
          <p:cNvPr id="4" name="s16e0-panel"/>
          <p:cNvSpPr/>
          <p:nvPr/>
        </p:nvSpPr>
        <p:spPr>
          <a:xfrm>
            <a:off x="566928" y="1371600"/>
            <a:ext cx="5394960" cy="1737360"/>
          </a:xfrm>
          <a:prstGeom prst="roundRect">
            <a:avLst>
              <a:gd name="adj" fmla="val 3158"/>
            </a:avLst>
          </a:prstGeom>
          <a:solidFill>
            <a:schemeClr val="tx2"/>
          </a:solidFill>
          <a:ln/>
        </p:spPr>
      </p:sp>
      <p:sp>
        <p:nvSpPr>
          <p:cNvPr id="5" name="s16e0-chip"/>
          <p:cNvSpPr/>
          <p:nvPr/>
        </p:nvSpPr>
        <p:spPr>
          <a:xfrm>
            <a:off x="786384" y="1554480"/>
            <a:ext cx="402336" cy="274320"/>
          </a:xfrm>
          <a:prstGeom prst="roundRect">
            <a:avLst>
              <a:gd name="adj" fmla="val 16667"/>
            </a:avLst>
          </a:prstGeom>
          <a:solidFill>
            <a:schemeClr val="accent1"/>
          </a:solidFill>
          <a:ln/>
        </p:spPr>
      </p:sp>
      <p:sp>
        <p:nvSpPr>
          <p:cNvPr id="6" name="s16e0-tagtext"/>
          <p:cNvSpPr txBox="1"/>
          <p:nvPr/>
        </p:nvSpPr>
        <p:spPr>
          <a:xfrm>
            <a:off x="786384" y="1554480"/>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7" name="s16e0-heading"/>
          <p:cNvSpPr txBox="1"/>
          <p:nvPr/>
        </p:nvSpPr>
        <p:spPr>
          <a:xfrm>
            <a:off x="1316736" y="1536192"/>
            <a:ext cx="4425696" cy="292608"/>
          </a:xfrm>
          <a:prstGeom prst="rect">
            <a:avLst/>
          </a:prstGeom>
          <a:noFill/>
          <a:ln/>
        </p:spPr>
        <p:txBody>
          <a:bodyPr wrap="square" lIns="0" tIns="0" rIns="0" bIns="0" rtlCol="0" anchor="ctr"/>
          <a:lstStyle/>
          <a:p>
            <a:pPr indent="0" marL="0">
              <a:buNone/>
            </a:pPr>
            <a:r>
              <a:rPr lang="en-US" sz="1500" b="1" dirty="0">
                <a:solidFill>
                  <a:schemeClr val="bg1"/>
                </a:solidFill>
              </a:rPr>
              <a:t>pBFT vs Raft</a:t>
            </a:r>
            <a:endParaRPr lang="en-US" sz="1500" dirty="0"/>
          </a:p>
        </p:txBody>
      </p:sp>
      <p:sp>
        <p:nvSpPr>
          <p:cNvPr id="8" name="s16e0-body"/>
          <p:cNvSpPr txBox="1"/>
          <p:nvPr/>
        </p:nvSpPr>
        <p:spPr>
          <a:xfrm>
            <a:off x="786384" y="1901952"/>
            <a:ext cx="4956048" cy="1078992"/>
          </a:xfrm>
          <a:prstGeom prst="rect">
            <a:avLst/>
          </a:prstGeom>
          <a:noFill/>
          <a:ln/>
        </p:spPr>
        <p:txBody>
          <a:bodyPr wrap="square" lIns="0" tIns="0" rIns="0" bIns="0" rtlCol="0" anchor="t"/>
          <a:lstStyle/>
          <a:p>
            <a:pPr indent="0" marL="0">
              <a:buNone/>
            </a:pPr>
            <a:r>
              <a:rPr lang="en-US" sz="1200" dirty="0">
                <a:solidFill>
                  <a:schemeClr val="accent5"/>
                </a:solidFill>
              </a:rPr>
              <a:t>Raft is 7 to 11% faster and sends about 60% as many messages, but signs nothing and loses safety to a single Byzantine leader. The paper’s choice of pBFT is justified — for a reason it never states.</a:t>
            </a:r>
            <a:endParaRPr lang="en-US" sz="1200" dirty="0"/>
          </a:p>
        </p:txBody>
      </p:sp>
      <p:sp>
        <p:nvSpPr>
          <p:cNvPr id="9" name="s16e1-panel"/>
          <p:cNvSpPr/>
          <p:nvPr/>
        </p:nvSpPr>
        <p:spPr>
          <a:xfrm>
            <a:off x="6199632" y="1371600"/>
            <a:ext cx="5394960" cy="1737360"/>
          </a:xfrm>
          <a:prstGeom prst="roundRect">
            <a:avLst>
              <a:gd name="adj" fmla="val 3158"/>
            </a:avLst>
          </a:prstGeom>
          <a:solidFill>
            <a:schemeClr val="tx2"/>
          </a:solidFill>
          <a:ln/>
        </p:spPr>
      </p:sp>
      <p:sp>
        <p:nvSpPr>
          <p:cNvPr id="10" name="s16e1-chip"/>
          <p:cNvSpPr/>
          <p:nvPr/>
        </p:nvSpPr>
        <p:spPr>
          <a:xfrm>
            <a:off x="6419088" y="1554480"/>
            <a:ext cx="402336" cy="274320"/>
          </a:xfrm>
          <a:prstGeom prst="roundRect">
            <a:avLst>
              <a:gd name="adj" fmla="val 16667"/>
            </a:avLst>
          </a:prstGeom>
          <a:solidFill>
            <a:schemeClr val="accent1"/>
          </a:solidFill>
          <a:ln/>
        </p:spPr>
      </p:sp>
      <p:sp>
        <p:nvSpPr>
          <p:cNvPr id="11" name="s16e1-tagtext"/>
          <p:cNvSpPr txBox="1"/>
          <p:nvPr/>
        </p:nvSpPr>
        <p:spPr>
          <a:xfrm>
            <a:off x="6419088" y="1554480"/>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G</a:t>
            </a:r>
            <a:endParaRPr lang="en-US" sz="1200" dirty="0"/>
          </a:p>
        </p:txBody>
      </p:sp>
      <p:sp>
        <p:nvSpPr>
          <p:cNvPr id="12" name="s16e1-heading"/>
          <p:cNvSpPr txBox="1"/>
          <p:nvPr/>
        </p:nvSpPr>
        <p:spPr>
          <a:xfrm>
            <a:off x="6949440" y="1536192"/>
            <a:ext cx="4425696" cy="292608"/>
          </a:xfrm>
          <a:prstGeom prst="rect">
            <a:avLst/>
          </a:prstGeom>
          <a:noFill/>
          <a:ln/>
        </p:spPr>
        <p:txBody>
          <a:bodyPr wrap="square" lIns="0" tIns="0" rIns="0" bIns="0" rtlCol="0" anchor="ctr"/>
          <a:lstStyle/>
          <a:p>
            <a:pPr indent="0" marL="0">
              <a:buNone/>
            </a:pPr>
            <a:r>
              <a:rPr lang="en-US" sz="1500" b="1" dirty="0">
                <a:solidFill>
                  <a:schemeClr val="bg1"/>
                </a:solidFill>
              </a:rPr>
              <a:t>Cross-dataset transfer</a:t>
            </a:r>
            <a:endParaRPr lang="en-US" sz="1500" dirty="0"/>
          </a:p>
        </p:txBody>
      </p:sp>
      <p:sp>
        <p:nvSpPr>
          <p:cNvPr id="13" name="s16e1-body"/>
          <p:cNvSpPr txBox="1"/>
          <p:nvPr/>
        </p:nvSpPr>
        <p:spPr>
          <a:xfrm>
            <a:off x="6419088" y="1901952"/>
            <a:ext cx="4956048" cy="1078992"/>
          </a:xfrm>
          <a:prstGeom prst="rect">
            <a:avLst/>
          </a:prstGeom>
          <a:noFill/>
          <a:ln/>
        </p:spPr>
        <p:txBody>
          <a:bodyPr wrap="square" lIns="0" tIns="0" rIns="0" bIns="0" rtlCol="0" anchor="t"/>
          <a:lstStyle/>
          <a:p>
            <a:pPr indent="0" marL="0">
              <a:buNone/>
            </a:pPr>
            <a:r>
              <a:rPr lang="en-US" sz="1200" dirty="0">
                <a:solidFill>
                  <a:schemeClr val="accent5"/>
                </a:solidFill>
              </a:rPr>
              <a:t>The honeypot detector was tested against ClaMP, EMBER and MalbehavD-V1. Features do not transfer across schemas: the cause is a scale mismatch, not absent signal.</a:t>
            </a:r>
            <a:endParaRPr lang="en-US" sz="1200" dirty="0"/>
          </a:p>
        </p:txBody>
      </p:sp>
      <p:sp>
        <p:nvSpPr>
          <p:cNvPr id="14" name="s16e2-panel"/>
          <p:cNvSpPr/>
          <p:nvPr/>
        </p:nvSpPr>
        <p:spPr>
          <a:xfrm>
            <a:off x="566928" y="3291840"/>
            <a:ext cx="5394960" cy="1737360"/>
          </a:xfrm>
          <a:prstGeom prst="roundRect">
            <a:avLst>
              <a:gd name="adj" fmla="val 3158"/>
            </a:avLst>
          </a:prstGeom>
          <a:solidFill>
            <a:schemeClr val="tx2"/>
          </a:solidFill>
          <a:ln/>
        </p:spPr>
      </p:sp>
      <p:sp>
        <p:nvSpPr>
          <p:cNvPr id="15" name="s16e2-chip"/>
          <p:cNvSpPr/>
          <p:nvPr/>
        </p:nvSpPr>
        <p:spPr>
          <a:xfrm>
            <a:off x="786384" y="3474720"/>
            <a:ext cx="402336" cy="274320"/>
          </a:xfrm>
          <a:prstGeom prst="roundRect">
            <a:avLst>
              <a:gd name="adj" fmla="val 16667"/>
            </a:avLst>
          </a:prstGeom>
          <a:solidFill>
            <a:schemeClr val="accent1"/>
          </a:solidFill>
          <a:ln/>
        </p:spPr>
      </p:sp>
      <p:sp>
        <p:nvSpPr>
          <p:cNvPr id="16" name="s16e2-tagtext"/>
          <p:cNvSpPr txBox="1"/>
          <p:nvPr/>
        </p:nvSpPr>
        <p:spPr>
          <a:xfrm>
            <a:off x="786384" y="3474720"/>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H</a:t>
            </a:r>
            <a:endParaRPr lang="en-US" sz="1200" dirty="0"/>
          </a:p>
        </p:txBody>
      </p:sp>
      <p:sp>
        <p:nvSpPr>
          <p:cNvPr id="17" name="s16e2-heading"/>
          <p:cNvSpPr txBox="1"/>
          <p:nvPr/>
        </p:nvSpPr>
        <p:spPr>
          <a:xfrm>
            <a:off x="1316736" y="3456432"/>
            <a:ext cx="4425696" cy="292608"/>
          </a:xfrm>
          <a:prstGeom prst="rect">
            <a:avLst/>
          </a:prstGeom>
          <a:noFill/>
          <a:ln/>
        </p:spPr>
        <p:txBody>
          <a:bodyPr wrap="square" lIns="0" tIns="0" rIns="0" bIns="0" rtlCol="0" anchor="ctr"/>
          <a:lstStyle/>
          <a:p>
            <a:pPr indent="0" marL="0">
              <a:buNone/>
            </a:pPr>
            <a:r>
              <a:rPr lang="en-US" sz="1500" b="1" dirty="0">
                <a:solidFill>
                  <a:schemeClr val="bg1"/>
                </a:solidFill>
              </a:rPr>
              <a:t>Hybrid blockchain</a:t>
            </a:r>
            <a:endParaRPr lang="en-US" sz="1500" dirty="0"/>
          </a:p>
        </p:txBody>
      </p:sp>
      <p:sp>
        <p:nvSpPr>
          <p:cNvPr id="18" name="s16e2-body"/>
          <p:cNvSpPr txBox="1"/>
          <p:nvPr/>
        </p:nvSpPr>
        <p:spPr>
          <a:xfrm>
            <a:off x="786384" y="3822192"/>
            <a:ext cx="4956048" cy="1078992"/>
          </a:xfrm>
          <a:prstGeom prst="rect">
            <a:avLst/>
          </a:prstGeom>
          <a:noFill/>
          <a:ln/>
        </p:spPr>
        <p:txBody>
          <a:bodyPr wrap="square" lIns="0" tIns="0" rIns="0" bIns="0" rtlCol="0" anchor="t"/>
          <a:lstStyle/>
          <a:p>
            <a:pPr indent="0" marL="0">
              <a:buNone/>
            </a:pPr>
            <a:r>
              <a:rPr lang="en-US" sz="1200" dirty="0">
                <a:solidFill>
                  <a:schemeClr val="accent5"/>
                </a:solidFill>
              </a:rPr>
              <a:t>The paper lists this as future work. We built it. Overhead is under 1.4% and storage about 1 KB per anchor — already feasible.</a:t>
            </a:r>
            <a:endParaRPr lang="en-US" sz="1200" dirty="0"/>
          </a:p>
        </p:txBody>
      </p:sp>
      <p:sp>
        <p:nvSpPr>
          <p:cNvPr id="19" name="s16e3-panel"/>
          <p:cNvSpPr/>
          <p:nvPr/>
        </p:nvSpPr>
        <p:spPr>
          <a:xfrm>
            <a:off x="6199632" y="3291840"/>
            <a:ext cx="5394960" cy="1737360"/>
          </a:xfrm>
          <a:prstGeom prst="roundRect">
            <a:avLst>
              <a:gd name="adj" fmla="val 3158"/>
            </a:avLst>
          </a:prstGeom>
          <a:solidFill>
            <a:schemeClr val="tx2"/>
          </a:solidFill>
          <a:ln/>
        </p:spPr>
      </p:sp>
      <p:sp>
        <p:nvSpPr>
          <p:cNvPr id="20" name="s16e3-chip"/>
          <p:cNvSpPr/>
          <p:nvPr/>
        </p:nvSpPr>
        <p:spPr>
          <a:xfrm>
            <a:off x="6419088" y="3474720"/>
            <a:ext cx="402336" cy="274320"/>
          </a:xfrm>
          <a:prstGeom prst="roundRect">
            <a:avLst>
              <a:gd name="adj" fmla="val 16667"/>
            </a:avLst>
          </a:prstGeom>
          <a:solidFill>
            <a:schemeClr val="accent1"/>
          </a:solidFill>
          <a:ln/>
        </p:spPr>
      </p:sp>
      <p:sp>
        <p:nvSpPr>
          <p:cNvPr id="21" name="s16e3-tagtext"/>
          <p:cNvSpPr txBox="1"/>
          <p:nvPr/>
        </p:nvSpPr>
        <p:spPr>
          <a:xfrm>
            <a:off x="6419088" y="3474720"/>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N</a:t>
            </a:r>
            <a:endParaRPr lang="en-US" sz="1200" dirty="0"/>
          </a:p>
        </p:txBody>
      </p:sp>
      <p:sp>
        <p:nvSpPr>
          <p:cNvPr id="22" name="s16e3-heading"/>
          <p:cNvSpPr txBox="1"/>
          <p:nvPr/>
        </p:nvSpPr>
        <p:spPr>
          <a:xfrm>
            <a:off x="6949440" y="3456432"/>
            <a:ext cx="4425696" cy="292608"/>
          </a:xfrm>
          <a:prstGeom prst="rect">
            <a:avLst/>
          </a:prstGeom>
          <a:noFill/>
          <a:ln/>
        </p:spPr>
        <p:txBody>
          <a:bodyPr wrap="square" lIns="0" tIns="0" rIns="0" bIns="0" rtlCol="0" anchor="ctr"/>
          <a:lstStyle/>
          <a:p>
            <a:pPr indent="0" marL="0">
              <a:buNone/>
            </a:pPr>
            <a:r>
              <a:rPr lang="en-US" sz="1500" b="1" dirty="0">
                <a:solidFill>
                  <a:schemeClr val="bg1"/>
                </a:solidFill>
              </a:rPr>
              <a:t>Neural vs tree models</a:t>
            </a:r>
            <a:endParaRPr lang="en-US" sz="1500" dirty="0"/>
          </a:p>
        </p:txBody>
      </p:sp>
      <p:sp>
        <p:nvSpPr>
          <p:cNvPr id="23" name="s16e3-body"/>
          <p:cNvSpPr txBox="1"/>
          <p:nvPr/>
        </p:nvSpPr>
        <p:spPr>
          <a:xfrm>
            <a:off x="6419088" y="3822192"/>
            <a:ext cx="4956048" cy="1078992"/>
          </a:xfrm>
          <a:prstGeom prst="rect">
            <a:avLst/>
          </a:prstGeom>
          <a:noFill/>
          <a:ln/>
        </p:spPr>
        <p:txBody>
          <a:bodyPr wrap="square" lIns="0" tIns="0" rIns="0" bIns="0" rtlCol="0" anchor="t"/>
          <a:lstStyle/>
          <a:p>
            <a:pPr indent="0" marL="0">
              <a:buNone/>
            </a:pPr>
            <a:r>
              <a:rPr lang="en-US" sz="1200" dirty="0">
                <a:solidFill>
                  <a:schemeClr val="accent5"/>
                </a:solidFill>
              </a:rPr>
              <a:t>An MLP matches the forest on clean accuracy and is harder to evade before hardening, but adopts the same shortcut sooner once hardened.</a:t>
            </a:r>
            <a:endParaRPr lang="en-US" sz="1200" dirty="0"/>
          </a:p>
        </p:txBody>
      </p:sp>
      <p:sp>
        <p:nvSpPr>
          <p:cNvPr id="24" name="s16close"/>
          <p:cNvSpPr txBox="1"/>
          <p:nvPr/>
        </p:nvSpPr>
        <p:spPr>
          <a:xfrm>
            <a:off x="566928" y="5358384"/>
            <a:ext cx="11027664" cy="566928"/>
          </a:xfrm>
          <a:prstGeom prst="rect">
            <a:avLst/>
          </a:prstGeom>
          <a:noFill/>
          <a:ln/>
        </p:spPr>
        <p:txBody>
          <a:bodyPr wrap="square" lIns="0" tIns="0" rIns="0" bIns="0" rtlCol="0" anchor="t"/>
          <a:lstStyle/>
          <a:p>
            <a:pPr indent="0" marL="0">
              <a:buNone/>
            </a:pPr>
            <a:r>
              <a:rPr lang="en-US" sz="1350" dirty="0">
                <a:solidFill>
                  <a:schemeClr val="bg1"/>
                </a:solidFill>
              </a:rPr>
              <a:t>Each extension answers a question the paper leaves open, and each is measured rather than argued.</a:t>
            </a:r>
            <a:endParaRPr lang="en-US" sz="1350" dirty="0"/>
          </a:p>
        </p:txBody>
      </p:sp>
      <p:sp>
        <p:nvSpPr>
          <p:cNvPr id="25" name="s16cite"/>
          <p:cNvSpPr txBox="1"/>
          <p:nvPr/>
        </p:nvSpPr>
        <p:spPr>
          <a:xfrm>
            <a:off x="566928" y="5961888"/>
            <a:ext cx="11027664" cy="274320"/>
          </a:xfrm>
          <a:prstGeom prst="rect">
            <a:avLst/>
          </a:prstGeom>
          <a:noFill/>
          <a:ln/>
        </p:spPr>
        <p:txBody>
          <a:bodyPr wrap="square" lIns="0" tIns="0" rIns="0" bIns="0" rtlCol="0" anchor="t"/>
          <a:lstStyle/>
          <a:p>
            <a:pPr indent="0" marL="0">
              <a:buNone/>
            </a:pPr>
            <a:r>
              <a:rPr lang="en-US" sz="1050" i="1" dirty="0">
                <a:solidFill>
                  <a:schemeClr val="accent5"/>
                </a:solidFill>
              </a:rPr>
              <a:t>M7-4, M7-5, M7-7, M7-10, M7-13</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LOOKING AHEAD</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Future scope</a:t>
            </a:r>
            <a:endParaRPr lang="en-US" sz="2900" dirty="0"/>
          </a:p>
        </p:txBody>
      </p:sp>
      <p:sp>
        <p:nvSpPr>
          <p:cNvPr id="4" name="s17lede"/>
          <p:cNvSpPr txBox="1"/>
          <p:nvPr/>
        </p:nvSpPr>
        <p:spPr>
          <a:xfrm>
            <a:off x="566928" y="1371600"/>
            <a:ext cx="11027664" cy="365760"/>
          </a:xfrm>
          <a:prstGeom prst="rect">
            <a:avLst/>
          </a:prstGeom>
          <a:noFill/>
          <a:ln/>
        </p:spPr>
        <p:txBody>
          <a:bodyPr wrap="square" lIns="0" tIns="0" rIns="0" bIns="0" rtlCol="0" anchor="t"/>
          <a:lstStyle/>
          <a:p>
            <a:pPr indent="0" marL="0">
              <a:buNone/>
            </a:pPr>
            <a:r>
              <a:rPr lang="en-US" sz="1400" dirty="0">
                <a:solidFill>
                  <a:schemeClr val="bg1"/>
                </a:solidFill>
              </a:rPr>
              <a:t>Three directions identified through implementation and analysis.</a:t>
            </a:r>
            <a:endParaRPr lang="en-US" sz="1400" dirty="0"/>
          </a:p>
        </p:txBody>
      </p:sp>
      <p:sp>
        <p:nvSpPr>
          <p:cNvPr id="5" name="s17d0-panel"/>
          <p:cNvSpPr/>
          <p:nvPr/>
        </p:nvSpPr>
        <p:spPr>
          <a:xfrm>
            <a:off x="566928" y="2066544"/>
            <a:ext cx="3547872" cy="2414016"/>
          </a:xfrm>
          <a:prstGeom prst="roundRect">
            <a:avLst>
              <a:gd name="adj" fmla="val 2273"/>
            </a:avLst>
          </a:prstGeom>
          <a:solidFill>
            <a:schemeClr val="tx2"/>
          </a:solidFill>
          <a:ln/>
        </p:spPr>
      </p:sp>
      <p:sp>
        <p:nvSpPr>
          <p:cNvPr id="6" name="s17d0-chip"/>
          <p:cNvSpPr/>
          <p:nvPr/>
        </p:nvSpPr>
        <p:spPr>
          <a:xfrm>
            <a:off x="786384" y="2249424"/>
            <a:ext cx="402336" cy="274320"/>
          </a:xfrm>
          <a:prstGeom prst="roundRect">
            <a:avLst>
              <a:gd name="adj" fmla="val 16667"/>
            </a:avLst>
          </a:prstGeom>
          <a:solidFill>
            <a:schemeClr val="accent1"/>
          </a:solidFill>
          <a:ln/>
        </p:spPr>
      </p:sp>
      <p:sp>
        <p:nvSpPr>
          <p:cNvPr id="7" name="s17d0-tagtext"/>
          <p:cNvSpPr txBox="1"/>
          <p:nvPr/>
        </p:nvSpPr>
        <p:spPr>
          <a:xfrm>
            <a:off x="786384" y="2249424"/>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s17d0-heading"/>
          <p:cNvSpPr txBox="1"/>
          <p:nvPr/>
        </p:nvSpPr>
        <p:spPr>
          <a:xfrm>
            <a:off x="1316736" y="2231136"/>
            <a:ext cx="2578608" cy="292608"/>
          </a:xfrm>
          <a:prstGeom prst="rect">
            <a:avLst/>
          </a:prstGeom>
          <a:noFill/>
          <a:ln/>
        </p:spPr>
        <p:txBody>
          <a:bodyPr wrap="square" lIns="0" tIns="0" rIns="0" bIns="0" rtlCol="0" anchor="ctr"/>
          <a:lstStyle/>
          <a:p>
            <a:pPr indent="0" marL="0">
              <a:buNone/>
            </a:pPr>
            <a:r>
              <a:rPr lang="en-US" sz="1500" b="1" dirty="0">
                <a:solidFill>
                  <a:schemeClr val="bg1"/>
                </a:solidFill>
              </a:rPr>
              <a:t>Async pBFT</a:t>
            </a:r>
            <a:endParaRPr lang="en-US" sz="1500" dirty="0"/>
          </a:p>
        </p:txBody>
      </p:sp>
      <p:sp>
        <p:nvSpPr>
          <p:cNvPr id="9" name="s17d0-body"/>
          <p:cNvSpPr txBox="1"/>
          <p:nvPr/>
        </p:nvSpPr>
        <p:spPr>
          <a:xfrm>
            <a:off x="786384" y="2596896"/>
            <a:ext cx="3108960" cy="1755648"/>
          </a:xfrm>
          <a:prstGeom prst="rect">
            <a:avLst/>
          </a:prstGeom>
          <a:noFill/>
          <a:ln/>
        </p:spPr>
        <p:txBody>
          <a:bodyPr wrap="square" lIns="0" tIns="0" rIns="0" bIns="0" rtlCol="0" anchor="t"/>
          <a:lstStyle/>
          <a:p>
            <a:pPr indent="0" marL="0">
              <a:buNone/>
            </a:pPr>
            <a:r>
              <a:rPr lang="en-US" sz="1200" dirty="0">
                <a:solidFill>
                  <a:schemeClr val="accent5"/>
                </a:solidFill>
              </a:rPr>
              <a:t>Realistic latency model</a:t>
            </a:r>
            <a:endParaRPr lang="en-US" sz="1200" dirty="0"/>
          </a:p>
          <a:p>
            <a:pPr indent="0" marL="0">
              <a:buNone/>
            </a:pPr>
            <a:endParaRPr lang="en-US" sz="1200" dirty="0"/>
          </a:p>
          <a:p>
            <a:pPr indent="0" marL="0">
              <a:buNone/>
            </a:pPr>
            <a:r>
              <a:rPr lang="en-US" sz="1200" dirty="0">
                <a:solidFill>
                  <a:schemeClr val="accent5"/>
                </a:solidFill>
              </a:rPr>
              <a:t>Our implementation uses synchronous messaging. A real deployment faces network delays, partitions, and variable round-trip times.</a:t>
            </a:r>
            <a:endParaRPr lang="en-US" sz="1200" dirty="0"/>
          </a:p>
        </p:txBody>
      </p:sp>
      <p:sp>
        <p:nvSpPr>
          <p:cNvPr id="10" name="s17d1-panel"/>
          <p:cNvSpPr/>
          <p:nvPr/>
        </p:nvSpPr>
        <p:spPr>
          <a:xfrm>
            <a:off x="4297680" y="2066544"/>
            <a:ext cx="3547872" cy="2414016"/>
          </a:xfrm>
          <a:prstGeom prst="roundRect">
            <a:avLst>
              <a:gd name="adj" fmla="val 2273"/>
            </a:avLst>
          </a:prstGeom>
          <a:solidFill>
            <a:schemeClr val="tx2"/>
          </a:solidFill>
          <a:ln/>
        </p:spPr>
      </p:sp>
      <p:sp>
        <p:nvSpPr>
          <p:cNvPr id="11" name="s17d1-chip"/>
          <p:cNvSpPr/>
          <p:nvPr/>
        </p:nvSpPr>
        <p:spPr>
          <a:xfrm>
            <a:off x="4517136" y="2249424"/>
            <a:ext cx="402336" cy="274320"/>
          </a:xfrm>
          <a:prstGeom prst="roundRect">
            <a:avLst>
              <a:gd name="adj" fmla="val 16667"/>
            </a:avLst>
          </a:prstGeom>
          <a:solidFill>
            <a:schemeClr val="accent1"/>
          </a:solidFill>
          <a:ln/>
        </p:spPr>
      </p:sp>
      <p:sp>
        <p:nvSpPr>
          <p:cNvPr id="12" name="s17d1-tagtext"/>
          <p:cNvSpPr txBox="1"/>
          <p:nvPr/>
        </p:nvSpPr>
        <p:spPr>
          <a:xfrm>
            <a:off x="4517136" y="2249424"/>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s17d1-heading"/>
          <p:cNvSpPr txBox="1"/>
          <p:nvPr/>
        </p:nvSpPr>
        <p:spPr>
          <a:xfrm>
            <a:off x="5047488" y="2231136"/>
            <a:ext cx="2578608" cy="292608"/>
          </a:xfrm>
          <a:prstGeom prst="rect">
            <a:avLst/>
          </a:prstGeom>
          <a:noFill/>
          <a:ln/>
        </p:spPr>
        <p:txBody>
          <a:bodyPr wrap="square" lIns="0" tIns="0" rIns="0" bIns="0" rtlCol="0" anchor="ctr"/>
          <a:lstStyle/>
          <a:p>
            <a:pPr indent="0" marL="0">
              <a:buNone/>
            </a:pPr>
            <a:r>
              <a:rPr lang="en-US" sz="1500" b="1" dirty="0">
                <a:solidFill>
                  <a:schemeClr val="bg1"/>
                </a:solidFill>
              </a:rPr>
              <a:t>Storage cost</a:t>
            </a:r>
            <a:endParaRPr lang="en-US" sz="1500" dirty="0"/>
          </a:p>
        </p:txBody>
      </p:sp>
      <p:sp>
        <p:nvSpPr>
          <p:cNvPr id="14" name="s17d1-body"/>
          <p:cNvSpPr txBox="1"/>
          <p:nvPr/>
        </p:nvSpPr>
        <p:spPr>
          <a:xfrm>
            <a:off x="4517136" y="2596896"/>
            <a:ext cx="3108960" cy="1755648"/>
          </a:xfrm>
          <a:prstGeom prst="rect">
            <a:avLst/>
          </a:prstGeom>
          <a:noFill/>
          <a:ln/>
        </p:spPr>
        <p:txBody>
          <a:bodyPr wrap="square" lIns="0" tIns="0" rIns="0" bIns="0" rtlCol="0" anchor="t"/>
          <a:lstStyle/>
          <a:p>
            <a:pPr indent="0" marL="0">
              <a:buNone/>
            </a:pPr>
            <a:r>
              <a:rPr lang="en-US" sz="1200" dirty="0">
                <a:solidFill>
                  <a:schemeClr val="accent5"/>
                </a:solidFill>
              </a:rPr>
              <a:t>On-chain cost analysis</a:t>
            </a:r>
            <a:endParaRPr lang="en-US" sz="1200" dirty="0"/>
          </a:p>
          <a:p>
            <a:pPr indent="0" marL="0">
              <a:buNone/>
            </a:pPr>
            <a:endParaRPr lang="en-US" sz="1200" dirty="0"/>
          </a:p>
          <a:p>
            <a:pPr indent="0" marL="0">
              <a:buNone/>
            </a:pPr>
            <a:r>
              <a:rPr lang="en-US" sz="1200" dirty="0">
                <a:solidFill>
                  <a:schemeClr val="accent5"/>
                </a:solidFill>
              </a:rPr>
              <a:t>The paper never asks how much it costs to store full backups on a blockchain. At hospital scale this is the practicality question.</a:t>
            </a:r>
            <a:endParaRPr lang="en-US" sz="1200" dirty="0"/>
          </a:p>
        </p:txBody>
      </p:sp>
      <p:sp>
        <p:nvSpPr>
          <p:cNvPr id="15" name="s17d2-panel"/>
          <p:cNvSpPr/>
          <p:nvPr/>
        </p:nvSpPr>
        <p:spPr>
          <a:xfrm>
            <a:off x="8028432" y="2066544"/>
            <a:ext cx="3547872" cy="2414016"/>
          </a:xfrm>
          <a:prstGeom prst="roundRect">
            <a:avLst>
              <a:gd name="adj" fmla="val 2273"/>
            </a:avLst>
          </a:prstGeom>
          <a:solidFill>
            <a:schemeClr val="tx2"/>
          </a:solidFill>
          <a:ln/>
        </p:spPr>
      </p:sp>
      <p:sp>
        <p:nvSpPr>
          <p:cNvPr id="16" name="s17d2-chip"/>
          <p:cNvSpPr/>
          <p:nvPr/>
        </p:nvSpPr>
        <p:spPr>
          <a:xfrm>
            <a:off x="8247888" y="2249424"/>
            <a:ext cx="402336" cy="274320"/>
          </a:xfrm>
          <a:prstGeom prst="roundRect">
            <a:avLst>
              <a:gd name="adj" fmla="val 16667"/>
            </a:avLst>
          </a:prstGeom>
          <a:solidFill>
            <a:schemeClr val="accent1"/>
          </a:solidFill>
          <a:ln/>
        </p:spPr>
      </p:sp>
      <p:sp>
        <p:nvSpPr>
          <p:cNvPr id="17" name="s17d2-tagtext"/>
          <p:cNvSpPr txBox="1"/>
          <p:nvPr/>
        </p:nvSpPr>
        <p:spPr>
          <a:xfrm>
            <a:off x="8247888" y="2249424"/>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s17d2-heading"/>
          <p:cNvSpPr txBox="1"/>
          <p:nvPr/>
        </p:nvSpPr>
        <p:spPr>
          <a:xfrm>
            <a:off x="8778240" y="2231136"/>
            <a:ext cx="2578608" cy="292608"/>
          </a:xfrm>
          <a:prstGeom prst="rect">
            <a:avLst/>
          </a:prstGeom>
          <a:noFill/>
          <a:ln/>
        </p:spPr>
        <p:txBody>
          <a:bodyPr wrap="square" lIns="0" tIns="0" rIns="0" bIns="0" rtlCol="0" anchor="ctr"/>
          <a:lstStyle/>
          <a:p>
            <a:pPr indent="0" marL="0">
              <a:buNone/>
            </a:pPr>
            <a:r>
              <a:rPr lang="en-US" sz="1500" b="1" dirty="0">
                <a:solidFill>
                  <a:schemeClr val="bg1"/>
                </a:solidFill>
              </a:rPr>
              <a:t>Poisoning defense</a:t>
            </a:r>
            <a:endParaRPr lang="en-US" sz="1500" dirty="0"/>
          </a:p>
        </p:txBody>
      </p:sp>
      <p:sp>
        <p:nvSpPr>
          <p:cNvPr id="19" name="s17d2-body"/>
          <p:cNvSpPr txBox="1"/>
          <p:nvPr/>
        </p:nvSpPr>
        <p:spPr>
          <a:xfrm>
            <a:off x="8247888" y="2596896"/>
            <a:ext cx="3108960" cy="1755648"/>
          </a:xfrm>
          <a:prstGeom prst="rect">
            <a:avLst/>
          </a:prstGeom>
          <a:noFill/>
          <a:ln/>
        </p:spPr>
        <p:txBody>
          <a:bodyPr wrap="square" lIns="0" tIns="0" rIns="0" bIns="0" rtlCol="0" anchor="t"/>
          <a:lstStyle/>
          <a:p>
            <a:pPr indent="0" marL="0">
              <a:buNone/>
            </a:pPr>
            <a:r>
              <a:rPr lang="en-US" sz="1200" dirty="0">
                <a:solidFill>
                  <a:schemeClr val="accent5"/>
                </a:solidFill>
              </a:rPr>
              <a:t>Poisoning-resistant signatures</a:t>
            </a:r>
            <a:endParaRPr lang="en-US" sz="1200" dirty="0"/>
          </a:p>
          <a:p>
            <a:pPr indent="0" marL="0">
              <a:buNone/>
            </a:pPr>
            <a:endParaRPr lang="en-US" sz="1200" dirty="0"/>
          </a:p>
          <a:p>
            <a:pPr indent="0" marL="0">
              <a:buNone/>
            </a:pPr>
            <a:r>
              <a:rPr lang="en-US" sz="1200" dirty="0">
                <a:solidFill>
                  <a:schemeClr val="accent5"/>
                </a:solidFill>
              </a:rPr>
              <a:t>Immutability makes poisoned data permanent. Append-only audit plus consensus-gated writes to the signature chain could mitigate this.</a:t>
            </a:r>
            <a:endParaRPr lang="en-US" sz="1200" dirty="0"/>
          </a:p>
        </p:txBody>
      </p:sp>
      <p:sp>
        <p:nvSpPr>
          <p:cNvPr id="20" name="o13-panel"/>
          <p:cNvSpPr/>
          <p:nvPr/>
        </p:nvSpPr>
        <p:spPr>
          <a:xfrm>
            <a:off x="566928" y="4718304"/>
            <a:ext cx="11027664" cy="768096"/>
          </a:xfrm>
          <a:prstGeom prst="roundRect">
            <a:avLst>
              <a:gd name="adj" fmla="val 7143"/>
            </a:avLst>
          </a:prstGeom>
          <a:solidFill>
            <a:schemeClr val="accent1"/>
          </a:solidFill>
          <a:ln/>
        </p:spPr>
      </p:sp>
      <p:sp>
        <p:nvSpPr>
          <p:cNvPr id="21" name="o13-text"/>
          <p:cNvSpPr txBox="1"/>
          <p:nvPr/>
        </p:nvSpPr>
        <p:spPr>
          <a:xfrm>
            <a:off x="841248" y="4718304"/>
            <a:ext cx="10479024" cy="768096"/>
          </a:xfrm>
          <a:prstGeom prst="rect">
            <a:avLst/>
          </a:prstGeom>
          <a:noFill/>
          <a:ln/>
        </p:spPr>
        <p:txBody>
          <a:bodyPr wrap="square" lIns="0" tIns="0" rIns="0" bIns="0" rtlCol="0" anchor="ctr"/>
          <a:lstStyle/>
          <a:p>
            <a:pPr indent="0" marL="0">
              <a:buNone/>
            </a:pPr>
            <a:r>
              <a:rPr lang="en-US" sz="1400" b="1" dirty="0">
                <a:solidFill>
                  <a:schemeClr val="bg1"/>
                </a:solidFill>
              </a:rPr>
              <a:t>Each emerged directly from the implementation — concrete next steps, not open-ended speculation.</a:t>
            </a:r>
            <a:endParaRPr lang="en-US" sz="1400" dirty="0"/>
          </a:p>
        </p:txBody>
      </p:sp>
      <p:sp>
        <p:nvSpPr>
          <p:cNvPr id="22" name="s17cite"/>
          <p:cNvSpPr txBox="1"/>
          <p:nvPr/>
        </p:nvSpPr>
        <p:spPr>
          <a:xfrm>
            <a:off x="566928" y="5614416"/>
            <a:ext cx="11027664" cy="274320"/>
          </a:xfrm>
          <a:prstGeom prst="rect">
            <a:avLst/>
          </a:prstGeom>
          <a:noFill/>
          <a:ln/>
        </p:spPr>
        <p:txBody>
          <a:bodyPr wrap="square" lIns="0" tIns="0" rIns="0" bIns="0" rtlCol="0" anchor="t"/>
          <a:lstStyle/>
          <a:p>
            <a:pPr indent="0" marL="0">
              <a:buNone/>
            </a:pPr>
            <a:r>
              <a:rPr lang="en-US" sz="1050" i="1" dirty="0">
                <a:solidFill>
                  <a:schemeClr val="accent5"/>
                </a:solidFill>
              </a:rPr>
              <a:t>See docs/ROADMAP.md, M7 extensions</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66928" y="493776"/>
            <a:ext cx="11027664" cy="256032"/>
          </a:xfrm>
          <a:prstGeom prst="rect">
            <a:avLst/>
          </a:prstGeom>
          <a:noFill/>
          <a:ln/>
        </p:spPr>
        <p:txBody>
          <a:bodyPr wrap="square" lIns="0" tIns="0" rIns="0" bIns="0" rtlCol="0"/>
          <a:lstStyle/>
          <a:p>
            <a:pPr indent="0" marL="0">
              <a:buNone/>
            </a:pPr>
            <a:r>
              <a:rPr lang="en-US" sz="1200" b="1" spc="200" kern="0" dirty="0">
                <a:solidFill>
                  <a:schemeClr val="accent1"/>
                </a:solidFill>
              </a:rPr>
              <a:t>SUMMARY</a:t>
            </a:r>
            <a:endParaRPr lang="en-US" sz="1200" dirty="0"/>
          </a:p>
        </p:txBody>
      </p:sp>
      <p:sp>
        <p:nvSpPr>
          <p:cNvPr id="3" name="Text 0"/>
          <p:cNvSpPr/>
          <p:nvPr>
            <p:ph idx="101" type="title" hasCustomPrompt="1"/>
          </p:nvPr>
        </p:nvSpPr>
        <p:spPr>
          <a:xfrm>
            <a:off x="566928" y="786384"/>
            <a:ext cx="11027664" cy="548640"/>
          </a:xfrm>
          <a:prstGeom prst="rect">
            <a:avLst/>
          </a:prstGeom>
          <a:noFill/>
          <a:ln/>
        </p:spPr>
        <p:txBody>
          <a:bodyPr wrap="square" lIns="0" tIns="0" rIns="0" bIns="0" rtlCol="0" anchor="ctr"/>
          <a:lstStyle/>
          <a:p>
            <a:pPr algn="l" indent="0" marL="0">
              <a:buNone/>
            </a:pPr>
            <a:r>
              <a:rPr lang="en-US" sz="2900" b="1" dirty="0">
                <a:solidFill>
                  <a:schemeClr val="bg1"/>
                </a:solidFill>
              </a:rPr>
              <a:t>What we learned</a:t>
            </a:r>
            <a:endParaRPr lang="en-US" sz="2900" dirty="0"/>
          </a:p>
        </p:txBody>
      </p:sp>
      <p:sp>
        <p:nvSpPr>
          <p:cNvPr id="4" name="s18t0-panel"/>
          <p:cNvSpPr/>
          <p:nvPr/>
        </p:nvSpPr>
        <p:spPr>
          <a:xfrm>
            <a:off x="566928" y="1371600"/>
            <a:ext cx="11027664" cy="1371600"/>
          </a:xfrm>
          <a:prstGeom prst="roundRect">
            <a:avLst>
              <a:gd name="adj" fmla="val 4000"/>
            </a:avLst>
          </a:prstGeom>
          <a:solidFill>
            <a:schemeClr val="tx2"/>
          </a:solidFill>
          <a:ln/>
        </p:spPr>
      </p:sp>
      <p:sp>
        <p:nvSpPr>
          <p:cNvPr id="5" name="s18t0-chip"/>
          <p:cNvSpPr/>
          <p:nvPr/>
        </p:nvSpPr>
        <p:spPr>
          <a:xfrm>
            <a:off x="786384" y="1554480"/>
            <a:ext cx="402336" cy="274320"/>
          </a:xfrm>
          <a:prstGeom prst="roundRect">
            <a:avLst>
              <a:gd name="adj" fmla="val 16667"/>
            </a:avLst>
          </a:prstGeom>
          <a:solidFill>
            <a:schemeClr val="accent1"/>
          </a:solidFill>
          <a:ln/>
        </p:spPr>
      </p:sp>
      <p:sp>
        <p:nvSpPr>
          <p:cNvPr id="6" name="s18t0-tagtext"/>
          <p:cNvSpPr txBox="1"/>
          <p:nvPr/>
        </p:nvSpPr>
        <p:spPr>
          <a:xfrm>
            <a:off x="786384" y="1554480"/>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s18t0-heading"/>
          <p:cNvSpPr txBox="1"/>
          <p:nvPr/>
        </p:nvSpPr>
        <p:spPr>
          <a:xfrm>
            <a:off x="1316736" y="1536192"/>
            <a:ext cx="10058400" cy="292608"/>
          </a:xfrm>
          <a:prstGeom prst="rect">
            <a:avLst/>
          </a:prstGeom>
          <a:noFill/>
          <a:ln/>
        </p:spPr>
        <p:txBody>
          <a:bodyPr wrap="square" lIns="0" tIns="0" rIns="0" bIns="0" rtlCol="0" anchor="ctr"/>
          <a:lstStyle/>
          <a:p>
            <a:pPr indent="0" marL="0">
              <a:buNone/>
            </a:pPr>
            <a:r>
              <a:rPr lang="en-US" sz="1500" b="1" dirty="0">
                <a:solidFill>
                  <a:schemeClr val="bg1"/>
                </a:solidFill>
              </a:rPr>
              <a:t>The framework design is sound; the evaluation needs context</a:t>
            </a:r>
            <a:endParaRPr lang="en-US" sz="1500" dirty="0"/>
          </a:p>
        </p:txBody>
      </p:sp>
      <p:sp>
        <p:nvSpPr>
          <p:cNvPr id="8" name="s18t0-body"/>
          <p:cNvSpPr txBox="1"/>
          <p:nvPr/>
        </p:nvSpPr>
        <p:spPr>
          <a:xfrm>
            <a:off x="786384" y="1901952"/>
            <a:ext cx="10588752" cy="713232"/>
          </a:xfrm>
          <a:prstGeom prst="rect">
            <a:avLst/>
          </a:prstGeom>
          <a:noFill/>
          <a:ln/>
        </p:spPr>
        <p:txBody>
          <a:bodyPr wrap="square" lIns="0" tIns="0" rIns="0" bIns="0" rtlCol="0" anchor="t"/>
          <a:lstStyle/>
          <a:p>
            <a:pPr indent="0" marL="0">
              <a:buNone/>
            </a:pPr>
            <a:r>
              <a:rPr lang="en-US" sz="1250" dirty="0">
                <a:solidFill>
                  <a:schemeClr val="accent5"/>
                </a:solidFill>
              </a:rPr>
              <a:t>The five-phase architecture works and pBFT provides real fault tolerance. But the headline 98.98% comes from a resampled split on which a zero-feature baseline already scores 90%.</a:t>
            </a:r>
            <a:endParaRPr lang="en-US" sz="1250" dirty="0"/>
          </a:p>
        </p:txBody>
      </p:sp>
      <p:sp>
        <p:nvSpPr>
          <p:cNvPr id="9" name="s18t1-panel"/>
          <p:cNvSpPr/>
          <p:nvPr/>
        </p:nvSpPr>
        <p:spPr>
          <a:xfrm>
            <a:off x="566928" y="2852928"/>
            <a:ext cx="11027664" cy="1371600"/>
          </a:xfrm>
          <a:prstGeom prst="roundRect">
            <a:avLst>
              <a:gd name="adj" fmla="val 4000"/>
            </a:avLst>
          </a:prstGeom>
          <a:solidFill>
            <a:schemeClr val="tx2"/>
          </a:solidFill>
          <a:ln/>
        </p:spPr>
      </p:sp>
      <p:sp>
        <p:nvSpPr>
          <p:cNvPr id="10" name="s18t1-chip"/>
          <p:cNvSpPr/>
          <p:nvPr/>
        </p:nvSpPr>
        <p:spPr>
          <a:xfrm>
            <a:off x="786384" y="3035808"/>
            <a:ext cx="402336" cy="274320"/>
          </a:xfrm>
          <a:prstGeom prst="roundRect">
            <a:avLst>
              <a:gd name="adj" fmla="val 16667"/>
            </a:avLst>
          </a:prstGeom>
          <a:solidFill>
            <a:schemeClr val="accent1"/>
          </a:solidFill>
          <a:ln/>
        </p:spPr>
      </p:sp>
      <p:sp>
        <p:nvSpPr>
          <p:cNvPr id="11" name="s18t1-tagtext"/>
          <p:cNvSpPr txBox="1"/>
          <p:nvPr/>
        </p:nvSpPr>
        <p:spPr>
          <a:xfrm>
            <a:off x="786384" y="3035808"/>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s18t1-heading"/>
          <p:cNvSpPr txBox="1"/>
          <p:nvPr/>
        </p:nvSpPr>
        <p:spPr>
          <a:xfrm>
            <a:off x="1316736" y="3017520"/>
            <a:ext cx="10058400" cy="292608"/>
          </a:xfrm>
          <a:prstGeom prst="rect">
            <a:avLst/>
          </a:prstGeom>
          <a:noFill/>
          <a:ln/>
        </p:spPr>
        <p:txBody>
          <a:bodyPr wrap="square" lIns="0" tIns="0" rIns="0" bIns="0" rtlCol="0" anchor="ctr"/>
          <a:lstStyle/>
          <a:p>
            <a:pPr indent="0" marL="0">
              <a:buNone/>
            </a:pPr>
            <a:r>
              <a:rPr lang="en-US" sz="1500" b="1" dirty="0">
                <a:solidFill>
                  <a:schemeClr val="bg1"/>
                </a:solidFill>
              </a:rPr>
              <a:t>Formal verification adds real value</a:t>
            </a:r>
            <a:endParaRPr lang="en-US" sz="1500" dirty="0"/>
          </a:p>
        </p:txBody>
      </p:sp>
      <p:sp>
        <p:nvSpPr>
          <p:cNvPr id="13" name="s18t1-body"/>
          <p:cNvSpPr txBox="1"/>
          <p:nvPr/>
        </p:nvSpPr>
        <p:spPr>
          <a:xfrm>
            <a:off x="786384" y="3383280"/>
            <a:ext cx="10588752" cy="713232"/>
          </a:xfrm>
          <a:prstGeom prst="rect">
            <a:avLst/>
          </a:prstGeom>
          <a:noFill/>
          <a:ln/>
        </p:spPr>
        <p:txBody>
          <a:bodyPr wrap="square" lIns="0" tIns="0" rIns="0" bIns="0" rtlCol="0" anchor="t"/>
          <a:lstStyle/>
          <a:p>
            <a:pPr indent="0" marL="0">
              <a:buNone/>
            </a:pPr>
            <a:r>
              <a:rPr lang="en-US" sz="1250" dirty="0">
                <a:solidFill>
                  <a:schemeClr val="accent5"/>
                </a:solidFill>
              </a:rPr>
              <a:t>Scyther verified the session protocol clean and found a genuine attack on the earlier draft. TLC proved consensus breaks at f = 2 — a boundary the framework should document.</a:t>
            </a:r>
            <a:endParaRPr lang="en-US" sz="1250" dirty="0"/>
          </a:p>
        </p:txBody>
      </p:sp>
      <p:sp>
        <p:nvSpPr>
          <p:cNvPr id="14" name="s18t2-panel"/>
          <p:cNvSpPr/>
          <p:nvPr/>
        </p:nvSpPr>
        <p:spPr>
          <a:xfrm>
            <a:off x="566928" y="4334256"/>
            <a:ext cx="11027664" cy="1371600"/>
          </a:xfrm>
          <a:prstGeom prst="roundRect">
            <a:avLst>
              <a:gd name="adj" fmla="val 4000"/>
            </a:avLst>
          </a:prstGeom>
          <a:solidFill>
            <a:schemeClr val="tx2"/>
          </a:solidFill>
          <a:ln/>
        </p:spPr>
      </p:sp>
      <p:sp>
        <p:nvSpPr>
          <p:cNvPr id="15" name="s18t2-chip"/>
          <p:cNvSpPr/>
          <p:nvPr/>
        </p:nvSpPr>
        <p:spPr>
          <a:xfrm>
            <a:off x="786384" y="4517136"/>
            <a:ext cx="402336" cy="274320"/>
          </a:xfrm>
          <a:prstGeom prst="roundRect">
            <a:avLst>
              <a:gd name="adj" fmla="val 16667"/>
            </a:avLst>
          </a:prstGeom>
          <a:solidFill>
            <a:schemeClr val="accent1"/>
          </a:solidFill>
          <a:ln/>
        </p:spPr>
      </p:sp>
      <p:sp>
        <p:nvSpPr>
          <p:cNvPr id="16" name="s18t2-tagtext"/>
          <p:cNvSpPr txBox="1"/>
          <p:nvPr/>
        </p:nvSpPr>
        <p:spPr>
          <a:xfrm>
            <a:off x="786384" y="4517136"/>
            <a:ext cx="402336"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7" name="s18t2-heading"/>
          <p:cNvSpPr txBox="1"/>
          <p:nvPr/>
        </p:nvSpPr>
        <p:spPr>
          <a:xfrm>
            <a:off x="1316736" y="4498848"/>
            <a:ext cx="10058400" cy="292608"/>
          </a:xfrm>
          <a:prstGeom prst="rect">
            <a:avLst/>
          </a:prstGeom>
          <a:noFill/>
          <a:ln/>
        </p:spPr>
        <p:txBody>
          <a:bodyPr wrap="square" lIns="0" tIns="0" rIns="0" bIns="0" rtlCol="0" anchor="ctr"/>
          <a:lstStyle/>
          <a:p>
            <a:pPr indent="0" marL="0">
              <a:buNone/>
            </a:pPr>
            <a:r>
              <a:rPr lang="en-US" sz="1500" b="1" dirty="0">
                <a:solidFill>
                  <a:schemeClr val="bg1"/>
                </a:solidFill>
              </a:rPr>
              <a:t>Security is a system property, not a component property</a:t>
            </a:r>
            <a:endParaRPr lang="en-US" sz="1500" dirty="0"/>
          </a:p>
        </p:txBody>
      </p:sp>
      <p:sp>
        <p:nvSpPr>
          <p:cNvPr id="18" name="s18t2-body"/>
          <p:cNvSpPr txBox="1"/>
          <p:nvPr/>
        </p:nvSpPr>
        <p:spPr>
          <a:xfrm>
            <a:off x="786384" y="4864608"/>
            <a:ext cx="10588752" cy="713232"/>
          </a:xfrm>
          <a:prstGeom prst="rect">
            <a:avLst/>
          </a:prstGeom>
          <a:noFill/>
          <a:ln/>
        </p:spPr>
        <p:txBody>
          <a:bodyPr wrap="square" lIns="0" tIns="0" rIns="0" bIns="0" rtlCol="0" anchor="t"/>
          <a:lstStyle/>
          <a:p>
            <a:pPr indent="0" marL="0">
              <a:buNone/>
            </a:pPr>
            <a:r>
              <a:rPr lang="en-US" sz="1250" dirty="0">
                <a:solidFill>
                  <a:schemeClr val="accent5"/>
                </a:solidFill>
              </a:rPr>
              <a:t>The detector works at component level, with MCC 0.46 on real data. But blockchain immutability makes poisoning permanent. Defense is a trade-off curve, not a checkbox.</a:t>
            </a:r>
            <a:endParaRPr lang="en-US" sz="1250" dirty="0"/>
          </a:p>
        </p:txBody>
      </p:sp>
      <p:sp>
        <p:nvSpPr>
          <p:cNvPr id="19" name="s18cite"/>
          <p:cNvSpPr txBox="1"/>
          <p:nvPr/>
        </p:nvSpPr>
        <p:spPr>
          <a:xfrm>
            <a:off x="566928" y="5797296"/>
            <a:ext cx="11027664" cy="274320"/>
          </a:xfrm>
          <a:prstGeom prst="rect">
            <a:avLst/>
          </a:prstGeom>
          <a:noFill/>
          <a:ln/>
        </p:spPr>
        <p:txBody>
          <a:bodyPr wrap="square" lIns="0" tIns="0" rIns="0" bIns="0" rtlCol="0" anchor="t"/>
          <a:lstStyle/>
          <a:p>
            <a:pPr indent="0" marL="0">
              <a:buNone/>
            </a:pPr>
            <a:r>
              <a:rPr lang="en-US" sz="1050" i="1" dirty="0">
                <a:solidFill>
                  <a:schemeClr val="accent5"/>
                </a:solidFill>
              </a:rPr>
              <a:t>BSFR-SH reproduction study · IIIT Hyderabad</a:t>
            </a:r>
            <a:endParaRPr lang="en-US" sz="1050" dirty="0"/>
          </a:p>
        </p:txBody>
      </p:sp>
      <p:sp>
        <p:nvSpPr>
          <p:cNvPr id="25" name="Slide Number Placeholder 0"/>
          <p:cNvSpPr>
            <a:spLocks noGrp="1"/>
          </p:cNvSpPr>
          <p:nvPr>
            <p:ph type="sldNum" sz="quarter" idx="4294967295"/>
          </p:nvPr>
        </p:nvSpPr>
        <p:spPr>
          <a:xfrm>
            <a:off x="11045952"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939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58368" y="1371600"/>
            <a:ext cx="11027664" cy="310896"/>
          </a:xfrm>
          <a:prstGeom prst="rect">
            <a:avLst/>
          </a:prstGeom>
          <a:noFill/>
          <a:ln/>
        </p:spPr>
        <p:txBody>
          <a:bodyPr wrap="square" lIns="0" tIns="0" rIns="0" bIns="0" rtlCol="0"/>
          <a:lstStyle/>
          <a:p>
            <a:pPr indent="0" marL="0">
              <a:buNone/>
            </a:pPr>
            <a:r>
              <a:rPr lang="en-US" sz="1300" b="1" spc="250" kern="0" dirty="0">
                <a:solidFill>
                  <a:schemeClr val="accent1"/>
                </a:solidFill>
              </a:rPr>
              <a:t>THANK YOU</a:t>
            </a:r>
            <a:endParaRPr lang="en-US" sz="1300" dirty="0"/>
          </a:p>
        </p:txBody>
      </p:sp>
      <p:sp>
        <p:nvSpPr>
          <p:cNvPr id="3" name="Text 0"/>
          <p:cNvSpPr/>
          <p:nvPr>
            <p:ph idx="101" type="title" hasCustomPrompt="1"/>
          </p:nvPr>
        </p:nvSpPr>
        <p:spPr>
          <a:xfrm>
            <a:off x="658368" y="1810512"/>
            <a:ext cx="10113264" cy="1737360"/>
          </a:xfrm>
          <a:prstGeom prst="rect">
            <a:avLst/>
          </a:prstGeom>
          <a:noFill/>
          <a:ln/>
        </p:spPr>
        <p:txBody>
          <a:bodyPr wrap="square" lIns="0" tIns="0" rIns="0" bIns="0" rtlCol="0" anchor="t"/>
          <a:lstStyle/>
          <a:p>
            <a:pPr algn="l" indent="0" marL="0">
              <a:buNone/>
            </a:pPr>
            <a:r>
              <a:rPr lang="en-US" sz="4000" b="1" dirty="0">
                <a:solidFill>
                  <a:schemeClr val="bg1"/>
                </a:solidFill>
              </a:rPr>
              <a:t>Questions?</a:t>
            </a:r>
            <a:endParaRPr lang="en-US" sz="4000" dirty="0"/>
          </a:p>
        </p:txBody>
      </p:sp>
      <p:sp>
        <p:nvSpPr>
          <p:cNvPr id="4" name="Text 0"/>
          <p:cNvSpPr/>
          <p:nvPr>
            <p:ph idx="102" type="body" hasCustomPrompt="1"/>
          </p:nvPr>
        </p:nvSpPr>
        <p:spPr>
          <a:xfrm>
            <a:off x="658368" y="3675888"/>
            <a:ext cx="9381744" cy="731520"/>
          </a:xfrm>
          <a:prstGeom prst="rect">
            <a:avLst/>
          </a:prstGeom>
          <a:noFill/>
          <a:ln/>
        </p:spPr>
        <p:txBody>
          <a:bodyPr wrap="square" lIns="0" tIns="0" rIns="0" bIns="0" rtlCol="0"/>
          <a:lstStyle/>
          <a:p>
            <a:pPr indent="0" marL="0">
              <a:buNone/>
            </a:pPr>
            <a:r>
              <a:rPr lang="en-US" sz="1700" dirty="0">
                <a:solidFill>
                  <a:schemeClr val="accent5"/>
                </a:solidFill>
              </a:rPr>
              <a:t>All code, tests, figures and results are available in the project repository.</a:t>
            </a:r>
            <a:endParaRPr lang="en-US" sz="1700" dirty="0"/>
          </a:p>
        </p:txBody>
      </p:sp>
      <p:sp>
        <p:nvSpPr>
          <p:cNvPr id="5" name="s19s0-v"/>
          <p:cNvSpPr txBox="1"/>
          <p:nvPr/>
        </p:nvSpPr>
        <p:spPr>
          <a:xfrm>
            <a:off x="658368" y="4572000"/>
            <a:ext cx="2615184" cy="512064"/>
          </a:xfrm>
          <a:prstGeom prst="rect">
            <a:avLst/>
          </a:prstGeom>
          <a:noFill/>
          <a:ln/>
        </p:spPr>
        <p:txBody>
          <a:bodyPr wrap="square" lIns="0" tIns="0" rIns="0" bIns="0" rtlCol="0" anchor="b"/>
          <a:lstStyle/>
          <a:p>
            <a:pPr algn="l" indent="0" marL="0">
              <a:buNone/>
            </a:pPr>
            <a:r>
              <a:rPr lang="en-US" sz="3000" b="1" dirty="0">
                <a:solidFill>
                  <a:schemeClr val="accent1"/>
                </a:solidFill>
              </a:rPr>
              <a:t>1,814</a:t>
            </a:r>
            <a:endParaRPr lang="en-US" sz="3000" dirty="0"/>
          </a:p>
        </p:txBody>
      </p:sp>
      <p:sp>
        <p:nvSpPr>
          <p:cNvPr id="6" name="s19s0-l"/>
          <p:cNvSpPr txBox="1"/>
          <p:nvPr/>
        </p:nvSpPr>
        <p:spPr>
          <a:xfrm>
            <a:off x="658368" y="5120640"/>
            <a:ext cx="2615184" cy="457200"/>
          </a:xfrm>
          <a:prstGeom prst="rect">
            <a:avLst/>
          </a:prstGeom>
          <a:noFill/>
          <a:ln/>
        </p:spPr>
        <p:txBody>
          <a:bodyPr wrap="square" lIns="0" tIns="0" rIns="0" bIns="0" rtlCol="0" anchor="t"/>
          <a:lstStyle/>
          <a:p>
            <a:pPr algn="l" indent="0" marL="0">
              <a:buNone/>
            </a:pPr>
            <a:r>
              <a:rPr lang="en-US" sz="1150" dirty="0">
                <a:solidFill>
                  <a:schemeClr val="accent5"/>
                </a:solidFill>
              </a:rPr>
              <a:t>tests</a:t>
            </a:r>
            <a:endParaRPr lang="en-US" sz="1150" dirty="0"/>
          </a:p>
        </p:txBody>
      </p:sp>
      <p:sp>
        <p:nvSpPr>
          <p:cNvPr id="7" name="s19s1-v"/>
          <p:cNvSpPr txBox="1"/>
          <p:nvPr/>
        </p:nvSpPr>
        <p:spPr>
          <a:xfrm>
            <a:off x="3401568" y="4572000"/>
            <a:ext cx="2615184" cy="512064"/>
          </a:xfrm>
          <a:prstGeom prst="rect">
            <a:avLst/>
          </a:prstGeom>
          <a:noFill/>
          <a:ln/>
        </p:spPr>
        <p:txBody>
          <a:bodyPr wrap="square" lIns="0" tIns="0" rIns="0" bIns="0" rtlCol="0" anchor="b"/>
          <a:lstStyle/>
          <a:p>
            <a:pPr algn="l" indent="0" marL="0">
              <a:buNone/>
            </a:pPr>
            <a:r>
              <a:rPr lang="en-US" sz="3000" b="1" dirty="0">
                <a:solidFill>
                  <a:schemeClr val="bg1"/>
                </a:solidFill>
              </a:rPr>
              <a:t>31</a:t>
            </a:r>
            <a:endParaRPr lang="en-US" sz="3000" dirty="0"/>
          </a:p>
        </p:txBody>
      </p:sp>
      <p:sp>
        <p:nvSpPr>
          <p:cNvPr id="8" name="s19s1-l"/>
          <p:cNvSpPr txBox="1"/>
          <p:nvPr/>
        </p:nvSpPr>
        <p:spPr>
          <a:xfrm>
            <a:off x="3401568" y="5120640"/>
            <a:ext cx="2615184" cy="457200"/>
          </a:xfrm>
          <a:prstGeom prst="rect">
            <a:avLst/>
          </a:prstGeom>
          <a:noFill/>
          <a:ln/>
        </p:spPr>
        <p:txBody>
          <a:bodyPr wrap="square" lIns="0" tIns="0" rIns="0" bIns="0" rtlCol="0" anchor="t"/>
          <a:lstStyle/>
          <a:p>
            <a:pPr algn="l" indent="0" marL="0">
              <a:buNone/>
            </a:pPr>
            <a:r>
              <a:rPr lang="en-US" sz="1150" dirty="0">
                <a:solidFill>
                  <a:schemeClr val="accent5"/>
                </a:solidFill>
              </a:rPr>
              <a:t>page report</a:t>
            </a:r>
            <a:endParaRPr lang="en-US" sz="1150" dirty="0"/>
          </a:p>
        </p:txBody>
      </p:sp>
      <p:sp>
        <p:nvSpPr>
          <p:cNvPr id="9" name="s19s2-v"/>
          <p:cNvSpPr txBox="1"/>
          <p:nvPr/>
        </p:nvSpPr>
        <p:spPr>
          <a:xfrm>
            <a:off x="6144768" y="4572000"/>
            <a:ext cx="2615184" cy="512064"/>
          </a:xfrm>
          <a:prstGeom prst="rect">
            <a:avLst/>
          </a:prstGeom>
          <a:noFill/>
          <a:ln/>
        </p:spPr>
        <p:txBody>
          <a:bodyPr wrap="square" lIns="0" tIns="0" rIns="0" bIns="0" rtlCol="0" anchor="b"/>
          <a:lstStyle/>
          <a:p>
            <a:pPr algn="l" indent="0" marL="0">
              <a:buNone/>
            </a:pPr>
            <a:r>
              <a:rPr lang="en-US" sz="3000" b="1" dirty="0">
                <a:solidFill>
                  <a:schemeClr val="bg1"/>
                </a:solidFill>
              </a:rPr>
              <a:t>18</a:t>
            </a:r>
            <a:endParaRPr lang="en-US" sz="3000" dirty="0"/>
          </a:p>
        </p:txBody>
      </p:sp>
      <p:sp>
        <p:nvSpPr>
          <p:cNvPr id="10" name="s19s2-l"/>
          <p:cNvSpPr txBox="1"/>
          <p:nvPr/>
        </p:nvSpPr>
        <p:spPr>
          <a:xfrm>
            <a:off x="6144768" y="5120640"/>
            <a:ext cx="2615184" cy="457200"/>
          </a:xfrm>
          <a:prstGeom prst="rect">
            <a:avLst/>
          </a:prstGeom>
          <a:noFill/>
          <a:ln/>
        </p:spPr>
        <p:txBody>
          <a:bodyPr wrap="square" lIns="0" tIns="0" rIns="0" bIns="0" rtlCol="0" anchor="t"/>
          <a:lstStyle/>
          <a:p>
            <a:pPr algn="l" indent="0" marL="0">
              <a:buNone/>
            </a:pPr>
            <a:r>
              <a:rPr lang="en-US" sz="1150" dirty="0">
                <a:solidFill>
                  <a:schemeClr val="accent5"/>
                </a:solidFill>
              </a:rPr>
              <a:t>milestones</a:t>
            </a:r>
            <a:endParaRPr lang="en-US" sz="1150" dirty="0"/>
          </a:p>
        </p:txBody>
      </p:sp>
      <p:sp>
        <p:nvSpPr>
          <p:cNvPr id="11" name="s19s3-v"/>
          <p:cNvSpPr txBox="1"/>
          <p:nvPr/>
        </p:nvSpPr>
        <p:spPr>
          <a:xfrm>
            <a:off x="8887968" y="4572000"/>
            <a:ext cx="2615184" cy="512064"/>
          </a:xfrm>
          <a:prstGeom prst="rect">
            <a:avLst/>
          </a:prstGeom>
          <a:noFill/>
          <a:ln/>
        </p:spPr>
        <p:txBody>
          <a:bodyPr wrap="square" lIns="0" tIns="0" rIns="0" bIns="0" rtlCol="0" anchor="b"/>
          <a:lstStyle/>
          <a:p>
            <a:pPr algn="l" indent="0" marL="0">
              <a:buNone/>
            </a:pPr>
            <a:r>
              <a:rPr lang="en-US" sz="3000" b="1" dirty="0">
                <a:solidFill>
                  <a:schemeClr val="bg1"/>
                </a:solidFill>
              </a:rPr>
              <a:t>43</a:t>
            </a:r>
            <a:endParaRPr lang="en-US" sz="3000" dirty="0"/>
          </a:p>
        </p:txBody>
      </p:sp>
      <p:sp>
        <p:nvSpPr>
          <p:cNvPr id="12" name="s19s3-l"/>
          <p:cNvSpPr txBox="1"/>
          <p:nvPr/>
        </p:nvSpPr>
        <p:spPr>
          <a:xfrm>
            <a:off x="8887968" y="5120640"/>
            <a:ext cx="2615184" cy="457200"/>
          </a:xfrm>
          <a:prstGeom prst="rect">
            <a:avLst/>
          </a:prstGeom>
          <a:noFill/>
          <a:ln/>
        </p:spPr>
        <p:txBody>
          <a:bodyPr wrap="square" lIns="0" tIns="0" rIns="0" bIns="0" rtlCol="0" anchor="t"/>
          <a:lstStyle/>
          <a:p>
            <a:pPr algn="l" indent="0" marL="0">
              <a:buNone/>
            </a:pPr>
            <a:r>
              <a:rPr lang="en-US" sz="1150" dirty="0">
                <a:solidFill>
                  <a:schemeClr val="accent5"/>
                </a:solidFill>
              </a:rPr>
              <a:t>deviations</a:t>
            </a:r>
            <a:endParaRPr lang="en-US" sz="1150" dirty="0"/>
          </a:p>
        </p:txBody>
      </p:sp>
      <p:sp>
        <p:nvSpPr>
          <p:cNvPr id="13" name="s19author"/>
          <p:cNvSpPr txBox="1"/>
          <p:nvPr/>
        </p:nvSpPr>
        <p:spPr>
          <a:xfrm>
            <a:off x="658368" y="5852160"/>
            <a:ext cx="7315200" cy="365760"/>
          </a:xfrm>
          <a:prstGeom prst="rect">
            <a:avLst/>
          </a:prstGeom>
          <a:noFill/>
          <a:ln/>
        </p:spPr>
        <p:txBody>
          <a:bodyPr wrap="square" lIns="0" tIns="0" rIns="0" bIns="0" rtlCol="0" anchor="t"/>
          <a:lstStyle/>
          <a:p>
            <a:pPr indent="0" marL="0">
              <a:buNone/>
            </a:pPr>
            <a:r>
              <a:rPr lang="en-US" sz="1300" dirty="0">
                <a:solidFill>
                  <a:schemeClr val="accent5"/>
                </a:solidFill>
              </a:rPr>
              <a:t>Sukhraj Singh · IIIT Hyderabad</a:t>
            </a:r>
            <a:endParaRPr lang="en-US" sz="1300" dirty="0"/>
          </a:p>
        </p:txBody>
      </p:sp>
    </p:spTree>
  </p:cSld>
  <p:clrMapOvr>
    <a:masterClrMapping/>
  </p:clrMapOvr>
</p:sld>
</file>

<file path=ppt/theme/theme1.xml><?xml version="1.0" encoding="utf-8"?>
<a:theme xmlns:a="http://schemas.openxmlformats.org/drawingml/2006/main" name="BSFR-SH Red">
  <a:themeElements>
    <a:clrScheme name="BSFR-SH Red">
      <a:dk1>
        <a:srgbClr val="151214"/>
      </a:dk1>
      <a:lt1>
        <a:srgbClr val="FFFFFF"/>
      </a:lt1>
      <a:dk2>
        <a:srgbClr val="241F24"/>
      </a:dk2>
      <a:lt2>
        <a:srgbClr val="F3EFF1"/>
      </a:lt2>
      <a:accent1>
        <a:srgbClr val="D32F3C"/>
      </a:accent1>
      <a:accent2>
        <a:srgbClr val="E8737C"/>
      </a:accent2>
      <a:accent3>
        <a:srgbClr val="8E1C25"/>
      </a:accent3>
      <a:accent4>
        <a:srgbClr val="8C828A"/>
      </a:accent4>
      <a:accent5>
        <a:srgbClr val="9C939B"/>
      </a:accent5>
      <a:accent6>
        <a:srgbClr val="C7A15A"/>
      </a:accent6>
      <a:hlink>
        <a:srgbClr val="D32F3C"/>
      </a:hlink>
      <a:folHlink>
        <a:srgbClr val="9C939B"/>
      </a:folHlink>
    </a:clrScheme>
    <a:fontScheme name="BSFR-SH R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a Blockchain-Enabled Ransomware Defense</dc:title>
  <dc:subject>Reproduction and extension study of BSFR-SH</dc:subject>
  <dc:creator>BSFR-SH reproduction study</dc:creator>
  <cp:lastModifiedBy>BSFR-SH reproduction study</cp:lastModifiedBy>
  <cp:revision>1</cp:revision>
  <dcterms:created xsi:type="dcterms:W3CDTF">2026-10-08T15:51:10Z</dcterms:created>
  <dcterms:modified xsi:type="dcterms:W3CDTF">2026-10-08T15:51:10Z</dcterms:modified>
</cp:coreProperties>
</file>